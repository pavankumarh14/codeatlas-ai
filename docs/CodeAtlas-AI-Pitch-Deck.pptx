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one-line pitch: CodeAtlas diagnoses and routes every Freshservice incident and change before anyone opens it, with engineering context from the knowledge graph.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real ticket from our tenant. The five questions are what every on-call engineer asks first, and today the answers live in GitHub, Jira, Confluence, Slack and people's heads.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shifts. Freshworks now exposes live tickets and changes to outside agents: REST v2, Workflow Automator events, official MCP servers and FDK apps. Agents have matured from answering to acting: specialised agents hand off work, and a knowledge graph keeps the LLM factual. Meanwhile engineering context keeps fragmenting. Together they make an agent that works inside Freshservice possible today; the strip at the bottom is exactly what we built.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Suites like ServiceNow are powerful but heavy. Developer portals know ownership but don't touch incidents. Built-in helpdesk AI only sees ticket text. Our edge: a live engineering graph plus agents acting inside Freshservice.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 right: Freshservice tickets, groups and KB flow in through REST v2 and our MCP-style connector. They join the knowledge graph and vector store alongside repos and docs. Eight agents reason over it with graph traversal, semantic search and an LLM. The result goes back into Freshservice as a private note, triggered automatically by Workflow Automator.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Frontend pages call the FastAPI backend. The orchestrator routes each request to one agent or a multi-agent pipeline. Agents reason over the Neo4j graph and vector store, GitHub changes and the Gemini LLM. Freshservice Workflow Automator calls in on ticket and change events; CodeAtlas writes back notes and group assignments through REST v2.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Freshservice knows what broke, who reported it and who is on call. CodeAtlas knows how the system is wired, what changed and who wrote the code. Three flows are live on our tenant today; CMDB is designed but our trial plan does not include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the ticket and the change fresh during the demo so judges see the before/after. Backup if the tunnel fails: the brain icon on the Freshservice Integration page runs the same diagnosis and posts the same note.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buyer: mid-size software companies running engineering incidents in Freshservice. Secondary: MSPs who constantly face unfamiliar client systems. Then walk the four users left to right: each gets something different from the same knowledge graph, and three of the four get it without leaving Freshservice.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statement as written; it is the answer to 'why would I buy this'. Then contrast: doing nothing means people hunt for context; the alternatives are either heavy (ServiceNow CMDB), disconnected from tickets (developer portals), or blind to the system (built-in copilots). Close on the proof strip: everything on it is shown live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figures are working assumptions to be validated with design partners. Pricing: a free tier gets the graph into Freshservice; Pro is where it runs itself on every ticket; Enterprise adds change risk and more connectors. Go-to-market lives inside the Freshworks ecosystem: Marketplace, a 5-minute connect, and a demo of a ticket diagnosing itself. Economics: roughly $100K to reach a production MVP against an illustrative $288K ARR, with LLM cost in cents per diagnosis.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MTTR is the headline metric. Coverage shows the automation is really running. Correct first escalation shows the graph's ownership data is right. Conversion shows willingness to pay.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diagnosis quality depends on graph quality, and we mitigate with the Knowledge Gap agent. Privacy: private notes and a no-LLM mode. Roadmap turns mocked connectors live and adds a native FDK sidebar and change-risk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upfront about what's mocked builds trust. Freshservice is fully live; the other connectors share the same adapter interface and are Phase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640080" y="2148840"/>
            <a:ext cx="109728" cy="192024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011680"/>
            <a:ext cx="10058400" cy="1097280"/>
          </a:xfrm>
          <a:prstGeom prst="rect">
            <a:avLst/>
          </a:prstGeom>
          <a:noFill/>
        </p:spPr>
        <p:txBody>
          <a:bodyPr wrap="square" lIns="0" rIns="0" tIns="0" bIns="0" anchor="t">
            <a:spAutoFit/>
          </a:bodyPr>
          <a:lstStyle/>
          <a:p>
            <a:pPr algn="l">
              <a:lnSpc>
                <a:spcPct val="115000"/>
              </a:lnSpc>
            </a:pPr>
            <a:r>
              <a:rPr sz="6000" b="1">
                <a:solidFill>
                  <a:srgbClr val="F8FAFC"/>
                </a:solidFill>
                <a:latin typeface="Helvetica Neue"/>
              </a:rPr>
              <a:t>CodeAtlas AI</a:t>
            </a:r>
          </a:p>
        </p:txBody>
      </p:sp>
      <p:sp>
        <p:nvSpPr>
          <p:cNvPr id="4" name="TextBox 3"/>
          <p:cNvSpPr txBox="1"/>
          <p:nvPr/>
        </p:nvSpPr>
        <p:spPr>
          <a:xfrm>
            <a:off x="1005840" y="3063240"/>
            <a:ext cx="10058400" cy="548640"/>
          </a:xfrm>
          <a:prstGeom prst="rect">
            <a:avLst/>
          </a:prstGeom>
          <a:noFill/>
        </p:spPr>
        <p:txBody>
          <a:bodyPr wrap="square" lIns="0" rIns="0" tIns="0" bIns="0" anchor="t">
            <a:spAutoFit/>
          </a:bodyPr>
          <a:lstStyle/>
          <a:p>
            <a:pPr algn="l">
              <a:lnSpc>
                <a:spcPct val="115000"/>
              </a:lnSpc>
            </a:pPr>
            <a:r>
              <a:rPr sz="2400" b="0">
                <a:solidFill>
                  <a:srgbClr val="818CF8"/>
                </a:solidFill>
                <a:latin typeface="Helvetica Neue"/>
              </a:rPr>
              <a:t>The Living Engineering Ontology and Knowledge Graph Platform</a:t>
            </a:r>
          </a:p>
        </p:txBody>
      </p:sp>
      <p:sp>
        <p:nvSpPr>
          <p:cNvPr id="5" name="TextBox 4"/>
          <p:cNvSpPr txBox="1"/>
          <p:nvPr/>
        </p:nvSpPr>
        <p:spPr>
          <a:xfrm>
            <a:off x="1005840" y="3657600"/>
            <a:ext cx="10058400" cy="457200"/>
          </a:xfrm>
          <a:prstGeom prst="rect">
            <a:avLst/>
          </a:prstGeom>
          <a:noFill/>
        </p:spPr>
        <p:txBody>
          <a:bodyPr wrap="square" lIns="0" rIns="0" tIns="0" bIns="0" anchor="t">
            <a:spAutoFit/>
          </a:bodyPr>
          <a:lstStyle/>
          <a:p>
            <a:pPr algn="l">
              <a:lnSpc>
                <a:spcPct val="115000"/>
              </a:lnSpc>
            </a:pPr>
            <a:r>
              <a:rPr sz="1800" b="0">
                <a:solidFill>
                  <a:srgbClr val="94A3B8"/>
                </a:solidFill>
                <a:latin typeface="Helvetica Neue"/>
              </a:rPr>
              <a:t>Every Freshservice incident and change, diagnosed and routed automatically.</a:t>
            </a:r>
          </a:p>
        </p:txBody>
      </p:sp>
      <p:sp>
        <p:nvSpPr>
          <p:cNvPr id="6" name="TextBox 5"/>
          <p:cNvSpPr txBox="1"/>
          <p:nvPr/>
        </p:nvSpPr>
        <p:spPr>
          <a:xfrm>
            <a:off x="1005840" y="5669280"/>
            <a:ext cx="10058400" cy="365760"/>
          </a:xfrm>
          <a:prstGeom prst="rect">
            <a:avLst/>
          </a:prstGeom>
          <a:noFill/>
        </p:spPr>
        <p:txBody>
          <a:bodyPr wrap="square" lIns="0" rIns="0" tIns="0" bIns="0" anchor="t">
            <a:spAutoFit/>
          </a:bodyPr>
          <a:lstStyle/>
          <a:p>
            <a:pPr algn="l">
              <a:lnSpc>
                <a:spcPct val="115000"/>
              </a:lnSpc>
            </a:pPr>
            <a:r>
              <a:rPr sz="1600" b="1">
                <a:solidFill>
                  <a:srgbClr val="F8FAFC"/>
                </a:solidFill>
                <a:latin typeface="Helvetica Neue"/>
              </a:rPr>
              <a:t>Pavan Kumar H</a:t>
            </a:r>
            <a:r>
              <a:rPr sz="1600" b="0">
                <a:solidFill>
                  <a:srgbClr val="94A3B8"/>
                </a:solidFill>
                <a:latin typeface="Helvetica Neue"/>
              </a:rPr>
              <a:t>   ·   The Great Agent Hackathon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lIns="0" rIns="0" tIns="0" bIns="0" anchor="t">
            <a:spAutoFit/>
          </a:bodyPr>
          <a:lstStyle/>
          <a:p>
            <a:pPr algn="l">
              <a:lnSpc>
                <a:spcPct val="115000"/>
              </a:lnSpc>
            </a:pPr>
            <a:r>
              <a:rPr sz="1200" b="1">
                <a:solidFill>
                  <a:srgbClr val="2DD4BF"/>
                </a:solidFill>
                <a:latin typeface="Helvetica Neue"/>
              </a:rPr>
              <a:t>THE PROBLEM</a:t>
            </a:r>
          </a:p>
        </p:txBody>
      </p:sp>
      <p:sp>
        <p:nvSpPr>
          <p:cNvPr id="3" name="TextBox 2"/>
          <p:cNvSpPr txBox="1"/>
          <p:nvPr/>
        </p:nvSpPr>
        <p:spPr>
          <a:xfrm>
            <a:off x="640080" y="777240"/>
            <a:ext cx="10972800" cy="822960"/>
          </a:xfrm>
          <a:prstGeom prst="rect">
            <a:avLst/>
          </a:prstGeom>
          <a:noFill/>
        </p:spPr>
        <p:txBody>
          <a:bodyPr wrap="square" lIns="0" rIns="0" tIns="0" bIns="0" anchor="t">
            <a:spAutoFit/>
          </a:bodyPr>
          <a:lstStyle/>
          <a:p>
            <a:pPr algn="l">
              <a:lnSpc>
                <a:spcPct val="115000"/>
              </a:lnSpc>
            </a:pPr>
            <a:r>
              <a:rPr sz="3200" b="1">
                <a:solidFill>
                  <a:srgbClr val="F8FAFC"/>
                </a:solidFill>
                <a:latin typeface="Helvetica Neue"/>
              </a:rPr>
              <a:t>A ticket says what broke. Nobody knows why.</a:t>
            </a:r>
          </a:p>
        </p:txBody>
      </p:sp>
      <p:sp>
        <p:nvSpPr>
          <p:cNvPr id="4" name="TextBox 3"/>
          <p:cNvSpPr txBox="1"/>
          <p:nvPr/>
        </p:nvSpPr>
        <p:spPr>
          <a:xfrm>
            <a:off x="9235440" y="6400800"/>
            <a:ext cx="2377440" cy="274320"/>
          </a:xfrm>
          <a:prstGeom prst="rect">
            <a:avLst/>
          </a:prstGeom>
          <a:noFill/>
        </p:spPr>
        <p:txBody>
          <a:bodyPr wrap="square" lIns="0" rIns="0" tIns="0" bIns="0" anchor="t">
            <a:spAutoFit/>
          </a:bodyPr>
          <a:lstStyle/>
          <a:p>
            <a:pPr algn="r">
              <a:lnSpc>
                <a:spcPct val="115000"/>
              </a:lnSpc>
            </a:pPr>
            <a:r>
              <a:rPr sz="1000" b="0">
                <a:solidFill>
                  <a:srgbClr val="94A3B8"/>
                </a:solidFill>
                <a:latin typeface="Helvetica Neue"/>
              </a:rPr>
              <a:t>CodeAtlas AI  ·  2</a:t>
            </a:r>
          </a:p>
        </p:txBody>
      </p:sp>
      <p:sp>
        <p:nvSpPr>
          <p:cNvPr id="5" name="Rounded Rectangle 4"/>
          <p:cNvSpPr/>
          <p:nvPr/>
        </p:nvSpPr>
        <p:spPr>
          <a:xfrm>
            <a:off x="640080" y="1920240"/>
            <a:ext cx="5120640" cy="356616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48840"/>
            <a:ext cx="4572000" cy="274320"/>
          </a:xfrm>
          <a:prstGeom prst="rect">
            <a:avLst/>
          </a:prstGeom>
          <a:noFill/>
        </p:spPr>
        <p:txBody>
          <a:bodyPr wrap="square" lIns="0" rIns="0" tIns="0" bIns="0" anchor="t">
            <a:spAutoFit/>
          </a:bodyPr>
          <a:lstStyle/>
          <a:p>
            <a:pPr algn="l">
              <a:lnSpc>
                <a:spcPct val="115000"/>
              </a:lnSpc>
            </a:pPr>
            <a:r>
              <a:rPr sz="1100" b="1">
                <a:solidFill>
                  <a:srgbClr val="94A3B8"/>
                </a:solidFill>
                <a:latin typeface="Helvetica Neue"/>
              </a:rPr>
              <a:t>FRESHSERVICE  ·  INCIDENT #80</a:t>
            </a:r>
          </a:p>
        </p:txBody>
      </p:sp>
      <p:sp>
        <p:nvSpPr>
          <p:cNvPr id="7" name="TextBox 6"/>
          <p:cNvSpPr txBox="1"/>
          <p:nvPr/>
        </p:nvSpPr>
        <p:spPr>
          <a:xfrm>
            <a:off x="914400" y="2514600"/>
            <a:ext cx="4572000" cy="1097280"/>
          </a:xfrm>
          <a:prstGeom prst="rect">
            <a:avLst/>
          </a:prstGeom>
          <a:noFill/>
        </p:spPr>
        <p:txBody>
          <a:bodyPr wrap="square" lIns="0" rIns="0" tIns="0" bIns="0" anchor="t">
            <a:spAutoFit/>
          </a:bodyPr>
          <a:lstStyle/>
          <a:p>
            <a:pPr algn="l">
              <a:lnSpc>
                <a:spcPct val="115000"/>
              </a:lnSpc>
            </a:pPr>
            <a:r>
              <a:rPr sz="2200" b="1">
                <a:solidFill>
                  <a:srgbClr val="F8FAFC"/>
                </a:solidFill>
                <a:latin typeface="Helvetica Neue"/>
              </a:rPr>
              <a:t>Database connection pool exhausted on payment gateway</a:t>
            </a:r>
          </a:p>
        </p:txBody>
      </p:sp>
      <p:sp>
        <p:nvSpPr>
          <p:cNvPr id="8" name="Rounded Rectangle 7"/>
          <p:cNvSpPr/>
          <p:nvPr/>
        </p:nvSpPr>
        <p:spPr>
          <a:xfrm>
            <a:off x="914400" y="3703320"/>
            <a:ext cx="822960" cy="274320"/>
          </a:xfrm>
          <a:prstGeom prst="roundRect">
            <a:avLst>
              <a:gd name="adj" fmla="val 50000"/>
            </a:avLst>
          </a:prstGeom>
          <a:solidFill>
            <a:srgbClr val="0B1120"/>
          </a:solidFill>
          <a:ln w="12700">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744468"/>
            <a:ext cx="822960" cy="228600"/>
          </a:xfrm>
          <a:prstGeom prst="rect">
            <a:avLst/>
          </a:prstGeom>
          <a:noFill/>
        </p:spPr>
        <p:txBody>
          <a:bodyPr wrap="square" lIns="0" rIns="0" tIns="0" bIns="0" anchor="t">
            <a:spAutoFit/>
          </a:bodyPr>
          <a:lstStyle/>
          <a:p>
            <a:pPr algn="ctr">
              <a:lnSpc>
                <a:spcPct val="115000"/>
              </a:lnSpc>
            </a:pPr>
            <a:r>
              <a:rPr sz="1000" b="1">
                <a:solidFill>
                  <a:srgbClr val="818CF8"/>
                </a:solidFill>
                <a:latin typeface="Helvetica Neue"/>
              </a:rPr>
              <a:t>OPEN</a:t>
            </a:r>
          </a:p>
        </p:txBody>
      </p:sp>
      <p:sp>
        <p:nvSpPr>
          <p:cNvPr id="10" name="Rounded Rectangle 9"/>
          <p:cNvSpPr/>
          <p:nvPr/>
        </p:nvSpPr>
        <p:spPr>
          <a:xfrm>
            <a:off x="1874519" y="3703320"/>
            <a:ext cx="1280160" cy="274320"/>
          </a:xfrm>
          <a:prstGeom prst="roundRect">
            <a:avLst>
              <a:gd name="adj" fmla="val 50000"/>
            </a:avLst>
          </a:prstGeom>
          <a:solidFill>
            <a:srgbClr val="0B1120"/>
          </a:solidFill>
          <a:ln w="12700">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74519" y="3744468"/>
            <a:ext cx="1280160" cy="228600"/>
          </a:xfrm>
          <a:prstGeom prst="rect">
            <a:avLst/>
          </a:prstGeom>
          <a:noFill/>
        </p:spPr>
        <p:txBody>
          <a:bodyPr wrap="square" lIns="0" rIns="0" tIns="0" bIns="0" anchor="t">
            <a:spAutoFit/>
          </a:bodyPr>
          <a:lstStyle/>
          <a:p>
            <a:pPr algn="ctr">
              <a:lnSpc>
                <a:spcPct val="115000"/>
              </a:lnSpc>
            </a:pPr>
            <a:r>
              <a:rPr sz="1000" b="1">
                <a:solidFill>
                  <a:srgbClr val="FB7185"/>
                </a:solidFill>
                <a:latin typeface="Helvetica Neue"/>
              </a:rPr>
              <a:t>UNASSIGNED</a:t>
            </a:r>
          </a:p>
        </p:txBody>
      </p:sp>
      <p:sp>
        <p:nvSpPr>
          <p:cNvPr id="12" name="TextBox 11"/>
          <p:cNvSpPr txBox="1"/>
          <p:nvPr/>
        </p:nvSpPr>
        <p:spPr>
          <a:xfrm>
            <a:off x="914400" y="4297680"/>
            <a:ext cx="4572000" cy="1005840"/>
          </a:xfrm>
          <a:prstGeom prst="rect">
            <a:avLst/>
          </a:prstGeom>
          <a:noFill/>
        </p:spPr>
        <p:txBody>
          <a:bodyPr wrap="square" lIns="0" rIns="0" tIns="0" bIns="0" anchor="t">
            <a:spAutoFit/>
          </a:bodyPr>
          <a:lstStyle/>
          <a:p>
            <a:pPr algn="l">
              <a:lnSpc>
                <a:spcPct val="115000"/>
              </a:lnSpc>
            </a:pPr>
            <a:r>
              <a:rPr sz="1400" b="0">
                <a:solidFill>
                  <a:srgbClr val="94A3B8"/>
                </a:solidFill>
                <a:latin typeface="Helvetica Neue"/>
              </a:rPr>
              <a:t>Knowledge is scattered across GitHub, Jira, Confluence, Slack, past tickets and tribal knowledge.</a:t>
            </a:r>
          </a:p>
        </p:txBody>
      </p:sp>
      <p:sp>
        <p:nvSpPr>
          <p:cNvPr id="13" name="Rounded Rectangle 12"/>
          <p:cNvSpPr/>
          <p:nvPr/>
        </p:nvSpPr>
        <p:spPr>
          <a:xfrm>
            <a:off x="6217920" y="1920240"/>
            <a:ext cx="5303520" cy="59436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075688"/>
            <a:ext cx="457200" cy="365760"/>
          </a:xfrm>
          <a:prstGeom prst="rect">
            <a:avLst/>
          </a:prstGeom>
          <a:noFill/>
        </p:spPr>
        <p:txBody>
          <a:bodyPr wrap="square" lIns="0" rIns="0" tIns="0" bIns="0" anchor="t">
            <a:spAutoFit/>
          </a:bodyPr>
          <a:lstStyle/>
          <a:p>
            <a:pPr algn="l">
              <a:lnSpc>
                <a:spcPct val="115000"/>
              </a:lnSpc>
            </a:pPr>
            <a:r>
              <a:rPr sz="1800" b="1">
                <a:solidFill>
                  <a:srgbClr val="FB7185"/>
                </a:solidFill>
                <a:latin typeface="Helvetica Neue"/>
              </a:rPr>
              <a:t>?</a:t>
            </a:r>
          </a:p>
        </p:txBody>
      </p:sp>
      <p:sp>
        <p:nvSpPr>
          <p:cNvPr id="15" name="TextBox 14"/>
          <p:cNvSpPr txBox="1"/>
          <p:nvPr/>
        </p:nvSpPr>
        <p:spPr>
          <a:xfrm>
            <a:off x="6858000" y="2075688"/>
            <a:ext cx="4572000" cy="365760"/>
          </a:xfrm>
          <a:prstGeom prst="rect">
            <a:avLst/>
          </a:prstGeom>
          <a:noFill/>
        </p:spPr>
        <p:txBody>
          <a:bodyPr wrap="square" lIns="0" rIns="0" tIns="0" bIns="0" anchor="t">
            <a:spAutoFit/>
          </a:bodyPr>
          <a:lstStyle/>
          <a:p>
            <a:pPr algn="l">
              <a:lnSpc>
                <a:spcPct val="115000"/>
              </a:lnSpc>
            </a:pPr>
            <a:r>
              <a:rPr sz="1700" b="0">
                <a:solidFill>
                  <a:srgbClr val="F8FAFC"/>
                </a:solidFill>
                <a:latin typeface="Helvetica Neue"/>
              </a:rPr>
              <a:t>Which service is this?</a:t>
            </a:r>
          </a:p>
        </p:txBody>
      </p:sp>
      <p:sp>
        <p:nvSpPr>
          <p:cNvPr id="16" name="Rounded Rectangle 15"/>
          <p:cNvSpPr/>
          <p:nvPr/>
        </p:nvSpPr>
        <p:spPr>
          <a:xfrm>
            <a:off x="6217920" y="2651760"/>
            <a:ext cx="5303520" cy="59436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807208"/>
            <a:ext cx="457200" cy="365760"/>
          </a:xfrm>
          <a:prstGeom prst="rect">
            <a:avLst/>
          </a:prstGeom>
          <a:noFill/>
        </p:spPr>
        <p:txBody>
          <a:bodyPr wrap="square" lIns="0" rIns="0" tIns="0" bIns="0" anchor="t">
            <a:spAutoFit/>
          </a:bodyPr>
          <a:lstStyle/>
          <a:p>
            <a:pPr algn="l">
              <a:lnSpc>
                <a:spcPct val="115000"/>
              </a:lnSpc>
            </a:pPr>
            <a:r>
              <a:rPr sz="1800" b="1">
                <a:solidFill>
                  <a:srgbClr val="FB7185"/>
                </a:solidFill>
                <a:latin typeface="Helvetica Neue"/>
              </a:rPr>
              <a:t>?</a:t>
            </a:r>
          </a:p>
        </p:txBody>
      </p:sp>
      <p:sp>
        <p:nvSpPr>
          <p:cNvPr id="18" name="TextBox 17"/>
          <p:cNvSpPr txBox="1"/>
          <p:nvPr/>
        </p:nvSpPr>
        <p:spPr>
          <a:xfrm>
            <a:off x="6858000" y="2807208"/>
            <a:ext cx="4572000" cy="365760"/>
          </a:xfrm>
          <a:prstGeom prst="rect">
            <a:avLst/>
          </a:prstGeom>
          <a:noFill/>
        </p:spPr>
        <p:txBody>
          <a:bodyPr wrap="square" lIns="0" rIns="0" tIns="0" bIns="0" anchor="t">
            <a:spAutoFit/>
          </a:bodyPr>
          <a:lstStyle/>
          <a:p>
            <a:pPr algn="l">
              <a:lnSpc>
                <a:spcPct val="115000"/>
              </a:lnSpc>
            </a:pPr>
            <a:r>
              <a:rPr sz="1700" b="0">
                <a:solidFill>
                  <a:srgbClr val="F8FAFC"/>
                </a:solidFill>
                <a:latin typeface="Helvetica Neue"/>
              </a:rPr>
              <a:t>Who owns it?</a:t>
            </a:r>
          </a:p>
        </p:txBody>
      </p:sp>
      <p:sp>
        <p:nvSpPr>
          <p:cNvPr id="19" name="Rounded Rectangle 18"/>
          <p:cNvSpPr/>
          <p:nvPr/>
        </p:nvSpPr>
        <p:spPr>
          <a:xfrm>
            <a:off x="6217920" y="3383280"/>
            <a:ext cx="5303520" cy="59436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538728"/>
            <a:ext cx="457200" cy="365760"/>
          </a:xfrm>
          <a:prstGeom prst="rect">
            <a:avLst/>
          </a:prstGeom>
          <a:noFill/>
        </p:spPr>
        <p:txBody>
          <a:bodyPr wrap="square" lIns="0" rIns="0" tIns="0" bIns="0" anchor="t">
            <a:spAutoFit/>
          </a:bodyPr>
          <a:lstStyle/>
          <a:p>
            <a:pPr algn="l">
              <a:lnSpc>
                <a:spcPct val="115000"/>
              </a:lnSpc>
            </a:pPr>
            <a:r>
              <a:rPr sz="1800" b="1">
                <a:solidFill>
                  <a:srgbClr val="FB7185"/>
                </a:solidFill>
                <a:latin typeface="Helvetica Neue"/>
              </a:rPr>
              <a:t>?</a:t>
            </a:r>
          </a:p>
        </p:txBody>
      </p:sp>
      <p:sp>
        <p:nvSpPr>
          <p:cNvPr id="21" name="TextBox 20"/>
          <p:cNvSpPr txBox="1"/>
          <p:nvPr/>
        </p:nvSpPr>
        <p:spPr>
          <a:xfrm>
            <a:off x="6858000" y="3538728"/>
            <a:ext cx="4572000" cy="365760"/>
          </a:xfrm>
          <a:prstGeom prst="rect">
            <a:avLst/>
          </a:prstGeom>
          <a:noFill/>
        </p:spPr>
        <p:txBody>
          <a:bodyPr wrap="square" lIns="0" rIns="0" tIns="0" bIns="0" anchor="t">
            <a:spAutoFit/>
          </a:bodyPr>
          <a:lstStyle/>
          <a:p>
            <a:pPr algn="l">
              <a:lnSpc>
                <a:spcPct val="115000"/>
              </a:lnSpc>
            </a:pPr>
            <a:r>
              <a:rPr sz="1700" b="0">
                <a:solidFill>
                  <a:srgbClr val="F8FAFC"/>
                </a:solidFill>
                <a:latin typeface="Helvetica Neue"/>
              </a:rPr>
              <a:t>What depends on it?</a:t>
            </a:r>
          </a:p>
        </p:txBody>
      </p:sp>
      <p:sp>
        <p:nvSpPr>
          <p:cNvPr id="22" name="Rounded Rectangle 21"/>
          <p:cNvSpPr/>
          <p:nvPr/>
        </p:nvSpPr>
        <p:spPr>
          <a:xfrm>
            <a:off x="6217920" y="4114800"/>
            <a:ext cx="5303520" cy="59436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4270248"/>
            <a:ext cx="457200" cy="365760"/>
          </a:xfrm>
          <a:prstGeom prst="rect">
            <a:avLst/>
          </a:prstGeom>
          <a:noFill/>
        </p:spPr>
        <p:txBody>
          <a:bodyPr wrap="square" lIns="0" rIns="0" tIns="0" bIns="0" anchor="t">
            <a:spAutoFit/>
          </a:bodyPr>
          <a:lstStyle/>
          <a:p>
            <a:pPr algn="l">
              <a:lnSpc>
                <a:spcPct val="115000"/>
              </a:lnSpc>
            </a:pPr>
            <a:r>
              <a:rPr sz="1800" b="1">
                <a:solidFill>
                  <a:srgbClr val="FB7185"/>
                </a:solidFill>
                <a:latin typeface="Helvetica Neue"/>
              </a:rPr>
              <a:t>?</a:t>
            </a:r>
          </a:p>
        </p:txBody>
      </p:sp>
      <p:sp>
        <p:nvSpPr>
          <p:cNvPr id="24" name="TextBox 23"/>
          <p:cNvSpPr txBox="1"/>
          <p:nvPr/>
        </p:nvSpPr>
        <p:spPr>
          <a:xfrm>
            <a:off x="6858000" y="4270248"/>
            <a:ext cx="4572000" cy="365760"/>
          </a:xfrm>
          <a:prstGeom prst="rect">
            <a:avLst/>
          </a:prstGeom>
          <a:noFill/>
        </p:spPr>
        <p:txBody>
          <a:bodyPr wrap="square" lIns="0" rIns="0" tIns="0" bIns="0" anchor="t">
            <a:spAutoFit/>
          </a:bodyPr>
          <a:lstStyle/>
          <a:p>
            <a:pPr algn="l">
              <a:lnSpc>
                <a:spcPct val="115000"/>
              </a:lnSpc>
            </a:pPr>
            <a:r>
              <a:rPr sz="1700" b="0">
                <a:solidFill>
                  <a:srgbClr val="F8FAFC"/>
                </a:solidFill>
                <a:latin typeface="Helvetica Neue"/>
              </a:rPr>
              <a:t>Has this happened before?</a:t>
            </a:r>
          </a:p>
        </p:txBody>
      </p:sp>
      <p:sp>
        <p:nvSpPr>
          <p:cNvPr id="25" name="Rounded Rectangle 24"/>
          <p:cNvSpPr/>
          <p:nvPr/>
        </p:nvSpPr>
        <p:spPr>
          <a:xfrm>
            <a:off x="6217920" y="4846320"/>
            <a:ext cx="5303520" cy="59436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5001768"/>
            <a:ext cx="457200" cy="365760"/>
          </a:xfrm>
          <a:prstGeom prst="rect">
            <a:avLst/>
          </a:prstGeom>
          <a:noFill/>
        </p:spPr>
        <p:txBody>
          <a:bodyPr wrap="square" lIns="0" rIns="0" tIns="0" bIns="0" anchor="t">
            <a:spAutoFit/>
          </a:bodyPr>
          <a:lstStyle/>
          <a:p>
            <a:pPr algn="l">
              <a:lnSpc>
                <a:spcPct val="115000"/>
              </a:lnSpc>
            </a:pPr>
            <a:r>
              <a:rPr sz="1800" b="1">
                <a:solidFill>
                  <a:srgbClr val="FB7185"/>
                </a:solidFill>
                <a:latin typeface="Helvetica Neue"/>
              </a:rPr>
              <a:t>?</a:t>
            </a:r>
          </a:p>
        </p:txBody>
      </p:sp>
      <p:sp>
        <p:nvSpPr>
          <p:cNvPr id="27" name="TextBox 26"/>
          <p:cNvSpPr txBox="1"/>
          <p:nvPr/>
        </p:nvSpPr>
        <p:spPr>
          <a:xfrm>
            <a:off x="6858000" y="5001768"/>
            <a:ext cx="4572000" cy="365760"/>
          </a:xfrm>
          <a:prstGeom prst="rect">
            <a:avLst/>
          </a:prstGeom>
          <a:noFill/>
        </p:spPr>
        <p:txBody>
          <a:bodyPr wrap="square" lIns="0" rIns="0" tIns="0" bIns="0" anchor="t">
            <a:spAutoFit/>
          </a:bodyPr>
          <a:lstStyle/>
          <a:p>
            <a:pPr algn="l">
              <a:lnSpc>
                <a:spcPct val="115000"/>
              </a:lnSpc>
            </a:pPr>
            <a:r>
              <a:rPr sz="1700" b="0">
                <a:solidFill>
                  <a:srgbClr val="F8FAFC"/>
                </a:solidFill>
                <a:latin typeface="Helvetica Neue"/>
              </a:rPr>
              <a:t>Which runbook do I follow?</a:t>
            </a:r>
          </a:p>
        </p:txBody>
      </p:sp>
      <p:sp>
        <p:nvSpPr>
          <p:cNvPr id="28" name="TextBox 27"/>
          <p:cNvSpPr txBox="1"/>
          <p:nvPr/>
        </p:nvSpPr>
        <p:spPr>
          <a:xfrm>
            <a:off x="640080" y="5806440"/>
            <a:ext cx="10972800" cy="457200"/>
          </a:xfrm>
          <a:prstGeom prst="rect">
            <a:avLst/>
          </a:prstGeom>
          <a:noFill/>
        </p:spPr>
        <p:txBody>
          <a:bodyPr wrap="square" lIns="0" rIns="0" tIns="0" bIns="0" anchor="t">
            <a:spAutoFit/>
          </a:bodyPr>
          <a:lstStyle/>
          <a:p>
            <a:pPr algn="l">
              <a:lnSpc>
                <a:spcPct val="115000"/>
              </a:lnSpc>
            </a:pPr>
            <a:r>
              <a:rPr sz="1800" b="0">
                <a:solidFill>
                  <a:srgbClr val="94A3B8"/>
                </a:solidFill>
                <a:latin typeface="Helvetica Neue"/>
              </a:rPr>
              <a:t>The challenge isn't finding information. </a:t>
            </a:r>
            <a:r>
              <a:rPr sz="1800" b="1">
                <a:solidFill>
                  <a:srgbClr val="2DD4BF"/>
                </a:solidFill>
                <a:latin typeface="Helvetica Neue"/>
              </a:rPr>
              <a:t>It's understanding how it connects.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lIns="0" rIns="0" tIns="0" bIns="0" anchor="t">
            <a:spAutoFit/>
          </a:bodyPr>
          <a:lstStyle/>
          <a:p>
            <a:pPr algn="l">
              <a:lnSpc>
                <a:spcPct val="115000"/>
              </a:lnSpc>
            </a:pPr>
            <a:r>
              <a:rPr sz="1200" b="1">
                <a:solidFill>
                  <a:srgbClr val="2DD4BF"/>
                </a:solidFill>
                <a:latin typeface="Helvetica Neue"/>
              </a:rPr>
              <a:t>RATIONALE</a:t>
            </a:r>
          </a:p>
        </p:txBody>
      </p:sp>
      <p:sp>
        <p:nvSpPr>
          <p:cNvPr id="3" name="TextBox 2"/>
          <p:cNvSpPr txBox="1"/>
          <p:nvPr/>
        </p:nvSpPr>
        <p:spPr>
          <a:xfrm>
            <a:off x="640080" y="777240"/>
            <a:ext cx="10972800" cy="822960"/>
          </a:xfrm>
          <a:prstGeom prst="rect">
            <a:avLst/>
          </a:prstGeom>
          <a:noFill/>
        </p:spPr>
        <p:txBody>
          <a:bodyPr wrap="square" lIns="0" rIns="0" tIns="0" bIns="0" anchor="t">
            <a:spAutoFit/>
          </a:bodyPr>
          <a:lstStyle/>
          <a:p>
            <a:pPr algn="l">
              <a:lnSpc>
                <a:spcPct val="115000"/>
              </a:lnSpc>
            </a:pPr>
            <a:r>
              <a:rPr sz="3200" b="1">
                <a:solidFill>
                  <a:srgbClr val="F8FAFC"/>
                </a:solidFill>
                <a:latin typeface="Helvetica Neue"/>
              </a:rPr>
              <a:t>Why now</a:t>
            </a:r>
          </a:p>
        </p:txBody>
      </p:sp>
      <p:sp>
        <p:nvSpPr>
          <p:cNvPr id="4" name="TextBox 3"/>
          <p:cNvSpPr txBox="1"/>
          <p:nvPr/>
        </p:nvSpPr>
        <p:spPr>
          <a:xfrm>
            <a:off x="9235440" y="6400800"/>
            <a:ext cx="2377440" cy="274320"/>
          </a:xfrm>
          <a:prstGeom prst="rect">
            <a:avLst/>
          </a:prstGeom>
          <a:noFill/>
        </p:spPr>
        <p:txBody>
          <a:bodyPr wrap="square" lIns="0" rIns="0" tIns="0" bIns="0" anchor="t">
            <a:spAutoFit/>
          </a:bodyPr>
          <a:lstStyle/>
          <a:p>
            <a:pPr algn="r">
              <a:lnSpc>
                <a:spcPct val="115000"/>
              </a:lnSpc>
            </a:pPr>
            <a:r>
              <a:rPr sz="1000" b="0">
                <a:solidFill>
                  <a:srgbClr val="94A3B8"/>
                </a:solidFill>
                <a:latin typeface="Helvetica Neue"/>
              </a:rPr>
              <a:t>CodeAtlas AI  ·  3</a:t>
            </a:r>
          </a:p>
        </p:txBody>
      </p:sp>
      <p:sp>
        <p:nvSpPr>
          <p:cNvPr id="5" name="TextBox 4"/>
          <p:cNvSpPr txBox="1"/>
          <p:nvPr/>
        </p:nvSpPr>
        <p:spPr>
          <a:xfrm>
            <a:off x="640080" y="1508760"/>
            <a:ext cx="10881360" cy="365760"/>
          </a:xfrm>
          <a:prstGeom prst="rect">
            <a:avLst/>
          </a:prstGeom>
          <a:noFill/>
        </p:spPr>
        <p:txBody>
          <a:bodyPr wrap="square" lIns="0" rIns="0" tIns="0" bIns="0" anchor="t">
            <a:spAutoFit/>
          </a:bodyPr>
          <a:lstStyle/>
          <a:p>
            <a:pPr algn="l">
              <a:lnSpc>
                <a:spcPct val="115000"/>
              </a:lnSpc>
            </a:pPr>
            <a:r>
              <a:rPr sz="1600" b="0">
                <a:solidFill>
                  <a:srgbClr val="94A3B8"/>
                </a:solidFill>
                <a:latin typeface="Helvetica Neue"/>
              </a:rPr>
              <a:t>Three shifts make an AI agent that works inside Freshservice possible today.</a:t>
            </a:r>
          </a:p>
        </p:txBody>
      </p:sp>
      <p:sp>
        <p:nvSpPr>
          <p:cNvPr id="6" name="Rounded Rectangle 5"/>
          <p:cNvSpPr/>
          <p:nvPr/>
        </p:nvSpPr>
        <p:spPr>
          <a:xfrm>
            <a:off x="640080" y="2057400"/>
            <a:ext cx="3474720" cy="256032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313432"/>
            <a:ext cx="54864" cy="36576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95144"/>
            <a:ext cx="3017520" cy="411480"/>
          </a:xfrm>
          <a:prstGeom prst="rect">
            <a:avLst/>
          </a:prstGeom>
          <a:noFill/>
        </p:spPr>
        <p:txBody>
          <a:bodyPr wrap="square" lIns="0" rIns="0" tIns="0" bIns="0" anchor="t">
            <a:spAutoFit/>
          </a:bodyPr>
          <a:lstStyle/>
          <a:p>
            <a:pPr algn="l">
              <a:lnSpc>
                <a:spcPct val="115000"/>
              </a:lnSpc>
            </a:pPr>
            <a:r>
              <a:rPr sz="1700" b="1">
                <a:solidFill>
                  <a:srgbClr val="F8FAFC"/>
                </a:solidFill>
                <a:latin typeface="Helvetica Neue"/>
              </a:rPr>
              <a:t>Freshworks is open</a:t>
            </a:r>
          </a:p>
        </p:txBody>
      </p:sp>
      <p:sp>
        <p:nvSpPr>
          <p:cNvPr id="9" name="TextBox 8"/>
          <p:cNvSpPr txBox="1"/>
          <p:nvPr/>
        </p:nvSpPr>
        <p:spPr>
          <a:xfrm>
            <a:off x="914400" y="2834640"/>
            <a:ext cx="3017520" cy="1645920"/>
          </a:xfrm>
          <a:prstGeom prst="rect">
            <a:avLst/>
          </a:prstGeom>
          <a:noFill/>
        </p:spPr>
        <p:txBody>
          <a:bodyPr wrap="square" lIns="0" rIns="0" tIns="0" bIns="0" anchor="t">
            <a:spAutoFit/>
          </a:bodyPr>
          <a:lstStyle/>
          <a:p>
            <a:pPr algn="l">
              <a:lnSpc>
                <a:spcPct val="110000"/>
              </a:lnSpc>
              <a:spcAft>
                <a:spcPts val="800"/>
              </a:spcAft>
            </a:pPr>
            <a:r>
              <a:rPr sz="1300" b="1">
                <a:solidFill>
                  <a:srgbClr val="2DD4BF"/>
                </a:solidFill>
                <a:latin typeface="Helvetica Neue"/>
              </a:rPr>
              <a:t>•  </a:t>
            </a:r>
            <a:r>
              <a:rPr sz="1300" b="0">
                <a:solidFill>
                  <a:srgbClr val="94A3B8"/>
                </a:solidFill>
                <a:latin typeface="Helvetica Neue"/>
              </a:rPr>
              <a:t>REST v2 + Workflow Automator push every ticket and change to agents</a:t>
            </a:r>
          </a:p>
          <a:p>
            <a:pPr algn="l">
              <a:lnSpc>
                <a:spcPct val="110000"/>
              </a:lnSpc>
              <a:spcAft>
                <a:spcPts val="800"/>
              </a:spcAft>
            </a:pPr>
            <a:r>
              <a:rPr sz="1300" b="1">
                <a:solidFill>
                  <a:srgbClr val="2DD4BF"/>
                </a:solidFill>
                <a:latin typeface="Helvetica Neue"/>
              </a:rPr>
              <a:t>•  </a:t>
            </a:r>
            <a:r>
              <a:rPr sz="1300" b="0">
                <a:solidFill>
                  <a:srgbClr val="94A3B8"/>
                </a:solidFill>
                <a:latin typeface="Helvetica Neue"/>
              </a:rPr>
              <a:t>Official Freshservice &amp; Freshdesk MCP servers (Freshdesk GA Sep 2026)</a:t>
            </a:r>
          </a:p>
          <a:p>
            <a:pPr algn="l">
              <a:lnSpc>
                <a:spcPct val="110000"/>
              </a:lnSpc>
            </a:pPr>
            <a:r>
              <a:rPr sz="1300" b="1">
                <a:solidFill>
                  <a:srgbClr val="2DD4BF"/>
                </a:solidFill>
                <a:latin typeface="Helvetica Neue"/>
              </a:rPr>
              <a:t>•  </a:t>
            </a:r>
            <a:r>
              <a:rPr sz="1300" b="0">
                <a:solidFill>
                  <a:srgbClr val="94A3B8"/>
                </a:solidFill>
                <a:latin typeface="Helvetica Neue"/>
              </a:rPr>
              <a:t>FDK apps can run agents inside the product UI</a:t>
            </a:r>
          </a:p>
        </p:txBody>
      </p:sp>
      <p:sp>
        <p:nvSpPr>
          <p:cNvPr id="10" name="Rounded Rectangle 9"/>
          <p:cNvSpPr/>
          <p:nvPr/>
        </p:nvSpPr>
        <p:spPr>
          <a:xfrm>
            <a:off x="4343400" y="2057400"/>
            <a:ext cx="3474720" cy="256032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2313432"/>
            <a:ext cx="54864" cy="365760"/>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295144"/>
            <a:ext cx="3017520" cy="411480"/>
          </a:xfrm>
          <a:prstGeom prst="rect">
            <a:avLst/>
          </a:prstGeom>
          <a:noFill/>
        </p:spPr>
        <p:txBody>
          <a:bodyPr wrap="square" lIns="0" rIns="0" tIns="0" bIns="0" anchor="t">
            <a:spAutoFit/>
          </a:bodyPr>
          <a:lstStyle/>
          <a:p>
            <a:pPr algn="l">
              <a:lnSpc>
                <a:spcPct val="115000"/>
              </a:lnSpc>
            </a:pPr>
            <a:r>
              <a:rPr sz="1700" b="1">
                <a:solidFill>
                  <a:srgbClr val="F8FAFC"/>
                </a:solidFill>
                <a:latin typeface="Helvetica Neue"/>
              </a:rPr>
              <a:t>Agents now act</a:t>
            </a:r>
          </a:p>
        </p:txBody>
      </p:sp>
      <p:sp>
        <p:nvSpPr>
          <p:cNvPr id="13" name="TextBox 12"/>
          <p:cNvSpPr txBox="1"/>
          <p:nvPr/>
        </p:nvSpPr>
        <p:spPr>
          <a:xfrm>
            <a:off x="4617720" y="2834640"/>
            <a:ext cx="3017520" cy="1645920"/>
          </a:xfrm>
          <a:prstGeom prst="rect">
            <a:avLst/>
          </a:prstGeom>
          <a:noFill/>
        </p:spPr>
        <p:txBody>
          <a:bodyPr wrap="square" lIns="0" rIns="0" tIns="0" bIns="0" anchor="t">
            <a:spAutoFit/>
          </a:bodyPr>
          <a:lstStyle/>
          <a:p>
            <a:pPr algn="l">
              <a:lnSpc>
                <a:spcPct val="110000"/>
              </a:lnSpc>
              <a:spcAft>
                <a:spcPts val="800"/>
              </a:spcAft>
            </a:pPr>
            <a:r>
              <a:rPr sz="1300" b="1">
                <a:solidFill>
                  <a:srgbClr val="818CF8"/>
                </a:solidFill>
                <a:latin typeface="Helvetica Neue"/>
              </a:rPr>
              <a:t>•  </a:t>
            </a:r>
            <a:r>
              <a:rPr sz="1300" b="0">
                <a:solidFill>
                  <a:srgbClr val="94A3B8"/>
                </a:solidFill>
                <a:latin typeface="Helvetica Neue"/>
              </a:rPr>
              <a:t>Specialised agents hand off work: impact → ontology → experts</a:t>
            </a:r>
          </a:p>
          <a:p>
            <a:pPr algn="l">
              <a:lnSpc>
                <a:spcPct val="110000"/>
              </a:lnSpc>
              <a:spcAft>
                <a:spcPts val="800"/>
              </a:spcAft>
            </a:pPr>
            <a:r>
              <a:rPr sz="1300" b="1">
                <a:solidFill>
                  <a:srgbClr val="818CF8"/>
                </a:solidFill>
                <a:latin typeface="Helvetica Neue"/>
              </a:rPr>
              <a:t>•  </a:t>
            </a:r>
            <a:r>
              <a:rPr sz="1300" b="0">
                <a:solidFill>
                  <a:srgbClr val="94A3B8"/>
                </a:solidFill>
                <a:latin typeface="Helvetica Neue"/>
              </a:rPr>
              <a:t>LLM reasoning is cheap; a knowledge graph keeps it factual and cited</a:t>
            </a:r>
          </a:p>
          <a:p>
            <a:pPr algn="l">
              <a:lnSpc>
                <a:spcPct val="110000"/>
              </a:lnSpc>
            </a:pPr>
            <a:r>
              <a:rPr sz="1300" b="1">
                <a:solidFill>
                  <a:srgbClr val="818CF8"/>
                </a:solidFill>
                <a:latin typeface="Helvetica Neue"/>
              </a:rPr>
              <a:t>•  </a:t>
            </a:r>
            <a:r>
              <a:rPr sz="1300" b="0">
                <a:solidFill>
                  <a:srgbClr val="94A3B8"/>
                </a:solidFill>
                <a:latin typeface="Helvetica Neue"/>
              </a:rPr>
              <a:t>Agents write back: notes, routing, change risk</a:t>
            </a:r>
          </a:p>
        </p:txBody>
      </p:sp>
      <p:sp>
        <p:nvSpPr>
          <p:cNvPr id="14" name="Rounded Rectangle 13"/>
          <p:cNvSpPr/>
          <p:nvPr/>
        </p:nvSpPr>
        <p:spPr>
          <a:xfrm>
            <a:off x="8046720" y="2057400"/>
            <a:ext cx="3474720" cy="256032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2313432"/>
            <a:ext cx="54864" cy="365760"/>
          </a:xfrm>
          <a:prstGeom prst="rect">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2295144"/>
            <a:ext cx="3017520" cy="411480"/>
          </a:xfrm>
          <a:prstGeom prst="rect">
            <a:avLst/>
          </a:prstGeom>
          <a:noFill/>
        </p:spPr>
        <p:txBody>
          <a:bodyPr wrap="square" lIns="0" rIns="0" tIns="0" bIns="0" anchor="t">
            <a:spAutoFit/>
          </a:bodyPr>
          <a:lstStyle/>
          <a:p>
            <a:pPr algn="l">
              <a:lnSpc>
                <a:spcPct val="115000"/>
              </a:lnSpc>
            </a:pPr>
            <a:r>
              <a:rPr sz="1700" b="1">
                <a:solidFill>
                  <a:srgbClr val="F8FAFC"/>
                </a:solidFill>
                <a:latin typeface="Helvetica Neue"/>
              </a:rPr>
              <a:t>Context is scattered</a:t>
            </a:r>
          </a:p>
        </p:txBody>
      </p:sp>
      <p:sp>
        <p:nvSpPr>
          <p:cNvPr id="17" name="TextBox 16"/>
          <p:cNvSpPr txBox="1"/>
          <p:nvPr/>
        </p:nvSpPr>
        <p:spPr>
          <a:xfrm>
            <a:off x="8321040" y="2834640"/>
            <a:ext cx="3017520" cy="1645920"/>
          </a:xfrm>
          <a:prstGeom prst="rect">
            <a:avLst/>
          </a:prstGeom>
          <a:noFill/>
        </p:spPr>
        <p:txBody>
          <a:bodyPr wrap="square" lIns="0" rIns="0" tIns="0" bIns="0" anchor="t">
            <a:spAutoFit/>
          </a:bodyPr>
          <a:lstStyle/>
          <a:p>
            <a:pPr algn="l">
              <a:lnSpc>
                <a:spcPct val="110000"/>
              </a:lnSpc>
              <a:spcAft>
                <a:spcPts val="800"/>
              </a:spcAft>
            </a:pPr>
            <a:r>
              <a:rPr sz="1300" b="1">
                <a:solidFill>
                  <a:srgbClr val="FB7185"/>
                </a:solidFill>
                <a:latin typeface="Helvetica Neue"/>
              </a:rPr>
              <a:t>•  </a:t>
            </a:r>
            <a:r>
              <a:rPr sz="1300" b="0">
                <a:solidFill>
                  <a:srgbClr val="94A3B8"/>
                </a:solidFill>
                <a:latin typeface="Helvetica Neue"/>
              </a:rPr>
              <a:t>Ownership and dependencies live in GitHub, runbooks and people's heads</a:t>
            </a:r>
          </a:p>
          <a:p>
            <a:pPr algn="l">
              <a:lnSpc>
                <a:spcPct val="110000"/>
              </a:lnSpc>
              <a:spcAft>
                <a:spcPts val="800"/>
              </a:spcAft>
            </a:pPr>
            <a:r>
              <a:rPr sz="1300" b="1">
                <a:solidFill>
                  <a:srgbClr val="FB7185"/>
                </a:solidFill>
                <a:latin typeface="Helvetica Neue"/>
              </a:rPr>
              <a:t>•  </a:t>
            </a:r>
            <a:r>
              <a:rPr sz="1300" b="0">
                <a:solidFill>
                  <a:srgbClr val="94A3B8"/>
                </a:solidFill>
                <a:latin typeface="Helvetica Neue"/>
              </a:rPr>
              <a:t>Service desks see ticket text, not the system behind it</a:t>
            </a:r>
          </a:p>
          <a:p>
            <a:pPr algn="l">
              <a:lnSpc>
                <a:spcPct val="110000"/>
              </a:lnSpc>
            </a:pPr>
            <a:r>
              <a:rPr sz="1300" b="1">
                <a:solidFill>
                  <a:srgbClr val="FB7185"/>
                </a:solidFill>
                <a:latin typeface="Helvetica Neue"/>
              </a:rPr>
              <a:t>•  </a:t>
            </a:r>
            <a:r>
              <a:rPr sz="1300" b="0">
                <a:solidFill>
                  <a:srgbClr val="94A3B8"/>
                </a:solidFill>
                <a:latin typeface="Helvetica Neue"/>
              </a:rPr>
              <a:t>Every wrong escalation adds to MTTR and lost revenue</a:t>
            </a:r>
          </a:p>
        </p:txBody>
      </p:sp>
      <p:sp>
        <p:nvSpPr>
          <p:cNvPr id="18" name="TextBox 17"/>
          <p:cNvSpPr txBox="1"/>
          <p:nvPr/>
        </p:nvSpPr>
        <p:spPr>
          <a:xfrm>
            <a:off x="640080" y="4846320"/>
            <a:ext cx="10881360" cy="274320"/>
          </a:xfrm>
          <a:prstGeom prst="rect">
            <a:avLst/>
          </a:prstGeom>
          <a:noFill/>
        </p:spPr>
        <p:txBody>
          <a:bodyPr wrap="square" lIns="0" rIns="0" tIns="0" bIns="0" anchor="t">
            <a:spAutoFit/>
          </a:bodyPr>
          <a:lstStyle/>
          <a:p>
            <a:pPr algn="l">
              <a:lnSpc>
                <a:spcPct val="115000"/>
              </a:lnSpc>
            </a:pPr>
            <a:r>
              <a:rPr sz="1100" b="1">
                <a:solidFill>
                  <a:srgbClr val="2DD4BF"/>
                </a:solidFill>
                <a:latin typeface="Helvetica Neue"/>
              </a:rPr>
              <a:t>WHAT THIS MAKES POSSIBLE: CODEATLAS INSIDE FRESHSERVICE</a:t>
            </a:r>
          </a:p>
        </p:txBody>
      </p:sp>
      <p:sp>
        <p:nvSpPr>
          <p:cNvPr id="19" name="Rounded Rectangle 18"/>
          <p:cNvSpPr/>
          <p:nvPr/>
        </p:nvSpPr>
        <p:spPr>
          <a:xfrm>
            <a:off x="640080" y="5166360"/>
            <a:ext cx="2468880" cy="91440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330952"/>
            <a:ext cx="2103120" cy="32004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Ticket or change</a:t>
            </a:r>
          </a:p>
        </p:txBody>
      </p:sp>
      <p:sp>
        <p:nvSpPr>
          <p:cNvPr id="21" name="TextBox 20"/>
          <p:cNvSpPr txBox="1"/>
          <p:nvPr/>
        </p:nvSpPr>
        <p:spPr>
          <a:xfrm>
            <a:off x="822960" y="5669280"/>
            <a:ext cx="2103120" cy="320040"/>
          </a:xfrm>
          <a:prstGeom prst="rect">
            <a:avLst/>
          </a:prstGeom>
          <a:noFill/>
        </p:spPr>
        <p:txBody>
          <a:bodyPr wrap="square" lIns="0" rIns="0" tIns="0" bIns="0" anchor="t">
            <a:spAutoFit/>
          </a:bodyPr>
          <a:lstStyle/>
          <a:p>
            <a:pPr algn="l">
              <a:lnSpc>
                <a:spcPct val="115000"/>
              </a:lnSpc>
            </a:pPr>
            <a:r>
              <a:rPr sz="1100" b="0">
                <a:solidFill>
                  <a:srgbClr val="94A3B8"/>
                </a:solidFill>
                <a:latin typeface="Helvetica Neue"/>
              </a:rPr>
              <a:t>raised in Freshservice</a:t>
            </a:r>
          </a:p>
        </p:txBody>
      </p:sp>
      <p:sp>
        <p:nvSpPr>
          <p:cNvPr id="22" name="Right Arrow 21"/>
          <p:cNvSpPr/>
          <p:nvPr/>
        </p:nvSpPr>
        <p:spPr>
          <a:xfrm>
            <a:off x="3172968" y="5513832"/>
            <a:ext cx="210312" cy="219456"/>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447288" y="5166360"/>
            <a:ext cx="2468880" cy="91440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30168" y="5330952"/>
            <a:ext cx="2103120" cy="32004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Workflow Automator</a:t>
            </a:r>
          </a:p>
        </p:txBody>
      </p:sp>
      <p:sp>
        <p:nvSpPr>
          <p:cNvPr id="25" name="TextBox 24"/>
          <p:cNvSpPr txBox="1"/>
          <p:nvPr/>
        </p:nvSpPr>
        <p:spPr>
          <a:xfrm>
            <a:off x="3630168" y="5669280"/>
            <a:ext cx="2103120" cy="320040"/>
          </a:xfrm>
          <a:prstGeom prst="rect">
            <a:avLst/>
          </a:prstGeom>
          <a:noFill/>
        </p:spPr>
        <p:txBody>
          <a:bodyPr wrap="square" lIns="0" rIns="0" tIns="0" bIns="0" anchor="t">
            <a:spAutoFit/>
          </a:bodyPr>
          <a:lstStyle/>
          <a:p>
            <a:pPr algn="l">
              <a:lnSpc>
                <a:spcPct val="115000"/>
              </a:lnSpc>
            </a:pPr>
            <a:r>
              <a:rPr sz="1100" b="0">
                <a:solidFill>
                  <a:srgbClr val="94A3B8"/>
                </a:solidFill>
                <a:latin typeface="Helvetica Neue"/>
              </a:rPr>
              <a:t>calls CodeAtlas instantly</a:t>
            </a:r>
          </a:p>
        </p:txBody>
      </p:sp>
      <p:sp>
        <p:nvSpPr>
          <p:cNvPr id="26" name="Right Arrow 25"/>
          <p:cNvSpPr/>
          <p:nvPr/>
        </p:nvSpPr>
        <p:spPr>
          <a:xfrm>
            <a:off x="5980176" y="5513832"/>
            <a:ext cx="210312" cy="219456"/>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54496" y="5166360"/>
            <a:ext cx="2468880" cy="914400"/>
          </a:xfrm>
          <a:prstGeom prst="roundRect">
            <a:avLst>
              <a:gd name="adj" fmla="val 6000"/>
            </a:avLst>
          </a:prstGeom>
          <a:solidFill>
            <a:srgbClr val="151E32"/>
          </a:solidFill>
          <a:ln w="12700">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37376" y="5330952"/>
            <a:ext cx="2103120" cy="320040"/>
          </a:xfrm>
          <a:prstGeom prst="rect">
            <a:avLst/>
          </a:prstGeom>
          <a:noFill/>
        </p:spPr>
        <p:txBody>
          <a:bodyPr wrap="square" lIns="0" rIns="0" tIns="0" bIns="0" anchor="t">
            <a:spAutoFit/>
          </a:bodyPr>
          <a:lstStyle/>
          <a:p>
            <a:pPr algn="l">
              <a:lnSpc>
                <a:spcPct val="115000"/>
              </a:lnSpc>
            </a:pPr>
            <a:r>
              <a:rPr sz="1400" b="1">
                <a:solidFill>
                  <a:srgbClr val="818CF8"/>
                </a:solidFill>
                <a:latin typeface="Helvetica Neue"/>
              </a:rPr>
              <a:t>8 AI agents + graph</a:t>
            </a:r>
          </a:p>
        </p:txBody>
      </p:sp>
      <p:sp>
        <p:nvSpPr>
          <p:cNvPr id="29" name="TextBox 28"/>
          <p:cNvSpPr txBox="1"/>
          <p:nvPr/>
        </p:nvSpPr>
        <p:spPr>
          <a:xfrm>
            <a:off x="6437376" y="5669280"/>
            <a:ext cx="2103120" cy="320040"/>
          </a:xfrm>
          <a:prstGeom prst="rect">
            <a:avLst/>
          </a:prstGeom>
          <a:noFill/>
        </p:spPr>
        <p:txBody>
          <a:bodyPr wrap="square" lIns="0" rIns="0" tIns="0" bIns="0" anchor="t">
            <a:spAutoFit/>
          </a:bodyPr>
          <a:lstStyle/>
          <a:p>
            <a:pPr algn="l">
              <a:lnSpc>
                <a:spcPct val="115000"/>
              </a:lnSpc>
            </a:pPr>
            <a:r>
              <a:rPr sz="1100" b="0">
                <a:solidFill>
                  <a:srgbClr val="94A3B8"/>
                </a:solidFill>
                <a:latin typeface="Helvetica Neue"/>
              </a:rPr>
              <a:t>GitHub · KB · LLM reasoning</a:t>
            </a:r>
          </a:p>
        </p:txBody>
      </p:sp>
      <p:sp>
        <p:nvSpPr>
          <p:cNvPr id="30" name="Right Arrow 29"/>
          <p:cNvSpPr/>
          <p:nvPr/>
        </p:nvSpPr>
        <p:spPr>
          <a:xfrm>
            <a:off x="8787384" y="5513832"/>
            <a:ext cx="210312" cy="219456"/>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61704" y="5166360"/>
            <a:ext cx="2468880" cy="914400"/>
          </a:xfrm>
          <a:prstGeom prst="roundRect">
            <a:avLst>
              <a:gd name="adj" fmla="val 6000"/>
            </a:avLst>
          </a:prstGeom>
          <a:solidFill>
            <a:srgbClr val="151E32"/>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44584" y="5330952"/>
            <a:ext cx="2103120" cy="320040"/>
          </a:xfrm>
          <a:prstGeom prst="rect">
            <a:avLst/>
          </a:prstGeom>
          <a:noFill/>
        </p:spPr>
        <p:txBody>
          <a:bodyPr wrap="square" lIns="0" rIns="0" tIns="0" bIns="0" anchor="t">
            <a:spAutoFit/>
          </a:bodyPr>
          <a:lstStyle/>
          <a:p>
            <a:pPr algn="l">
              <a:lnSpc>
                <a:spcPct val="115000"/>
              </a:lnSpc>
            </a:pPr>
            <a:r>
              <a:rPr sz="1400" b="1">
                <a:solidFill>
                  <a:srgbClr val="2DD4BF"/>
                </a:solidFill>
                <a:latin typeface="Helvetica Neue"/>
              </a:rPr>
              <a:t>Written back</a:t>
            </a:r>
          </a:p>
        </p:txBody>
      </p:sp>
      <p:sp>
        <p:nvSpPr>
          <p:cNvPr id="33" name="TextBox 32"/>
          <p:cNvSpPr txBox="1"/>
          <p:nvPr/>
        </p:nvSpPr>
        <p:spPr>
          <a:xfrm>
            <a:off x="9244584" y="5669280"/>
            <a:ext cx="2103120" cy="320040"/>
          </a:xfrm>
          <a:prstGeom prst="rect">
            <a:avLst/>
          </a:prstGeom>
          <a:noFill/>
        </p:spPr>
        <p:txBody>
          <a:bodyPr wrap="square" lIns="0" rIns="0" tIns="0" bIns="0" anchor="t">
            <a:spAutoFit/>
          </a:bodyPr>
          <a:lstStyle/>
          <a:p>
            <a:pPr algn="l">
              <a:lnSpc>
                <a:spcPct val="115000"/>
              </a:lnSpc>
            </a:pPr>
            <a:r>
              <a:rPr sz="1100" b="0">
                <a:solidFill>
                  <a:srgbClr val="94A3B8"/>
                </a:solidFill>
                <a:latin typeface="Helvetica Neue"/>
              </a:rPr>
              <a:t>diagnosis, routing, blast radius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lIns="0" rIns="0" tIns="0" bIns="0" anchor="t">
            <a:spAutoFit/>
          </a:bodyPr>
          <a:lstStyle/>
          <a:p>
            <a:pPr algn="l">
              <a:lnSpc>
                <a:spcPct val="115000"/>
              </a:lnSpc>
            </a:pPr>
            <a:r>
              <a:rPr sz="1200" b="1">
                <a:solidFill>
                  <a:srgbClr val="2DD4BF"/>
                </a:solidFill>
                <a:latin typeface="Helvetica Neue"/>
              </a:rPr>
              <a:t>WHO ELSE SOLVES THIS</a:t>
            </a:r>
          </a:p>
        </p:txBody>
      </p:sp>
      <p:sp>
        <p:nvSpPr>
          <p:cNvPr id="3" name="TextBox 2"/>
          <p:cNvSpPr txBox="1"/>
          <p:nvPr/>
        </p:nvSpPr>
        <p:spPr>
          <a:xfrm>
            <a:off x="640080" y="777240"/>
            <a:ext cx="10972800" cy="822960"/>
          </a:xfrm>
          <a:prstGeom prst="rect">
            <a:avLst/>
          </a:prstGeom>
          <a:noFill/>
        </p:spPr>
        <p:txBody>
          <a:bodyPr wrap="square" lIns="0" rIns="0" tIns="0" bIns="0" anchor="t">
            <a:spAutoFit/>
          </a:bodyPr>
          <a:lstStyle/>
          <a:p>
            <a:pPr algn="l">
              <a:lnSpc>
                <a:spcPct val="115000"/>
              </a:lnSpc>
            </a:pPr>
            <a:r>
              <a:rPr sz="3200" b="1">
                <a:solidFill>
                  <a:srgbClr val="F8FAFC"/>
                </a:solidFill>
                <a:latin typeface="Helvetica Neue"/>
              </a:rPr>
              <a:t>Competitive landscape</a:t>
            </a:r>
          </a:p>
        </p:txBody>
      </p:sp>
      <p:sp>
        <p:nvSpPr>
          <p:cNvPr id="4" name="TextBox 3"/>
          <p:cNvSpPr txBox="1"/>
          <p:nvPr/>
        </p:nvSpPr>
        <p:spPr>
          <a:xfrm>
            <a:off x="9235440" y="6400800"/>
            <a:ext cx="2377440" cy="274320"/>
          </a:xfrm>
          <a:prstGeom prst="rect">
            <a:avLst/>
          </a:prstGeom>
          <a:noFill/>
        </p:spPr>
        <p:txBody>
          <a:bodyPr wrap="square" lIns="0" rIns="0" tIns="0" bIns="0" anchor="t">
            <a:spAutoFit/>
          </a:bodyPr>
          <a:lstStyle/>
          <a:p>
            <a:pPr algn="r">
              <a:lnSpc>
                <a:spcPct val="115000"/>
              </a:lnSpc>
            </a:pPr>
            <a:r>
              <a:rPr sz="1000" b="0">
                <a:solidFill>
                  <a:srgbClr val="94A3B8"/>
                </a:solidFill>
                <a:latin typeface="Helvetica Neue"/>
              </a:rPr>
              <a:t>CodeAtlas AI  ·  4</a:t>
            </a:r>
          </a:p>
        </p:txBody>
      </p:sp>
      <p:graphicFrame>
        <p:nvGraphicFramePr>
          <p:cNvPr id="5" name="Table 4"/>
          <p:cNvGraphicFramePr>
            <a:graphicFrameLocks noGrp="1"/>
          </p:cNvGraphicFramePr>
          <p:nvPr/>
        </p:nvGraphicFramePr>
        <p:xfrm>
          <a:off x="640080" y="1783080"/>
          <a:ext cx="10881360" cy="3108960"/>
        </p:xfrm>
        <a:graphic>
          <a:graphicData uri="http://schemas.openxmlformats.org/drawingml/2006/table">
            <a:tbl>
              <a:tblPr firstRow="1" bandRow="1">
                <a:tableStyleId>{5C22544A-7EE6-4342-B048-85BDC9FD1C3A}</a:tableStyleId>
              </a:tblPr>
              <a:tblGrid>
                <a:gridCol w="3657600"/>
                <a:gridCol w="3017520"/>
                <a:gridCol w="4206240"/>
              </a:tblGrid>
              <a:tr h="621792">
                <a:tc>
                  <a:txBody>
                    <a:bodyPr wrap="square"/>
                    <a:lstStyle/>
                    <a:p>
                      <a:r>
                        <a:rPr sz="1200" b="1">
                          <a:solidFill>
                            <a:srgbClr val="F8FAFC"/>
                          </a:solidFill>
                          <a:latin typeface="Helvetica Neue"/>
                        </a:rPr>
                        <a:t>Alternative</a:t>
                      </a:r>
                    </a:p>
                  </a:txBody>
                  <a:tcPr marL="137160" marR="137160" anchor="ctr">
                    <a:solidFill>
                      <a:srgbClr val="2A3650"/>
                    </a:solidFill>
                  </a:tcPr>
                </a:tc>
                <a:tc>
                  <a:txBody>
                    <a:bodyPr wrap="square"/>
                    <a:lstStyle/>
                    <a:p>
                      <a:r>
                        <a:rPr sz="1200" b="1">
                          <a:solidFill>
                            <a:srgbClr val="F8FAFC"/>
                          </a:solidFill>
                          <a:latin typeface="Helvetica Neue"/>
                        </a:rPr>
                        <a:t>Strength</a:t>
                      </a:r>
                    </a:p>
                  </a:txBody>
                  <a:tcPr marL="137160" marR="137160" anchor="ctr">
                    <a:solidFill>
                      <a:srgbClr val="2A3650"/>
                    </a:solidFill>
                  </a:tcPr>
                </a:tc>
                <a:tc>
                  <a:txBody>
                    <a:bodyPr wrap="square"/>
                    <a:lstStyle/>
                    <a:p>
                      <a:r>
                        <a:rPr sz="1200" b="1">
                          <a:solidFill>
                            <a:srgbClr val="F8FAFC"/>
                          </a:solidFill>
                          <a:latin typeface="Helvetica Neue"/>
                        </a:rPr>
                        <a:t>Gap</a:t>
                      </a:r>
                    </a:p>
                  </a:txBody>
                  <a:tcPr marL="137160" marR="137160" anchor="ctr">
                    <a:solidFill>
                      <a:srgbClr val="2A3650"/>
                    </a:solidFill>
                  </a:tcPr>
                </a:tc>
              </a:tr>
              <a:tr h="621792">
                <a:tc>
                  <a:txBody>
                    <a:bodyPr wrap="square"/>
                    <a:lstStyle/>
                    <a:p>
                      <a:r>
                        <a:rPr sz="1300" b="1">
                          <a:solidFill>
                            <a:srgbClr val="F8FAFC"/>
                          </a:solidFill>
                          <a:latin typeface="Helvetica Neue"/>
                        </a:rPr>
                        <a:t>ServiceNow (CMDB + Now Assist)</a:t>
                      </a:r>
                    </a:p>
                  </a:txBody>
                  <a:tcPr marL="137160" marR="137160" anchor="ctr">
                    <a:solidFill>
                      <a:srgbClr val="151E32"/>
                    </a:solidFill>
                  </a:tcPr>
                </a:tc>
                <a:tc>
                  <a:txBody>
                    <a:bodyPr wrap="square"/>
                    <a:lstStyle/>
                    <a:p>
                      <a:r>
                        <a:rPr sz="1300" b="0">
                          <a:solidFill>
                            <a:srgbClr val="94A3B8"/>
                          </a:solidFill>
                          <a:latin typeface="Helvetica Neue"/>
                        </a:rPr>
                        <a:t>Deep ITSM + CMDB suite</a:t>
                      </a:r>
                    </a:p>
                  </a:txBody>
                  <a:tcPr marL="137160" marR="137160" anchor="ctr">
                    <a:solidFill>
                      <a:srgbClr val="151E32"/>
                    </a:solidFill>
                  </a:tcPr>
                </a:tc>
                <a:tc>
                  <a:txBody>
                    <a:bodyPr wrap="square"/>
                    <a:lstStyle/>
                    <a:p>
                      <a:r>
                        <a:rPr sz="1300" b="0">
                          <a:solidFill>
                            <a:srgbClr val="94A3B8"/>
                          </a:solidFill>
                          <a:latin typeface="Helvetica Neue"/>
                        </a:rPr>
                        <a:t>Heavy, costly, long rollout; CMDB needs manual upkeep</a:t>
                      </a:r>
                    </a:p>
                  </a:txBody>
                  <a:tcPr marL="137160" marR="137160" anchor="ctr">
                    <a:solidFill>
                      <a:srgbClr val="151E32"/>
                    </a:solidFill>
                  </a:tcPr>
                </a:tc>
              </a:tr>
              <a:tr h="621792">
                <a:tc>
                  <a:txBody>
                    <a:bodyPr wrap="square"/>
                    <a:lstStyle/>
                    <a:p>
                      <a:r>
                        <a:rPr sz="1300" b="1">
                          <a:solidFill>
                            <a:srgbClr val="F8FAFC"/>
                          </a:solidFill>
                          <a:latin typeface="Helvetica Neue"/>
                        </a:rPr>
                        <a:t>Developer portals (Backstage, Compass)</a:t>
                      </a:r>
                    </a:p>
                  </a:txBody>
                  <a:tcPr marL="137160" marR="137160" anchor="ctr">
                    <a:solidFill>
                      <a:srgbClr val="151E32"/>
                    </a:solidFill>
                  </a:tcPr>
                </a:tc>
                <a:tc>
                  <a:txBody>
                    <a:bodyPr wrap="square"/>
                    <a:lstStyle/>
                    <a:p>
                      <a:r>
                        <a:rPr sz="1300" b="0">
                          <a:solidFill>
                            <a:srgbClr val="94A3B8"/>
                          </a:solidFill>
                          <a:latin typeface="Helvetica Neue"/>
                        </a:rPr>
                        <a:t>Service catalogue &amp; ownership</a:t>
                      </a:r>
                    </a:p>
                  </a:txBody>
                  <a:tcPr marL="137160" marR="137160" anchor="ctr">
                    <a:solidFill>
                      <a:srgbClr val="151E32"/>
                    </a:solidFill>
                  </a:tcPr>
                </a:tc>
                <a:tc>
                  <a:txBody>
                    <a:bodyPr wrap="square"/>
                    <a:lstStyle/>
                    <a:p>
                      <a:r>
                        <a:rPr sz="1300" b="0">
                          <a:solidFill>
                            <a:srgbClr val="94A3B8"/>
                          </a:solidFill>
                          <a:latin typeface="Helvetica Neue"/>
                        </a:rPr>
                        <a:t>Not connected to live ITSM incidents; no diagnosis</a:t>
                      </a:r>
                    </a:p>
                  </a:txBody>
                  <a:tcPr marL="137160" marR="137160" anchor="ctr">
                    <a:solidFill>
                      <a:srgbClr val="151E32"/>
                    </a:solidFill>
                  </a:tcPr>
                </a:tc>
              </a:tr>
              <a:tr h="621792">
                <a:tc>
                  <a:txBody>
                    <a:bodyPr wrap="square"/>
                    <a:lstStyle/>
                    <a:p>
                      <a:r>
                        <a:rPr sz="1300" b="1">
                          <a:solidFill>
                            <a:srgbClr val="F8FAFC"/>
                          </a:solidFill>
                          <a:latin typeface="Helvetica Neue"/>
                        </a:rPr>
                        <a:t>Built-in helpdesk AI copilots</a:t>
                      </a:r>
                    </a:p>
                  </a:txBody>
                  <a:tcPr marL="137160" marR="137160" anchor="ctr">
                    <a:solidFill>
                      <a:srgbClr val="151E32"/>
                    </a:solidFill>
                  </a:tcPr>
                </a:tc>
                <a:tc>
                  <a:txBody>
                    <a:bodyPr wrap="square"/>
                    <a:lstStyle/>
                    <a:p>
                      <a:r>
                        <a:rPr sz="1300" b="0">
                          <a:solidFill>
                            <a:srgbClr val="94A3B8"/>
                          </a:solidFill>
                          <a:latin typeface="Helvetica Neue"/>
                        </a:rPr>
                        <a:t>Summarise / reply within a ticket</a:t>
                      </a:r>
                    </a:p>
                  </a:txBody>
                  <a:tcPr marL="137160" marR="137160" anchor="ctr">
                    <a:solidFill>
                      <a:srgbClr val="151E32"/>
                    </a:solidFill>
                  </a:tcPr>
                </a:tc>
                <a:tc>
                  <a:txBody>
                    <a:bodyPr wrap="square"/>
                    <a:lstStyle/>
                    <a:p>
                      <a:r>
                        <a:rPr sz="1300" b="0">
                          <a:solidFill>
                            <a:srgbClr val="94A3B8"/>
                          </a:solidFill>
                          <a:latin typeface="Helvetica Neue"/>
                        </a:rPr>
                        <a:t>Sees only ticket text: no dependencies, owners, blast radius</a:t>
                      </a:r>
                    </a:p>
                  </a:txBody>
                  <a:tcPr marL="137160" marR="137160" anchor="ctr">
                    <a:solidFill>
                      <a:srgbClr val="151E32"/>
                    </a:solidFill>
                  </a:tcPr>
                </a:tc>
              </a:tr>
              <a:tr h="621792">
                <a:tc>
                  <a:txBody>
                    <a:bodyPr wrap="square"/>
                    <a:lstStyle/>
                    <a:p>
                      <a:r>
                        <a:rPr sz="1300" b="1">
                          <a:solidFill>
                            <a:srgbClr val="F8FAFC"/>
                          </a:solidFill>
                          <a:latin typeface="Helvetica Neue"/>
                        </a:rPr>
                        <a:t>Do nothing (Slack, wikis, "ask Alex")</a:t>
                      </a:r>
                    </a:p>
                  </a:txBody>
                  <a:tcPr marL="137160" marR="137160" anchor="ctr">
                    <a:solidFill>
                      <a:srgbClr val="151E32"/>
                    </a:solidFill>
                  </a:tcPr>
                </a:tc>
                <a:tc>
                  <a:txBody>
                    <a:bodyPr wrap="square"/>
                    <a:lstStyle/>
                    <a:p>
                      <a:r>
                        <a:rPr sz="1300" b="0">
                          <a:solidFill>
                            <a:srgbClr val="94A3B8"/>
                          </a:solidFill>
                          <a:latin typeface="Helvetica Neue"/>
                        </a:rPr>
                        <a:t>Free, familiar</a:t>
                      </a:r>
                    </a:p>
                  </a:txBody>
                  <a:tcPr marL="137160" marR="137160" anchor="ctr">
                    <a:solidFill>
                      <a:srgbClr val="151E32"/>
                    </a:solidFill>
                  </a:tcPr>
                </a:tc>
                <a:tc>
                  <a:txBody>
                    <a:bodyPr wrap="square"/>
                    <a:lstStyle/>
                    <a:p>
                      <a:r>
                        <a:rPr sz="1300" b="0">
                          <a:solidFill>
                            <a:srgbClr val="94A3B8"/>
                          </a:solidFill>
                          <a:latin typeface="Helvetica Neue"/>
                        </a:rPr>
                        <a:t>Slow, inconsistent, depends on a few people</a:t>
                      </a:r>
                    </a:p>
                  </a:txBody>
                  <a:tcPr marL="137160" marR="137160" anchor="ctr">
                    <a:solidFill>
                      <a:srgbClr val="151E32"/>
                    </a:solidFill>
                  </a:tcPr>
                </a:tc>
              </a:tr>
            </a:tbl>
          </a:graphicData>
        </a:graphic>
      </p:graphicFrame>
      <p:sp>
        <p:nvSpPr>
          <p:cNvPr id="6" name="Rounded Rectangle 5"/>
          <p:cNvSpPr/>
          <p:nvPr/>
        </p:nvSpPr>
        <p:spPr>
          <a:xfrm>
            <a:off x="640080" y="5166360"/>
            <a:ext cx="10881360" cy="960120"/>
          </a:xfrm>
          <a:prstGeom prst="roundRect">
            <a:avLst>
              <a:gd name="adj" fmla="val 6000"/>
            </a:avLst>
          </a:prstGeom>
          <a:solidFill>
            <a:srgbClr val="0F2A2E"/>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303520"/>
            <a:ext cx="10424160" cy="731520"/>
          </a:xfrm>
          <a:prstGeom prst="rect">
            <a:avLst/>
          </a:prstGeom>
          <a:noFill/>
        </p:spPr>
        <p:txBody>
          <a:bodyPr wrap="square" lIns="0" rIns="0" tIns="0" bIns="0" anchor="ctr">
            <a:spAutoFit/>
          </a:bodyPr>
          <a:lstStyle/>
          <a:p>
            <a:pPr algn="l">
              <a:lnSpc>
                <a:spcPct val="115000"/>
              </a:lnSpc>
            </a:pPr>
            <a:r>
              <a:rPr sz="1600" b="1">
                <a:solidFill>
                  <a:srgbClr val="2DD4BF"/>
                </a:solidFill>
                <a:latin typeface="Helvetica Neue"/>
              </a:rPr>
              <a:t>Our edge  </a:t>
            </a:r>
            <a:r>
              <a:rPr sz="1600" b="0">
                <a:solidFill>
                  <a:srgbClr val="F8FAFC"/>
                </a:solidFill>
                <a:latin typeface="Helvetica Neue"/>
              </a:rPr>
              <a:t>A living graph of the engineering system, plus agents that act inside Freshservice. Every new ticket gets a diagnosis note automatically, without leaving the service desk.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lIns="0" rIns="0" tIns="0" bIns="0" anchor="t">
            <a:spAutoFit/>
          </a:bodyPr>
          <a:lstStyle/>
          <a:p>
            <a:pPr algn="l">
              <a:lnSpc>
                <a:spcPct val="115000"/>
              </a:lnSpc>
            </a:pPr>
            <a:r>
              <a:rPr sz="1200" b="1">
                <a:solidFill>
                  <a:srgbClr val="2DD4BF"/>
                </a:solidFill>
                <a:latin typeface="Helvetica Neue"/>
              </a:rPr>
              <a:t>PROPOSED SOLUTION</a:t>
            </a:r>
          </a:p>
        </p:txBody>
      </p:sp>
      <p:sp>
        <p:nvSpPr>
          <p:cNvPr id="3" name="TextBox 2"/>
          <p:cNvSpPr txBox="1"/>
          <p:nvPr/>
        </p:nvSpPr>
        <p:spPr>
          <a:xfrm>
            <a:off x="640080" y="777240"/>
            <a:ext cx="10972800" cy="822960"/>
          </a:xfrm>
          <a:prstGeom prst="rect">
            <a:avLst/>
          </a:prstGeom>
          <a:noFill/>
        </p:spPr>
        <p:txBody>
          <a:bodyPr wrap="square" lIns="0" rIns="0" tIns="0" bIns="0" anchor="t">
            <a:spAutoFit/>
          </a:bodyPr>
          <a:lstStyle/>
          <a:p>
            <a:pPr algn="l">
              <a:lnSpc>
                <a:spcPct val="115000"/>
              </a:lnSpc>
            </a:pPr>
            <a:r>
              <a:rPr sz="3200" b="1">
                <a:solidFill>
                  <a:srgbClr val="F8FAFC"/>
                </a:solidFill>
                <a:latin typeface="Helvetica Neue"/>
              </a:rPr>
              <a:t>How it works</a:t>
            </a:r>
          </a:p>
        </p:txBody>
      </p:sp>
      <p:sp>
        <p:nvSpPr>
          <p:cNvPr id="4" name="TextBox 3"/>
          <p:cNvSpPr txBox="1"/>
          <p:nvPr/>
        </p:nvSpPr>
        <p:spPr>
          <a:xfrm>
            <a:off x="9235440" y="6400800"/>
            <a:ext cx="2377440" cy="274320"/>
          </a:xfrm>
          <a:prstGeom prst="rect">
            <a:avLst/>
          </a:prstGeom>
          <a:noFill/>
        </p:spPr>
        <p:txBody>
          <a:bodyPr wrap="square" lIns="0" rIns="0" tIns="0" bIns="0" anchor="t">
            <a:spAutoFit/>
          </a:bodyPr>
          <a:lstStyle/>
          <a:p>
            <a:pPr algn="r">
              <a:lnSpc>
                <a:spcPct val="115000"/>
              </a:lnSpc>
            </a:pPr>
            <a:r>
              <a:rPr sz="1000" b="0">
                <a:solidFill>
                  <a:srgbClr val="94A3B8"/>
                </a:solidFill>
                <a:latin typeface="Helvetica Neue"/>
              </a:rPr>
              <a:t>CodeAtlas AI  ·  5</a:t>
            </a:r>
          </a:p>
        </p:txBody>
      </p:sp>
      <p:sp>
        <p:nvSpPr>
          <p:cNvPr id="5" name="Rounded Rectangle 4"/>
          <p:cNvSpPr/>
          <p:nvPr/>
        </p:nvSpPr>
        <p:spPr>
          <a:xfrm>
            <a:off x="640080" y="1828800"/>
            <a:ext cx="2514600" cy="3017520"/>
          </a:xfrm>
          <a:prstGeom prst="roundRect">
            <a:avLst>
              <a:gd name="adj" fmla="val 6000"/>
            </a:avLst>
          </a:prstGeom>
          <a:solidFill>
            <a:srgbClr val="151E32"/>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57400"/>
            <a:ext cx="2057400" cy="685800"/>
          </a:xfrm>
          <a:prstGeom prst="rect">
            <a:avLst/>
          </a:prstGeom>
          <a:noFill/>
        </p:spPr>
        <p:txBody>
          <a:bodyPr wrap="square" lIns="0" rIns="0" tIns="0" bIns="0" anchor="t">
            <a:spAutoFit/>
          </a:bodyPr>
          <a:lstStyle/>
          <a:p>
            <a:pPr algn="l">
              <a:lnSpc>
                <a:spcPct val="115000"/>
              </a:lnSpc>
            </a:pPr>
            <a:r>
              <a:rPr sz="1700" b="1">
                <a:solidFill>
                  <a:srgbClr val="2DD4BF"/>
                </a:solidFill>
                <a:latin typeface="Helvetica Neue"/>
              </a:rPr>
              <a:t>Sources</a:t>
            </a:r>
          </a:p>
        </p:txBody>
      </p:sp>
      <p:sp>
        <p:nvSpPr>
          <p:cNvPr id="7" name="TextBox 6"/>
          <p:cNvSpPr txBox="1"/>
          <p:nvPr/>
        </p:nvSpPr>
        <p:spPr>
          <a:xfrm>
            <a:off x="868680" y="2834640"/>
            <a:ext cx="2057400" cy="1874520"/>
          </a:xfrm>
          <a:prstGeom prst="rect">
            <a:avLst/>
          </a:prstGeom>
          <a:noFill/>
        </p:spPr>
        <p:txBody>
          <a:bodyPr wrap="square" lIns="0" rIns="0" tIns="0" bIns="0" anchor="t">
            <a:spAutoFit/>
          </a:bodyPr>
          <a:lstStyle/>
          <a:p>
            <a:pPr algn="l">
              <a:lnSpc>
                <a:spcPct val="110000"/>
              </a:lnSpc>
              <a:spcAft>
                <a:spcPts val="800"/>
              </a:spcAft>
            </a:pPr>
            <a:r>
              <a:rPr sz="1300" b="0">
                <a:solidFill>
                  <a:srgbClr val="F8FAFC"/>
                </a:solidFill>
                <a:latin typeface="Helvetica Neue"/>
              </a:rPr>
              <a:t>Freshservice tickets, groups, KB  (live)</a:t>
            </a:r>
          </a:p>
          <a:p>
            <a:pPr algn="l">
              <a:lnSpc>
                <a:spcPct val="110000"/>
              </a:lnSpc>
              <a:spcAft>
                <a:spcPts val="800"/>
              </a:spcAft>
            </a:pPr>
            <a:r>
              <a:rPr sz="1300" b="0">
                <a:solidFill>
                  <a:srgbClr val="F8FAFC"/>
                </a:solidFill>
                <a:latin typeface="Helvetica Neue"/>
              </a:rPr>
              <a:t>GitHub repos &amp; ZIP / Excel intake</a:t>
            </a:r>
          </a:p>
          <a:p>
            <a:pPr algn="l">
              <a:lnSpc>
                <a:spcPct val="110000"/>
              </a:lnSpc>
            </a:pPr>
            <a:r>
              <a:rPr sz="1300" b="0">
                <a:solidFill>
                  <a:srgbClr val="F8FAFC"/>
                </a:solidFill>
                <a:latin typeface="Helvetica Neue"/>
              </a:rPr>
              <a:t>Jira · Confluence · Slack  (Phase 2)</a:t>
            </a:r>
          </a:p>
        </p:txBody>
      </p:sp>
      <p:sp>
        <p:nvSpPr>
          <p:cNvPr id="8" name="Right Arrow 7"/>
          <p:cNvSpPr/>
          <p:nvPr/>
        </p:nvSpPr>
        <p:spPr>
          <a:xfrm>
            <a:off x="3182112" y="3200400"/>
            <a:ext cx="219456"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29000" y="1828800"/>
            <a:ext cx="2514600" cy="3017520"/>
          </a:xfrm>
          <a:prstGeom prst="roundRect">
            <a:avLst>
              <a:gd name="adj" fmla="val 6000"/>
            </a:avLst>
          </a:prstGeom>
          <a:solidFill>
            <a:srgbClr val="151E32"/>
          </a:solidFill>
          <a:ln w="12700">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2057400"/>
            <a:ext cx="2057400" cy="685800"/>
          </a:xfrm>
          <a:prstGeom prst="rect">
            <a:avLst/>
          </a:prstGeom>
          <a:noFill/>
        </p:spPr>
        <p:txBody>
          <a:bodyPr wrap="square" lIns="0" rIns="0" tIns="0" bIns="0" anchor="t">
            <a:spAutoFit/>
          </a:bodyPr>
          <a:lstStyle/>
          <a:p>
            <a:pPr algn="l">
              <a:lnSpc>
                <a:spcPct val="115000"/>
              </a:lnSpc>
            </a:pPr>
            <a:r>
              <a:rPr sz="1700" b="1">
                <a:solidFill>
                  <a:srgbClr val="818CF8"/>
                </a:solidFill>
                <a:latin typeface="Helvetica Neue"/>
              </a:rPr>
              <a:t>Living ontology</a:t>
            </a:r>
          </a:p>
        </p:txBody>
      </p:sp>
      <p:sp>
        <p:nvSpPr>
          <p:cNvPr id="11" name="TextBox 10"/>
          <p:cNvSpPr txBox="1"/>
          <p:nvPr/>
        </p:nvSpPr>
        <p:spPr>
          <a:xfrm>
            <a:off x="3657600" y="2834640"/>
            <a:ext cx="2057400" cy="1874520"/>
          </a:xfrm>
          <a:prstGeom prst="rect">
            <a:avLst/>
          </a:prstGeom>
          <a:noFill/>
        </p:spPr>
        <p:txBody>
          <a:bodyPr wrap="square" lIns="0" rIns="0" tIns="0" bIns="0" anchor="t">
            <a:spAutoFit/>
          </a:bodyPr>
          <a:lstStyle/>
          <a:p>
            <a:pPr algn="l">
              <a:lnSpc>
                <a:spcPct val="110000"/>
              </a:lnSpc>
              <a:spcAft>
                <a:spcPts val="800"/>
              </a:spcAft>
            </a:pPr>
            <a:r>
              <a:rPr sz="1300" b="0">
                <a:solidFill>
                  <a:srgbClr val="F8FAFC"/>
                </a:solidFill>
                <a:latin typeface="Helvetica Neue"/>
              </a:rPr>
              <a:t>Neo4j knowledge graph</a:t>
            </a:r>
          </a:p>
          <a:p>
            <a:pPr algn="l">
              <a:lnSpc>
                <a:spcPct val="110000"/>
              </a:lnSpc>
              <a:spcAft>
                <a:spcPts val="800"/>
              </a:spcAft>
            </a:pPr>
            <a:r>
              <a:rPr sz="1300" b="0">
                <a:solidFill>
                  <a:srgbClr val="F8FAFC"/>
                </a:solidFill>
                <a:latin typeface="Helvetica Neue"/>
              </a:rPr>
              <a:t>Services · Teams · Owners · APIs · Incidents · Runbooks</a:t>
            </a:r>
          </a:p>
          <a:p>
            <a:pPr algn="l">
              <a:lnSpc>
                <a:spcPct val="110000"/>
              </a:lnSpc>
            </a:pPr>
            <a:r>
              <a:rPr sz="1300" b="0">
                <a:solidFill>
                  <a:srgbClr val="F8FAFC"/>
                </a:solidFill>
                <a:latin typeface="Helvetica Neue"/>
              </a:rPr>
              <a:t>Vector store for semantic search</a:t>
            </a:r>
          </a:p>
        </p:txBody>
      </p:sp>
      <p:sp>
        <p:nvSpPr>
          <p:cNvPr id="12" name="Right Arrow 11"/>
          <p:cNvSpPr/>
          <p:nvPr/>
        </p:nvSpPr>
        <p:spPr>
          <a:xfrm>
            <a:off x="5971032" y="3200400"/>
            <a:ext cx="219456"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828800"/>
            <a:ext cx="2514600" cy="3017520"/>
          </a:xfrm>
          <a:prstGeom prst="roundRect">
            <a:avLst>
              <a:gd name="adj" fmla="val 6000"/>
            </a:avLst>
          </a:prstGeom>
          <a:solidFill>
            <a:srgbClr val="151E32"/>
          </a:solidFill>
          <a:ln w="12700">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057400"/>
            <a:ext cx="2057400" cy="685800"/>
          </a:xfrm>
          <a:prstGeom prst="rect">
            <a:avLst/>
          </a:prstGeom>
          <a:noFill/>
        </p:spPr>
        <p:txBody>
          <a:bodyPr wrap="square" lIns="0" rIns="0" tIns="0" bIns="0" anchor="t">
            <a:spAutoFit/>
          </a:bodyPr>
          <a:lstStyle/>
          <a:p>
            <a:pPr algn="l">
              <a:lnSpc>
                <a:spcPct val="115000"/>
              </a:lnSpc>
            </a:pPr>
            <a:r>
              <a:rPr sz="1700" b="1">
                <a:solidFill>
                  <a:srgbClr val="818CF8"/>
                </a:solidFill>
                <a:latin typeface="Helvetica Neue"/>
              </a:rPr>
              <a:t>8 AI agents</a:t>
            </a:r>
          </a:p>
        </p:txBody>
      </p:sp>
      <p:sp>
        <p:nvSpPr>
          <p:cNvPr id="15" name="TextBox 14"/>
          <p:cNvSpPr txBox="1"/>
          <p:nvPr/>
        </p:nvSpPr>
        <p:spPr>
          <a:xfrm>
            <a:off x="6446520" y="2834640"/>
            <a:ext cx="2057400" cy="1874520"/>
          </a:xfrm>
          <a:prstGeom prst="rect">
            <a:avLst/>
          </a:prstGeom>
          <a:noFill/>
        </p:spPr>
        <p:txBody>
          <a:bodyPr wrap="square" lIns="0" rIns="0" tIns="0" bIns="0" anchor="t">
            <a:spAutoFit/>
          </a:bodyPr>
          <a:lstStyle/>
          <a:p>
            <a:pPr algn="l">
              <a:lnSpc>
                <a:spcPct val="110000"/>
              </a:lnSpc>
              <a:spcAft>
                <a:spcPts val="800"/>
              </a:spcAft>
            </a:pPr>
            <a:r>
              <a:rPr sz="1300" b="0">
                <a:solidFill>
                  <a:srgbClr val="F8FAFC"/>
                </a:solidFill>
                <a:latin typeface="Helvetica Neue"/>
              </a:rPr>
              <a:t>Incident Context · Requirement Impact</a:t>
            </a:r>
          </a:p>
          <a:p>
            <a:pPr algn="l">
              <a:lnSpc>
                <a:spcPct val="110000"/>
              </a:lnSpc>
              <a:spcAft>
                <a:spcPts val="800"/>
              </a:spcAft>
            </a:pPr>
            <a:r>
              <a:rPr sz="1300" b="0">
                <a:solidFill>
                  <a:srgbClr val="F8FAFC"/>
                </a:solidFill>
                <a:latin typeface="Helvetica Neue"/>
              </a:rPr>
              <a:t>Expert Discovery · Blast Radius</a:t>
            </a:r>
          </a:p>
          <a:p>
            <a:pPr algn="l">
              <a:lnSpc>
                <a:spcPct val="110000"/>
              </a:lnSpc>
            </a:pPr>
            <a:r>
              <a:rPr sz="1300" b="0">
                <a:solidFill>
                  <a:srgbClr val="F8FAFC"/>
                </a:solidFill>
                <a:latin typeface="Helvetica Neue"/>
              </a:rPr>
              <a:t>Ontology Mentor · Storyteller · Gaps · Doc Q&amp;A</a:t>
            </a:r>
          </a:p>
        </p:txBody>
      </p:sp>
      <p:sp>
        <p:nvSpPr>
          <p:cNvPr id="16" name="Right Arrow 15"/>
          <p:cNvSpPr/>
          <p:nvPr/>
        </p:nvSpPr>
        <p:spPr>
          <a:xfrm>
            <a:off x="8759952" y="3200400"/>
            <a:ext cx="219456"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006840" y="1828800"/>
            <a:ext cx="2514600" cy="3017520"/>
          </a:xfrm>
          <a:prstGeom prst="roundRect">
            <a:avLst>
              <a:gd name="adj" fmla="val 6000"/>
            </a:avLst>
          </a:prstGeom>
          <a:solidFill>
            <a:srgbClr val="151E32"/>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0" y="2057400"/>
            <a:ext cx="2057400" cy="685800"/>
          </a:xfrm>
          <a:prstGeom prst="rect">
            <a:avLst/>
          </a:prstGeom>
          <a:noFill/>
        </p:spPr>
        <p:txBody>
          <a:bodyPr wrap="square" lIns="0" rIns="0" tIns="0" bIns="0" anchor="t">
            <a:spAutoFit/>
          </a:bodyPr>
          <a:lstStyle/>
          <a:p>
            <a:pPr algn="l">
              <a:lnSpc>
                <a:spcPct val="115000"/>
              </a:lnSpc>
            </a:pPr>
            <a:r>
              <a:rPr sz="1700" b="1">
                <a:solidFill>
                  <a:srgbClr val="2DD4BF"/>
                </a:solidFill>
                <a:latin typeface="Helvetica Neue"/>
              </a:rPr>
              <a:t>Back in Freshservice</a:t>
            </a:r>
          </a:p>
        </p:txBody>
      </p:sp>
      <p:sp>
        <p:nvSpPr>
          <p:cNvPr id="19" name="TextBox 18"/>
          <p:cNvSpPr txBox="1"/>
          <p:nvPr/>
        </p:nvSpPr>
        <p:spPr>
          <a:xfrm>
            <a:off x="9235440" y="2834640"/>
            <a:ext cx="2057400" cy="1874520"/>
          </a:xfrm>
          <a:prstGeom prst="rect">
            <a:avLst/>
          </a:prstGeom>
          <a:noFill/>
        </p:spPr>
        <p:txBody>
          <a:bodyPr wrap="square" lIns="0" rIns="0" tIns="0" bIns="0" anchor="t">
            <a:spAutoFit/>
          </a:bodyPr>
          <a:lstStyle/>
          <a:p>
            <a:pPr algn="l">
              <a:lnSpc>
                <a:spcPct val="110000"/>
              </a:lnSpc>
              <a:spcAft>
                <a:spcPts val="800"/>
              </a:spcAft>
            </a:pPr>
            <a:r>
              <a:rPr sz="1300" b="0">
                <a:solidFill>
                  <a:srgbClr val="F8FAFC"/>
                </a:solidFill>
                <a:latin typeface="Helvetica Neue"/>
              </a:rPr>
              <a:t>Private diagnosis note + auto-routing to the right group</a:t>
            </a:r>
          </a:p>
          <a:p>
            <a:pPr algn="l">
              <a:lnSpc>
                <a:spcPct val="110000"/>
              </a:lnSpc>
              <a:spcAft>
                <a:spcPts val="800"/>
              </a:spcAft>
            </a:pPr>
            <a:r>
              <a:rPr sz="1300" b="0">
                <a:solidFill>
                  <a:srgbClr val="F8FAFC"/>
                </a:solidFill>
                <a:latin typeface="Helvetica Neue"/>
              </a:rPr>
              <a:t>Blast-radius note on every new Change</a:t>
            </a:r>
          </a:p>
          <a:p>
            <a:pPr algn="l">
              <a:lnSpc>
                <a:spcPct val="110000"/>
              </a:lnSpc>
              <a:spcAft>
                <a:spcPts val="800"/>
              </a:spcAft>
            </a:pPr>
            <a:r>
              <a:rPr sz="1300" b="0">
                <a:solidFill>
                  <a:srgbClr val="F8FAFC"/>
                </a:solidFill>
                <a:latin typeface="Helvetica Neue"/>
              </a:rPr>
              <a:t>Auto-triggered by Workflow Automator</a:t>
            </a:r>
          </a:p>
          <a:p>
            <a:pPr algn="l">
              <a:lnSpc>
                <a:spcPct val="110000"/>
              </a:lnSpc>
            </a:pPr>
            <a:r>
              <a:rPr sz="1300" b="0">
                <a:solidFill>
                  <a:srgbClr val="F8FAFC"/>
                </a:solidFill>
                <a:latin typeface="Helvetica Neue"/>
              </a:rPr>
              <a:t>Explainable: trace + sources</a:t>
            </a:r>
          </a:p>
        </p:txBody>
      </p:sp>
      <p:sp>
        <p:nvSpPr>
          <p:cNvPr id="20" name="TextBox 19"/>
          <p:cNvSpPr txBox="1"/>
          <p:nvPr/>
        </p:nvSpPr>
        <p:spPr>
          <a:xfrm>
            <a:off x="640080" y="5120640"/>
            <a:ext cx="10881360" cy="457200"/>
          </a:xfrm>
          <a:prstGeom prst="rect">
            <a:avLst/>
          </a:prstGeom>
          <a:noFill/>
        </p:spPr>
        <p:txBody>
          <a:bodyPr wrap="square" lIns="0" rIns="0" tIns="0" bIns="0" anchor="t">
            <a:spAutoFit/>
          </a:bodyPr>
          <a:lstStyle/>
          <a:p>
            <a:pPr algn="l">
              <a:lnSpc>
                <a:spcPct val="115000"/>
              </a:lnSpc>
            </a:pPr>
            <a:r>
              <a:rPr sz="1500" b="1">
                <a:solidFill>
                  <a:srgbClr val="F8FAFC"/>
                </a:solidFill>
                <a:latin typeface="Helvetica Neue"/>
              </a:rPr>
              <a:t>Hybrid intelligence: </a:t>
            </a:r>
            <a:r>
              <a:rPr sz="1500" b="0">
                <a:solidFill>
                  <a:srgbClr val="94A3B8"/>
                </a:solidFill>
                <a:latin typeface="Helvetica Neue"/>
              </a:rPr>
              <a:t>graph traversal + semantic search + LLM reasoning, with a rule-based fallback when no LLM is available.</a:t>
            </a:r>
          </a:p>
        </p:txBody>
      </p:sp>
      <p:sp>
        <p:nvSpPr>
          <p:cNvPr id="21" name="TextBox 20"/>
          <p:cNvSpPr txBox="1"/>
          <p:nvPr/>
        </p:nvSpPr>
        <p:spPr>
          <a:xfrm>
            <a:off x="640080" y="5623560"/>
            <a:ext cx="10881360" cy="457200"/>
          </a:xfrm>
          <a:prstGeom prst="rect">
            <a:avLst/>
          </a:prstGeom>
          <a:noFill/>
        </p:spPr>
        <p:txBody>
          <a:bodyPr wrap="square" lIns="0" rIns="0" tIns="0" bIns="0" anchor="t">
            <a:spAutoFit/>
          </a:bodyPr>
          <a:lstStyle/>
          <a:p>
            <a:pPr algn="l">
              <a:lnSpc>
                <a:spcPct val="115000"/>
              </a:lnSpc>
            </a:pPr>
            <a:r>
              <a:rPr sz="1400" b="1">
                <a:solidFill>
                  <a:srgbClr val="2DD4BF"/>
                </a:solidFill>
                <a:latin typeface="Helvetica Neue"/>
              </a:rPr>
              <a:t>MVP: </a:t>
            </a:r>
            <a:r>
              <a:rPr sz="1400" b="0">
                <a:solidFill>
                  <a:srgbClr val="94A3B8"/>
                </a:solidFill>
                <a:latin typeface="Helvetica Neue"/>
              </a:rPr>
              <a:t>incidents → graph → auto-diagnosis · impact analysis · expert finder · blast radius · knowledge gaps · graph explorer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lIns="0" rIns="0" tIns="0" bIns="0" anchor="t">
            <a:spAutoFit/>
          </a:bodyPr>
          <a:lstStyle/>
          <a:p>
            <a:pPr algn="l">
              <a:lnSpc>
                <a:spcPct val="115000"/>
              </a:lnSpc>
            </a:pPr>
            <a:r>
              <a:rPr sz="1200" b="1">
                <a:solidFill>
                  <a:srgbClr val="2DD4BF"/>
                </a:solidFill>
                <a:latin typeface="Helvetica Neue"/>
              </a:rPr>
              <a:t>HOW THE PIECES CONNECT</a:t>
            </a:r>
          </a:p>
        </p:txBody>
      </p:sp>
      <p:sp>
        <p:nvSpPr>
          <p:cNvPr id="3" name="TextBox 2"/>
          <p:cNvSpPr txBox="1"/>
          <p:nvPr/>
        </p:nvSpPr>
        <p:spPr>
          <a:xfrm>
            <a:off x="640080" y="777240"/>
            <a:ext cx="10972800" cy="822960"/>
          </a:xfrm>
          <a:prstGeom prst="rect">
            <a:avLst/>
          </a:prstGeom>
          <a:noFill/>
        </p:spPr>
        <p:txBody>
          <a:bodyPr wrap="square" lIns="0" rIns="0" tIns="0" bIns="0" anchor="t">
            <a:spAutoFit/>
          </a:bodyPr>
          <a:lstStyle/>
          <a:p>
            <a:pPr algn="l">
              <a:lnSpc>
                <a:spcPct val="115000"/>
              </a:lnSpc>
            </a:pPr>
            <a:r>
              <a:rPr sz="3200" b="1">
                <a:solidFill>
                  <a:srgbClr val="F8FAFC"/>
                </a:solidFill>
                <a:latin typeface="Helvetica Neue"/>
              </a:rPr>
              <a:t>Architecture</a:t>
            </a:r>
          </a:p>
        </p:txBody>
      </p:sp>
      <p:sp>
        <p:nvSpPr>
          <p:cNvPr id="4" name="TextBox 3"/>
          <p:cNvSpPr txBox="1"/>
          <p:nvPr/>
        </p:nvSpPr>
        <p:spPr>
          <a:xfrm>
            <a:off x="9235440" y="6400800"/>
            <a:ext cx="2377440" cy="274320"/>
          </a:xfrm>
          <a:prstGeom prst="rect">
            <a:avLst/>
          </a:prstGeom>
          <a:noFill/>
        </p:spPr>
        <p:txBody>
          <a:bodyPr wrap="square" lIns="0" rIns="0" tIns="0" bIns="0" anchor="t">
            <a:spAutoFit/>
          </a:bodyPr>
          <a:lstStyle/>
          <a:p>
            <a:pPr algn="r">
              <a:lnSpc>
                <a:spcPct val="115000"/>
              </a:lnSpc>
            </a:pPr>
            <a:r>
              <a:rPr sz="1000" b="0">
                <a:solidFill>
                  <a:srgbClr val="94A3B8"/>
                </a:solidFill>
                <a:latin typeface="Helvetica Neue"/>
              </a:rPr>
              <a:t>CodeAtlas AI  ·  6</a:t>
            </a:r>
          </a:p>
        </p:txBody>
      </p:sp>
      <p:sp>
        <p:nvSpPr>
          <p:cNvPr id="5" name="Rounded Rectangle 4"/>
          <p:cNvSpPr/>
          <p:nvPr/>
        </p:nvSpPr>
        <p:spPr>
          <a:xfrm>
            <a:off x="640080" y="1691640"/>
            <a:ext cx="10881360" cy="4572000"/>
          </a:xfrm>
          <a:prstGeom prst="roundRect">
            <a:avLst>
              <a:gd name="adj" fmla="val 2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rchitecture-1.png"/>
          <p:cNvPicPr>
            <a:picLocks noChangeAspect="1"/>
          </p:cNvPicPr>
          <p:nvPr/>
        </p:nvPicPr>
        <p:blipFill>
          <a:blip r:embed="rId3"/>
          <a:stretch>
            <a:fillRect/>
          </a:stretch>
        </p:blipFill>
        <p:spPr>
          <a:xfrm>
            <a:off x="1783080" y="1783080"/>
            <a:ext cx="8115731" cy="43891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lIns="0" rIns="0" tIns="0" bIns="0" anchor="t">
            <a:spAutoFit/>
          </a:bodyPr>
          <a:lstStyle/>
          <a:p>
            <a:pPr algn="l">
              <a:lnSpc>
                <a:spcPct val="115000"/>
              </a:lnSpc>
            </a:pPr>
            <a:r>
              <a:rPr sz="1200" b="1">
                <a:solidFill>
                  <a:srgbClr val="2DD4BF"/>
                </a:solidFill>
                <a:latin typeface="Helvetica Neue"/>
              </a:rPr>
              <a:t>INTEGRATION MAP</a:t>
            </a:r>
          </a:p>
        </p:txBody>
      </p:sp>
      <p:sp>
        <p:nvSpPr>
          <p:cNvPr id="3" name="TextBox 2"/>
          <p:cNvSpPr txBox="1"/>
          <p:nvPr/>
        </p:nvSpPr>
        <p:spPr>
          <a:xfrm>
            <a:off x="640080" y="777240"/>
            <a:ext cx="10972800" cy="822960"/>
          </a:xfrm>
          <a:prstGeom prst="rect">
            <a:avLst/>
          </a:prstGeom>
          <a:noFill/>
        </p:spPr>
        <p:txBody>
          <a:bodyPr wrap="square" lIns="0" rIns="0" tIns="0" bIns="0" anchor="t">
            <a:spAutoFit/>
          </a:bodyPr>
          <a:lstStyle/>
          <a:p>
            <a:pPr algn="l">
              <a:lnSpc>
                <a:spcPct val="115000"/>
              </a:lnSpc>
            </a:pPr>
            <a:r>
              <a:rPr sz="3200" b="1">
                <a:solidFill>
                  <a:srgbClr val="F8FAFC"/>
                </a:solidFill>
                <a:latin typeface="Helvetica Neue"/>
              </a:rPr>
              <a:t>Every module plugs into Freshservice</a:t>
            </a:r>
          </a:p>
        </p:txBody>
      </p:sp>
      <p:sp>
        <p:nvSpPr>
          <p:cNvPr id="4" name="TextBox 3"/>
          <p:cNvSpPr txBox="1"/>
          <p:nvPr/>
        </p:nvSpPr>
        <p:spPr>
          <a:xfrm>
            <a:off x="9235440" y="6400800"/>
            <a:ext cx="2377440" cy="274320"/>
          </a:xfrm>
          <a:prstGeom prst="rect">
            <a:avLst/>
          </a:prstGeom>
          <a:noFill/>
        </p:spPr>
        <p:txBody>
          <a:bodyPr wrap="square" lIns="0" rIns="0" tIns="0" bIns="0" anchor="t">
            <a:spAutoFit/>
          </a:bodyPr>
          <a:lstStyle/>
          <a:p>
            <a:pPr algn="r">
              <a:lnSpc>
                <a:spcPct val="115000"/>
              </a:lnSpc>
            </a:pPr>
            <a:r>
              <a:rPr sz="1000" b="0">
                <a:solidFill>
                  <a:srgbClr val="94A3B8"/>
                </a:solidFill>
                <a:latin typeface="Helvetica Neue"/>
              </a:rPr>
              <a:t>CodeAtlas AI  ·  7</a:t>
            </a:r>
          </a:p>
        </p:txBody>
      </p:sp>
      <p:sp>
        <p:nvSpPr>
          <p:cNvPr id="5" name="TextBox 4"/>
          <p:cNvSpPr txBox="1"/>
          <p:nvPr/>
        </p:nvSpPr>
        <p:spPr>
          <a:xfrm>
            <a:off x="868680" y="1737360"/>
            <a:ext cx="2743200" cy="274320"/>
          </a:xfrm>
          <a:prstGeom prst="rect">
            <a:avLst/>
          </a:prstGeom>
          <a:noFill/>
        </p:spPr>
        <p:txBody>
          <a:bodyPr wrap="square" lIns="0" rIns="0" tIns="0" bIns="0" anchor="t">
            <a:spAutoFit/>
          </a:bodyPr>
          <a:lstStyle/>
          <a:p>
            <a:pPr algn="l">
              <a:lnSpc>
                <a:spcPct val="115000"/>
              </a:lnSpc>
            </a:pPr>
            <a:r>
              <a:rPr sz="1100" b="1">
                <a:solidFill>
                  <a:srgbClr val="94A3B8"/>
                </a:solidFill>
                <a:latin typeface="Helvetica Neue"/>
              </a:rPr>
              <a:t>FRESHSERVICE EVENT</a:t>
            </a:r>
          </a:p>
        </p:txBody>
      </p:sp>
      <p:sp>
        <p:nvSpPr>
          <p:cNvPr id="6" name="TextBox 5"/>
          <p:cNvSpPr txBox="1"/>
          <p:nvPr/>
        </p:nvSpPr>
        <p:spPr>
          <a:xfrm>
            <a:off x="3429000" y="1737360"/>
            <a:ext cx="2926080" cy="274320"/>
          </a:xfrm>
          <a:prstGeom prst="rect">
            <a:avLst/>
          </a:prstGeom>
          <a:noFill/>
        </p:spPr>
        <p:txBody>
          <a:bodyPr wrap="square" lIns="0" rIns="0" tIns="0" bIns="0" anchor="t">
            <a:spAutoFit/>
          </a:bodyPr>
          <a:lstStyle/>
          <a:p>
            <a:pPr algn="l">
              <a:lnSpc>
                <a:spcPct val="115000"/>
              </a:lnSpc>
            </a:pPr>
            <a:r>
              <a:rPr sz="1100" b="1">
                <a:solidFill>
                  <a:srgbClr val="94A3B8"/>
                </a:solidFill>
                <a:latin typeface="Helvetica Neue"/>
              </a:rPr>
              <a:t>CODEATLAS</a:t>
            </a:r>
          </a:p>
        </p:txBody>
      </p:sp>
      <p:sp>
        <p:nvSpPr>
          <p:cNvPr id="7" name="TextBox 6"/>
          <p:cNvSpPr txBox="1"/>
          <p:nvPr/>
        </p:nvSpPr>
        <p:spPr>
          <a:xfrm>
            <a:off x="6446520" y="1737360"/>
            <a:ext cx="3657600" cy="274320"/>
          </a:xfrm>
          <a:prstGeom prst="rect">
            <a:avLst/>
          </a:prstGeom>
          <a:noFill/>
        </p:spPr>
        <p:txBody>
          <a:bodyPr wrap="square" lIns="0" rIns="0" tIns="0" bIns="0" anchor="t">
            <a:spAutoFit/>
          </a:bodyPr>
          <a:lstStyle/>
          <a:p>
            <a:pPr algn="l">
              <a:lnSpc>
                <a:spcPct val="115000"/>
              </a:lnSpc>
            </a:pPr>
            <a:r>
              <a:rPr sz="1100" b="1">
                <a:solidFill>
                  <a:srgbClr val="94A3B8"/>
                </a:solidFill>
                <a:latin typeface="Helvetica Neue"/>
              </a:rPr>
              <a:t>WRITTEN BACK</a:t>
            </a:r>
          </a:p>
        </p:txBody>
      </p:sp>
      <p:sp>
        <p:nvSpPr>
          <p:cNvPr id="8" name="Rounded Rectangle 7"/>
          <p:cNvSpPr/>
          <p:nvPr/>
        </p:nvSpPr>
        <p:spPr>
          <a:xfrm>
            <a:off x="640080" y="2057400"/>
            <a:ext cx="10881360" cy="566928"/>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212848"/>
            <a:ext cx="2468880" cy="32004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Ticket is raised</a:t>
            </a:r>
          </a:p>
        </p:txBody>
      </p:sp>
      <p:sp>
        <p:nvSpPr>
          <p:cNvPr id="10" name="TextBox 9"/>
          <p:cNvSpPr txBox="1"/>
          <p:nvPr/>
        </p:nvSpPr>
        <p:spPr>
          <a:xfrm>
            <a:off x="3429000" y="2221992"/>
            <a:ext cx="2926080" cy="320040"/>
          </a:xfrm>
          <a:prstGeom prst="rect">
            <a:avLst/>
          </a:prstGeom>
          <a:noFill/>
        </p:spPr>
        <p:txBody>
          <a:bodyPr wrap="square" lIns="0" rIns="0" tIns="0" bIns="0" anchor="t">
            <a:spAutoFit/>
          </a:bodyPr>
          <a:lstStyle/>
          <a:p>
            <a:pPr algn="l">
              <a:lnSpc>
                <a:spcPct val="115000"/>
              </a:lnSpc>
            </a:pPr>
            <a:r>
              <a:rPr sz="1300" b="0">
                <a:solidFill>
                  <a:srgbClr val="818CF8"/>
                </a:solidFill>
                <a:latin typeface="Helvetica Neue"/>
              </a:rPr>
              <a:t>Incident Context Agent</a:t>
            </a:r>
          </a:p>
        </p:txBody>
      </p:sp>
      <p:sp>
        <p:nvSpPr>
          <p:cNvPr id="11" name="TextBox 10"/>
          <p:cNvSpPr txBox="1"/>
          <p:nvPr/>
        </p:nvSpPr>
        <p:spPr>
          <a:xfrm>
            <a:off x="6446520" y="2221992"/>
            <a:ext cx="3840480" cy="320040"/>
          </a:xfrm>
          <a:prstGeom prst="rect">
            <a:avLst/>
          </a:prstGeom>
          <a:noFill/>
        </p:spPr>
        <p:txBody>
          <a:bodyPr wrap="square" lIns="0" rIns="0" tIns="0" bIns="0" anchor="t">
            <a:spAutoFit/>
          </a:bodyPr>
          <a:lstStyle/>
          <a:p>
            <a:pPr algn="l">
              <a:lnSpc>
                <a:spcPct val="115000"/>
              </a:lnSpc>
            </a:pPr>
            <a:r>
              <a:rPr sz="1200" b="0">
                <a:solidFill>
                  <a:srgbClr val="94A3B8"/>
                </a:solidFill>
                <a:latin typeface="Helvetica Neue"/>
              </a:rPr>
              <a:t>Diagnosis note + auto-route to the right group</a:t>
            </a:r>
          </a:p>
        </p:txBody>
      </p:sp>
      <p:sp>
        <p:nvSpPr>
          <p:cNvPr id="12" name="Rounded Rectangle 11"/>
          <p:cNvSpPr/>
          <p:nvPr/>
        </p:nvSpPr>
        <p:spPr>
          <a:xfrm>
            <a:off x="10332720" y="2203704"/>
            <a:ext cx="1005840" cy="274320"/>
          </a:xfrm>
          <a:prstGeom prst="roundRect">
            <a:avLst>
              <a:gd name="adj" fmla="val 50000"/>
            </a:avLst>
          </a:prstGeom>
          <a:solidFill>
            <a:srgbClr val="0B112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0" y="2244852"/>
            <a:ext cx="1005840" cy="228600"/>
          </a:xfrm>
          <a:prstGeom prst="rect">
            <a:avLst/>
          </a:prstGeom>
          <a:noFill/>
        </p:spPr>
        <p:txBody>
          <a:bodyPr wrap="square" lIns="0" rIns="0" tIns="0" bIns="0" anchor="t">
            <a:spAutoFit/>
          </a:bodyPr>
          <a:lstStyle/>
          <a:p>
            <a:pPr algn="ctr">
              <a:lnSpc>
                <a:spcPct val="115000"/>
              </a:lnSpc>
            </a:pPr>
            <a:r>
              <a:rPr sz="1000" b="1">
                <a:solidFill>
                  <a:srgbClr val="2DD4BF"/>
                </a:solidFill>
                <a:latin typeface="Helvetica Neue"/>
              </a:rPr>
              <a:t>LIVE</a:t>
            </a:r>
          </a:p>
        </p:txBody>
      </p:sp>
      <p:sp>
        <p:nvSpPr>
          <p:cNvPr id="14" name="Rounded Rectangle 13"/>
          <p:cNvSpPr/>
          <p:nvPr/>
        </p:nvSpPr>
        <p:spPr>
          <a:xfrm>
            <a:off x="640080" y="2743200"/>
            <a:ext cx="10881360" cy="566928"/>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898648"/>
            <a:ext cx="2468880" cy="32004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Change is created</a:t>
            </a:r>
          </a:p>
        </p:txBody>
      </p:sp>
      <p:sp>
        <p:nvSpPr>
          <p:cNvPr id="16" name="TextBox 15"/>
          <p:cNvSpPr txBox="1"/>
          <p:nvPr/>
        </p:nvSpPr>
        <p:spPr>
          <a:xfrm>
            <a:off x="3429000" y="2907792"/>
            <a:ext cx="2926080" cy="320040"/>
          </a:xfrm>
          <a:prstGeom prst="rect">
            <a:avLst/>
          </a:prstGeom>
          <a:noFill/>
        </p:spPr>
        <p:txBody>
          <a:bodyPr wrap="square" lIns="0" rIns="0" tIns="0" bIns="0" anchor="t">
            <a:spAutoFit/>
          </a:bodyPr>
          <a:lstStyle/>
          <a:p>
            <a:pPr algn="l">
              <a:lnSpc>
                <a:spcPct val="115000"/>
              </a:lnSpc>
            </a:pPr>
            <a:r>
              <a:rPr sz="1300" b="0">
                <a:solidFill>
                  <a:srgbClr val="818CF8"/>
                </a:solidFill>
                <a:latin typeface="Helvetica Neue"/>
              </a:rPr>
              <a:t>Impact → Ontology → Expert pipeline</a:t>
            </a:r>
          </a:p>
        </p:txBody>
      </p:sp>
      <p:sp>
        <p:nvSpPr>
          <p:cNvPr id="17" name="TextBox 16"/>
          <p:cNvSpPr txBox="1"/>
          <p:nvPr/>
        </p:nvSpPr>
        <p:spPr>
          <a:xfrm>
            <a:off x="6446520" y="2907792"/>
            <a:ext cx="3840480" cy="320040"/>
          </a:xfrm>
          <a:prstGeom prst="rect">
            <a:avLst/>
          </a:prstGeom>
          <a:noFill/>
        </p:spPr>
        <p:txBody>
          <a:bodyPr wrap="square" lIns="0" rIns="0" tIns="0" bIns="0" anchor="t">
            <a:spAutoFit/>
          </a:bodyPr>
          <a:lstStyle/>
          <a:p>
            <a:pPr algn="l">
              <a:lnSpc>
                <a:spcPct val="115000"/>
              </a:lnSpc>
            </a:pPr>
            <a:r>
              <a:rPr sz="1200" b="0">
                <a:solidFill>
                  <a:srgbClr val="94A3B8"/>
                </a:solidFill>
                <a:latin typeface="Helvetica Neue"/>
              </a:rPr>
              <a:t>Blast radius, risk, CAB reviewers</a:t>
            </a:r>
          </a:p>
        </p:txBody>
      </p:sp>
      <p:sp>
        <p:nvSpPr>
          <p:cNvPr id="18" name="Rounded Rectangle 17"/>
          <p:cNvSpPr/>
          <p:nvPr/>
        </p:nvSpPr>
        <p:spPr>
          <a:xfrm>
            <a:off x="10332720" y="2889504"/>
            <a:ext cx="1005840" cy="274320"/>
          </a:xfrm>
          <a:prstGeom prst="roundRect">
            <a:avLst>
              <a:gd name="adj" fmla="val 50000"/>
            </a:avLst>
          </a:prstGeom>
          <a:solidFill>
            <a:srgbClr val="0B112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0" y="2930652"/>
            <a:ext cx="1005840" cy="228600"/>
          </a:xfrm>
          <a:prstGeom prst="rect">
            <a:avLst/>
          </a:prstGeom>
          <a:noFill/>
        </p:spPr>
        <p:txBody>
          <a:bodyPr wrap="square" lIns="0" rIns="0" tIns="0" bIns="0" anchor="t">
            <a:spAutoFit/>
          </a:bodyPr>
          <a:lstStyle/>
          <a:p>
            <a:pPr algn="ctr">
              <a:lnSpc>
                <a:spcPct val="115000"/>
              </a:lnSpc>
            </a:pPr>
            <a:r>
              <a:rPr sz="1000" b="1">
                <a:solidFill>
                  <a:srgbClr val="2DD4BF"/>
                </a:solidFill>
                <a:latin typeface="Helvetica Neue"/>
              </a:rPr>
              <a:t>LIVE</a:t>
            </a:r>
          </a:p>
        </p:txBody>
      </p:sp>
      <p:sp>
        <p:nvSpPr>
          <p:cNvPr id="20" name="Rounded Rectangle 19"/>
          <p:cNvSpPr/>
          <p:nvPr/>
        </p:nvSpPr>
        <p:spPr>
          <a:xfrm>
            <a:off x="640080" y="3429000"/>
            <a:ext cx="10881360" cy="566928"/>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584448"/>
            <a:ext cx="2468880" cy="32004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Sync</a:t>
            </a:r>
          </a:p>
        </p:txBody>
      </p:sp>
      <p:sp>
        <p:nvSpPr>
          <p:cNvPr id="22" name="TextBox 21"/>
          <p:cNvSpPr txBox="1"/>
          <p:nvPr/>
        </p:nvSpPr>
        <p:spPr>
          <a:xfrm>
            <a:off x="3429000" y="3593592"/>
            <a:ext cx="2926080" cy="320040"/>
          </a:xfrm>
          <a:prstGeom prst="rect">
            <a:avLst/>
          </a:prstGeom>
          <a:noFill/>
        </p:spPr>
        <p:txBody>
          <a:bodyPr wrap="square" lIns="0" rIns="0" tIns="0" bIns="0" anchor="t">
            <a:spAutoFit/>
          </a:bodyPr>
          <a:lstStyle/>
          <a:p>
            <a:pPr algn="l">
              <a:lnSpc>
                <a:spcPct val="115000"/>
              </a:lnSpc>
            </a:pPr>
            <a:r>
              <a:rPr sz="1300" b="0">
                <a:solidFill>
                  <a:srgbClr val="818CF8"/>
                </a:solidFill>
                <a:latin typeface="Helvetica Neue"/>
              </a:rPr>
              <a:t>Freshservice connector</a:t>
            </a:r>
          </a:p>
        </p:txBody>
      </p:sp>
      <p:sp>
        <p:nvSpPr>
          <p:cNvPr id="23" name="TextBox 22"/>
          <p:cNvSpPr txBox="1"/>
          <p:nvPr/>
        </p:nvSpPr>
        <p:spPr>
          <a:xfrm>
            <a:off x="6446520" y="3593592"/>
            <a:ext cx="3840480" cy="320040"/>
          </a:xfrm>
          <a:prstGeom prst="rect">
            <a:avLst/>
          </a:prstGeom>
          <a:noFill/>
        </p:spPr>
        <p:txBody>
          <a:bodyPr wrap="square" lIns="0" rIns="0" tIns="0" bIns="0" anchor="t">
            <a:spAutoFit/>
          </a:bodyPr>
          <a:lstStyle/>
          <a:p>
            <a:pPr algn="l">
              <a:lnSpc>
                <a:spcPct val="115000"/>
              </a:lnSpc>
            </a:pPr>
            <a:r>
              <a:rPr sz="1200" b="0">
                <a:solidFill>
                  <a:srgbClr val="94A3B8"/>
                </a:solidFill>
                <a:latin typeface="Helvetica Neue"/>
              </a:rPr>
              <a:t>Tickets → Incidents, groups → Teams</a:t>
            </a:r>
          </a:p>
        </p:txBody>
      </p:sp>
      <p:sp>
        <p:nvSpPr>
          <p:cNvPr id="24" name="Rounded Rectangle 23"/>
          <p:cNvSpPr/>
          <p:nvPr/>
        </p:nvSpPr>
        <p:spPr>
          <a:xfrm>
            <a:off x="10332720" y="3575304"/>
            <a:ext cx="1005840" cy="274320"/>
          </a:xfrm>
          <a:prstGeom prst="roundRect">
            <a:avLst>
              <a:gd name="adj" fmla="val 50000"/>
            </a:avLst>
          </a:prstGeom>
          <a:solidFill>
            <a:srgbClr val="0B112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0" y="3616452"/>
            <a:ext cx="1005840" cy="228600"/>
          </a:xfrm>
          <a:prstGeom prst="rect">
            <a:avLst/>
          </a:prstGeom>
          <a:noFill/>
        </p:spPr>
        <p:txBody>
          <a:bodyPr wrap="square" lIns="0" rIns="0" tIns="0" bIns="0" anchor="t">
            <a:spAutoFit/>
          </a:bodyPr>
          <a:lstStyle/>
          <a:p>
            <a:pPr algn="ctr">
              <a:lnSpc>
                <a:spcPct val="115000"/>
              </a:lnSpc>
            </a:pPr>
            <a:r>
              <a:rPr sz="1000" b="1">
                <a:solidFill>
                  <a:srgbClr val="2DD4BF"/>
                </a:solidFill>
                <a:latin typeface="Helvetica Neue"/>
              </a:rPr>
              <a:t>LIVE</a:t>
            </a:r>
          </a:p>
        </p:txBody>
      </p:sp>
      <p:sp>
        <p:nvSpPr>
          <p:cNvPr id="26" name="Rounded Rectangle 25"/>
          <p:cNvSpPr/>
          <p:nvPr/>
        </p:nvSpPr>
        <p:spPr>
          <a:xfrm>
            <a:off x="640080" y="4114800"/>
            <a:ext cx="10881360" cy="566928"/>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270248"/>
            <a:ext cx="2468880" cy="32004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KB search</a:t>
            </a:r>
          </a:p>
        </p:txBody>
      </p:sp>
      <p:sp>
        <p:nvSpPr>
          <p:cNvPr id="28" name="TextBox 27"/>
          <p:cNvSpPr txBox="1"/>
          <p:nvPr/>
        </p:nvSpPr>
        <p:spPr>
          <a:xfrm>
            <a:off x="3429000" y="4279392"/>
            <a:ext cx="2926080" cy="320040"/>
          </a:xfrm>
          <a:prstGeom prst="rect">
            <a:avLst/>
          </a:prstGeom>
          <a:noFill/>
        </p:spPr>
        <p:txBody>
          <a:bodyPr wrap="square" lIns="0" rIns="0" tIns="0" bIns="0" anchor="t">
            <a:spAutoFit/>
          </a:bodyPr>
          <a:lstStyle/>
          <a:p>
            <a:pPr algn="l">
              <a:lnSpc>
                <a:spcPct val="115000"/>
              </a:lnSpc>
            </a:pPr>
            <a:r>
              <a:rPr sz="1300" b="0">
                <a:solidFill>
                  <a:srgbClr val="818CF8"/>
                </a:solidFill>
                <a:latin typeface="Helvetica Neue"/>
              </a:rPr>
              <a:t>Incident Context Agent</a:t>
            </a:r>
          </a:p>
        </p:txBody>
      </p:sp>
      <p:sp>
        <p:nvSpPr>
          <p:cNvPr id="29" name="TextBox 28"/>
          <p:cNvSpPr txBox="1"/>
          <p:nvPr/>
        </p:nvSpPr>
        <p:spPr>
          <a:xfrm>
            <a:off x="6446520" y="4279392"/>
            <a:ext cx="3840480" cy="320040"/>
          </a:xfrm>
          <a:prstGeom prst="rect">
            <a:avLst/>
          </a:prstGeom>
          <a:noFill/>
        </p:spPr>
        <p:txBody>
          <a:bodyPr wrap="square" lIns="0" rIns="0" tIns="0" bIns="0" anchor="t">
            <a:spAutoFit/>
          </a:bodyPr>
          <a:lstStyle/>
          <a:p>
            <a:pPr algn="l">
              <a:lnSpc>
                <a:spcPct val="115000"/>
              </a:lnSpc>
            </a:pPr>
            <a:r>
              <a:rPr sz="1200" b="0">
                <a:solidFill>
                  <a:srgbClr val="94A3B8"/>
                </a:solidFill>
                <a:latin typeface="Helvetica Neue"/>
              </a:rPr>
              <a:t>KB articles cited in each diagnosis</a:t>
            </a:r>
          </a:p>
        </p:txBody>
      </p:sp>
      <p:sp>
        <p:nvSpPr>
          <p:cNvPr id="30" name="Rounded Rectangle 29"/>
          <p:cNvSpPr/>
          <p:nvPr/>
        </p:nvSpPr>
        <p:spPr>
          <a:xfrm>
            <a:off x="10332720" y="4261104"/>
            <a:ext cx="1005840" cy="274320"/>
          </a:xfrm>
          <a:prstGeom prst="roundRect">
            <a:avLst>
              <a:gd name="adj" fmla="val 50000"/>
            </a:avLst>
          </a:prstGeom>
          <a:solidFill>
            <a:srgbClr val="0B112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32720" y="4302252"/>
            <a:ext cx="1005840" cy="228600"/>
          </a:xfrm>
          <a:prstGeom prst="rect">
            <a:avLst/>
          </a:prstGeom>
          <a:noFill/>
        </p:spPr>
        <p:txBody>
          <a:bodyPr wrap="square" lIns="0" rIns="0" tIns="0" bIns="0" anchor="t">
            <a:spAutoFit/>
          </a:bodyPr>
          <a:lstStyle/>
          <a:p>
            <a:pPr algn="ctr">
              <a:lnSpc>
                <a:spcPct val="115000"/>
              </a:lnSpc>
            </a:pPr>
            <a:r>
              <a:rPr sz="1000" b="1">
                <a:solidFill>
                  <a:srgbClr val="2DD4BF"/>
                </a:solidFill>
                <a:latin typeface="Helvetica Neue"/>
              </a:rPr>
              <a:t>LIVE</a:t>
            </a:r>
          </a:p>
        </p:txBody>
      </p:sp>
      <p:sp>
        <p:nvSpPr>
          <p:cNvPr id="32" name="Rounded Rectangle 31"/>
          <p:cNvSpPr/>
          <p:nvPr/>
        </p:nvSpPr>
        <p:spPr>
          <a:xfrm>
            <a:off x="640080" y="4800600"/>
            <a:ext cx="10881360" cy="566928"/>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 y="4956048"/>
            <a:ext cx="2468880" cy="32004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CMDB relationships</a:t>
            </a:r>
          </a:p>
        </p:txBody>
      </p:sp>
      <p:sp>
        <p:nvSpPr>
          <p:cNvPr id="34" name="TextBox 33"/>
          <p:cNvSpPr txBox="1"/>
          <p:nvPr/>
        </p:nvSpPr>
        <p:spPr>
          <a:xfrm>
            <a:off x="3429000" y="4965192"/>
            <a:ext cx="2926080" cy="320040"/>
          </a:xfrm>
          <a:prstGeom prst="rect">
            <a:avLst/>
          </a:prstGeom>
          <a:noFill/>
        </p:spPr>
        <p:txBody>
          <a:bodyPr wrap="square" lIns="0" rIns="0" tIns="0" bIns="0" anchor="t">
            <a:spAutoFit/>
          </a:bodyPr>
          <a:lstStyle/>
          <a:p>
            <a:pPr algn="l">
              <a:lnSpc>
                <a:spcPct val="115000"/>
              </a:lnSpc>
            </a:pPr>
            <a:r>
              <a:rPr sz="1300" b="0">
                <a:solidFill>
                  <a:srgbClr val="818CF8"/>
                </a:solidFill>
                <a:latin typeface="Helvetica Neue"/>
              </a:rPr>
              <a:t>Knowledge Graph</a:t>
            </a:r>
          </a:p>
        </p:txBody>
      </p:sp>
      <p:sp>
        <p:nvSpPr>
          <p:cNvPr id="35" name="TextBox 34"/>
          <p:cNvSpPr txBox="1"/>
          <p:nvPr/>
        </p:nvSpPr>
        <p:spPr>
          <a:xfrm>
            <a:off x="6446520" y="4965192"/>
            <a:ext cx="3840480" cy="320040"/>
          </a:xfrm>
          <a:prstGeom prst="rect">
            <a:avLst/>
          </a:prstGeom>
          <a:noFill/>
        </p:spPr>
        <p:txBody>
          <a:bodyPr wrap="square" lIns="0" rIns="0" tIns="0" bIns="0" anchor="t">
            <a:spAutoFit/>
          </a:bodyPr>
          <a:lstStyle/>
          <a:p>
            <a:pPr algn="l">
              <a:lnSpc>
                <a:spcPct val="115000"/>
              </a:lnSpc>
            </a:pPr>
            <a:r>
              <a:rPr sz="1200" b="0">
                <a:solidFill>
                  <a:srgbClr val="94A3B8"/>
                </a:solidFill>
                <a:latin typeface="Helvetica Neue"/>
              </a:rPr>
              <a:t>Code-derived dependencies as CI links</a:t>
            </a:r>
          </a:p>
        </p:txBody>
      </p:sp>
      <p:sp>
        <p:nvSpPr>
          <p:cNvPr id="36" name="Rounded Rectangle 35"/>
          <p:cNvSpPr/>
          <p:nvPr/>
        </p:nvSpPr>
        <p:spPr>
          <a:xfrm>
            <a:off x="10332720" y="4946904"/>
            <a:ext cx="1005840" cy="274320"/>
          </a:xfrm>
          <a:prstGeom prst="roundRect">
            <a:avLst>
              <a:gd name="adj" fmla="val 50000"/>
            </a:avLst>
          </a:prstGeom>
          <a:solidFill>
            <a:srgbClr val="0B1120"/>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32720" y="4988052"/>
            <a:ext cx="1005840" cy="228600"/>
          </a:xfrm>
          <a:prstGeom prst="rect">
            <a:avLst/>
          </a:prstGeom>
          <a:noFill/>
        </p:spPr>
        <p:txBody>
          <a:bodyPr wrap="square" lIns="0" rIns="0" tIns="0" bIns="0" anchor="t">
            <a:spAutoFit/>
          </a:bodyPr>
          <a:lstStyle/>
          <a:p>
            <a:pPr algn="ctr">
              <a:lnSpc>
                <a:spcPct val="115000"/>
              </a:lnSpc>
            </a:pPr>
            <a:r>
              <a:rPr sz="1000" b="1">
                <a:solidFill>
                  <a:srgbClr val="FBBF24"/>
                </a:solidFill>
                <a:latin typeface="Helvetica Neue"/>
              </a:rPr>
              <a:t>DESIGNED</a:t>
            </a:r>
          </a:p>
        </p:txBody>
      </p:sp>
      <p:sp>
        <p:nvSpPr>
          <p:cNvPr id="38" name="Rounded Rectangle 37"/>
          <p:cNvSpPr/>
          <p:nvPr/>
        </p:nvSpPr>
        <p:spPr>
          <a:xfrm>
            <a:off x="640080" y="5486400"/>
            <a:ext cx="10881360" cy="566928"/>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8680" y="5641848"/>
            <a:ext cx="2468880" cy="32004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Problems &amp; KB drafts</a:t>
            </a:r>
          </a:p>
        </p:txBody>
      </p:sp>
      <p:sp>
        <p:nvSpPr>
          <p:cNvPr id="40" name="TextBox 39"/>
          <p:cNvSpPr txBox="1"/>
          <p:nvPr/>
        </p:nvSpPr>
        <p:spPr>
          <a:xfrm>
            <a:off x="3429000" y="5650992"/>
            <a:ext cx="2926080" cy="320040"/>
          </a:xfrm>
          <a:prstGeom prst="rect">
            <a:avLst/>
          </a:prstGeom>
          <a:noFill/>
        </p:spPr>
        <p:txBody>
          <a:bodyPr wrap="square" lIns="0" rIns="0" tIns="0" bIns="0" anchor="t">
            <a:spAutoFit/>
          </a:bodyPr>
          <a:lstStyle/>
          <a:p>
            <a:pPr algn="l">
              <a:lnSpc>
                <a:spcPct val="115000"/>
              </a:lnSpc>
            </a:pPr>
            <a:r>
              <a:rPr sz="1300" b="0">
                <a:solidFill>
                  <a:srgbClr val="818CF8"/>
                </a:solidFill>
                <a:latin typeface="Helvetica Neue"/>
              </a:rPr>
              <a:t>Knowledge Gap Agent</a:t>
            </a:r>
          </a:p>
        </p:txBody>
      </p:sp>
      <p:sp>
        <p:nvSpPr>
          <p:cNvPr id="41" name="TextBox 40"/>
          <p:cNvSpPr txBox="1"/>
          <p:nvPr/>
        </p:nvSpPr>
        <p:spPr>
          <a:xfrm>
            <a:off x="6446520" y="5650992"/>
            <a:ext cx="3840480" cy="320040"/>
          </a:xfrm>
          <a:prstGeom prst="rect">
            <a:avLst/>
          </a:prstGeom>
          <a:noFill/>
        </p:spPr>
        <p:txBody>
          <a:bodyPr wrap="square" lIns="0" rIns="0" tIns="0" bIns="0" anchor="t">
            <a:spAutoFit/>
          </a:bodyPr>
          <a:lstStyle/>
          <a:p>
            <a:pPr algn="l">
              <a:lnSpc>
                <a:spcPct val="115000"/>
              </a:lnSpc>
            </a:pPr>
            <a:r>
              <a:rPr sz="1200" b="0">
                <a:solidFill>
                  <a:srgbClr val="94A3B8"/>
                </a:solidFill>
                <a:latin typeface="Helvetica Neue"/>
              </a:rPr>
              <a:t>Recurring incidents → Problem, KB drafts</a:t>
            </a:r>
          </a:p>
        </p:txBody>
      </p:sp>
      <p:sp>
        <p:nvSpPr>
          <p:cNvPr id="42" name="Rounded Rectangle 41"/>
          <p:cNvSpPr/>
          <p:nvPr/>
        </p:nvSpPr>
        <p:spPr>
          <a:xfrm>
            <a:off x="10332720" y="5632704"/>
            <a:ext cx="1005840" cy="274320"/>
          </a:xfrm>
          <a:prstGeom prst="roundRect">
            <a:avLst>
              <a:gd name="adj" fmla="val 50000"/>
            </a:avLst>
          </a:prstGeom>
          <a:solidFill>
            <a:srgbClr val="0B1120"/>
          </a:solidFill>
          <a:ln w="127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32720" y="5673852"/>
            <a:ext cx="1005840" cy="228600"/>
          </a:xfrm>
          <a:prstGeom prst="rect">
            <a:avLst/>
          </a:prstGeom>
          <a:noFill/>
        </p:spPr>
        <p:txBody>
          <a:bodyPr wrap="square" lIns="0" rIns="0" tIns="0" bIns="0" anchor="t">
            <a:spAutoFit/>
          </a:bodyPr>
          <a:lstStyle/>
          <a:p>
            <a:pPr algn="ctr">
              <a:lnSpc>
                <a:spcPct val="115000"/>
              </a:lnSpc>
            </a:pPr>
            <a:r>
              <a:rPr sz="1000" b="1">
                <a:solidFill>
                  <a:srgbClr val="94A3B8"/>
                </a:solidFill>
                <a:latin typeface="Helvetica Neue"/>
              </a:rPr>
              <a:t>PHASE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lIns="0" rIns="0" tIns="0" bIns="0" anchor="t">
            <a:spAutoFit/>
          </a:bodyPr>
          <a:lstStyle/>
          <a:p>
            <a:pPr algn="l">
              <a:lnSpc>
                <a:spcPct val="115000"/>
              </a:lnSpc>
            </a:pPr>
            <a:r>
              <a:rPr sz="1200" b="1">
                <a:solidFill>
                  <a:srgbClr val="2DD4BF"/>
                </a:solidFill>
                <a:latin typeface="Helvetica Neue"/>
              </a:rPr>
              <a:t>SEE IT WORK</a:t>
            </a:r>
          </a:p>
        </p:txBody>
      </p:sp>
      <p:sp>
        <p:nvSpPr>
          <p:cNvPr id="3" name="TextBox 2"/>
          <p:cNvSpPr txBox="1"/>
          <p:nvPr/>
        </p:nvSpPr>
        <p:spPr>
          <a:xfrm>
            <a:off x="640080" y="777240"/>
            <a:ext cx="10972800" cy="822960"/>
          </a:xfrm>
          <a:prstGeom prst="rect">
            <a:avLst/>
          </a:prstGeom>
          <a:noFill/>
        </p:spPr>
        <p:txBody>
          <a:bodyPr wrap="square" lIns="0" rIns="0" tIns="0" bIns="0" anchor="t">
            <a:spAutoFit/>
          </a:bodyPr>
          <a:lstStyle/>
          <a:p>
            <a:pPr algn="l">
              <a:lnSpc>
                <a:spcPct val="115000"/>
              </a:lnSpc>
            </a:pPr>
            <a:r>
              <a:rPr sz="3200" b="1">
                <a:solidFill>
                  <a:srgbClr val="F8FAFC"/>
                </a:solidFill>
                <a:latin typeface="Helvetica Neue"/>
              </a:rPr>
              <a:t>Live demo</a:t>
            </a:r>
          </a:p>
        </p:txBody>
      </p:sp>
      <p:sp>
        <p:nvSpPr>
          <p:cNvPr id="4" name="TextBox 3"/>
          <p:cNvSpPr txBox="1"/>
          <p:nvPr/>
        </p:nvSpPr>
        <p:spPr>
          <a:xfrm>
            <a:off x="9235440" y="6400800"/>
            <a:ext cx="2377440" cy="274320"/>
          </a:xfrm>
          <a:prstGeom prst="rect">
            <a:avLst/>
          </a:prstGeom>
          <a:noFill/>
        </p:spPr>
        <p:txBody>
          <a:bodyPr wrap="square" lIns="0" rIns="0" tIns="0" bIns="0" anchor="t">
            <a:spAutoFit/>
          </a:bodyPr>
          <a:lstStyle/>
          <a:p>
            <a:pPr algn="r">
              <a:lnSpc>
                <a:spcPct val="115000"/>
              </a:lnSpc>
            </a:pPr>
            <a:r>
              <a:rPr sz="1000" b="0">
                <a:solidFill>
                  <a:srgbClr val="94A3B8"/>
                </a:solidFill>
                <a:latin typeface="Helvetica Neue"/>
              </a:rPr>
              <a:t>CodeAtlas AI  ·  8</a:t>
            </a:r>
          </a:p>
        </p:txBody>
      </p:sp>
      <p:sp>
        <p:nvSpPr>
          <p:cNvPr id="5" name="Rounded Rectangle 4"/>
          <p:cNvSpPr/>
          <p:nvPr/>
        </p:nvSpPr>
        <p:spPr>
          <a:xfrm>
            <a:off x="640080" y="1828800"/>
            <a:ext cx="5349240" cy="118872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548640" cy="548640"/>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58568"/>
            <a:ext cx="548640" cy="365760"/>
          </a:xfrm>
          <a:prstGeom prst="rect">
            <a:avLst/>
          </a:prstGeom>
          <a:noFill/>
        </p:spPr>
        <p:txBody>
          <a:bodyPr wrap="square" lIns="0" rIns="0" tIns="0" bIns="0" anchor="t">
            <a:spAutoFit/>
          </a:bodyPr>
          <a:lstStyle/>
          <a:p>
            <a:pPr algn="ctr">
              <a:lnSpc>
                <a:spcPct val="115000"/>
              </a:lnSpc>
            </a:pPr>
            <a:r>
              <a:rPr sz="1700" b="1">
                <a:solidFill>
                  <a:srgbClr val="F8FAFC"/>
                </a:solidFill>
                <a:latin typeface="Helvetica Neue"/>
              </a:rPr>
              <a:t>1</a:t>
            </a:r>
          </a:p>
        </p:txBody>
      </p:sp>
      <p:sp>
        <p:nvSpPr>
          <p:cNvPr id="8" name="TextBox 7"/>
          <p:cNvSpPr txBox="1"/>
          <p:nvPr/>
        </p:nvSpPr>
        <p:spPr>
          <a:xfrm>
            <a:off x="1645920" y="2029968"/>
            <a:ext cx="4114800" cy="365760"/>
          </a:xfrm>
          <a:prstGeom prst="rect">
            <a:avLst/>
          </a:prstGeom>
          <a:noFill/>
        </p:spPr>
        <p:txBody>
          <a:bodyPr wrap="square" lIns="0" rIns="0" tIns="0" bIns="0" anchor="t">
            <a:spAutoFit/>
          </a:bodyPr>
          <a:lstStyle/>
          <a:p>
            <a:pPr algn="l">
              <a:lnSpc>
                <a:spcPct val="115000"/>
              </a:lnSpc>
            </a:pPr>
            <a:r>
              <a:rPr sz="1700" b="1">
                <a:solidFill>
                  <a:srgbClr val="F8FAFC"/>
                </a:solidFill>
                <a:latin typeface="Helvetica Neue"/>
              </a:rPr>
              <a:t>Raise a ticket</a:t>
            </a:r>
          </a:p>
        </p:txBody>
      </p:sp>
      <p:sp>
        <p:nvSpPr>
          <p:cNvPr id="9" name="TextBox 8"/>
          <p:cNvSpPr txBox="1"/>
          <p:nvPr/>
        </p:nvSpPr>
        <p:spPr>
          <a:xfrm>
            <a:off x="1645920" y="2395728"/>
            <a:ext cx="4160520" cy="548640"/>
          </a:xfrm>
          <a:prstGeom prst="rect">
            <a:avLst/>
          </a:prstGeom>
          <a:noFill/>
        </p:spPr>
        <p:txBody>
          <a:bodyPr wrap="square" lIns="0" rIns="0" tIns="0" bIns="0" anchor="t">
            <a:spAutoFit/>
          </a:bodyPr>
          <a:lstStyle/>
          <a:p>
            <a:pPr algn="l">
              <a:lnSpc>
                <a:spcPct val="115000"/>
              </a:lnSpc>
            </a:pPr>
            <a:r>
              <a:rPr sz="1300" b="0">
                <a:solidFill>
                  <a:srgbClr val="94A3B8"/>
                </a:solidFill>
                <a:latin typeface="Helvetica Neue"/>
              </a:rPr>
              <a:t>In Freshservice: "DB connection pool exhausted on Payment Service after deploy"</a:t>
            </a:r>
          </a:p>
        </p:txBody>
      </p:sp>
      <p:sp>
        <p:nvSpPr>
          <p:cNvPr id="10" name="Rounded Rectangle 9"/>
          <p:cNvSpPr/>
          <p:nvPr/>
        </p:nvSpPr>
        <p:spPr>
          <a:xfrm>
            <a:off x="6172200" y="1828800"/>
            <a:ext cx="5349240" cy="118872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0" y="2148840"/>
            <a:ext cx="548640" cy="548640"/>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258568"/>
            <a:ext cx="548640" cy="365760"/>
          </a:xfrm>
          <a:prstGeom prst="rect">
            <a:avLst/>
          </a:prstGeom>
          <a:noFill/>
        </p:spPr>
        <p:txBody>
          <a:bodyPr wrap="square" lIns="0" rIns="0" tIns="0" bIns="0" anchor="t">
            <a:spAutoFit/>
          </a:bodyPr>
          <a:lstStyle/>
          <a:p>
            <a:pPr algn="ctr">
              <a:lnSpc>
                <a:spcPct val="115000"/>
              </a:lnSpc>
            </a:pPr>
            <a:r>
              <a:rPr sz="1700" b="1">
                <a:solidFill>
                  <a:srgbClr val="F8FAFC"/>
                </a:solidFill>
                <a:latin typeface="Helvetica Neue"/>
              </a:rPr>
              <a:t>2</a:t>
            </a:r>
          </a:p>
        </p:txBody>
      </p:sp>
      <p:sp>
        <p:nvSpPr>
          <p:cNvPr id="13" name="TextBox 12"/>
          <p:cNvSpPr txBox="1"/>
          <p:nvPr/>
        </p:nvSpPr>
        <p:spPr>
          <a:xfrm>
            <a:off x="7178040" y="2029968"/>
            <a:ext cx="4114800" cy="365760"/>
          </a:xfrm>
          <a:prstGeom prst="rect">
            <a:avLst/>
          </a:prstGeom>
          <a:noFill/>
        </p:spPr>
        <p:txBody>
          <a:bodyPr wrap="square" lIns="0" rIns="0" tIns="0" bIns="0" anchor="t">
            <a:spAutoFit/>
          </a:bodyPr>
          <a:lstStyle/>
          <a:p>
            <a:pPr algn="l">
              <a:lnSpc>
                <a:spcPct val="115000"/>
              </a:lnSpc>
            </a:pPr>
            <a:r>
              <a:rPr sz="1700" b="1">
                <a:solidFill>
                  <a:srgbClr val="F8FAFC"/>
                </a:solidFill>
                <a:latin typeface="Helvetica Neue"/>
              </a:rPr>
              <a:t>Diagnose + route</a:t>
            </a:r>
          </a:p>
        </p:txBody>
      </p:sp>
      <p:sp>
        <p:nvSpPr>
          <p:cNvPr id="14" name="TextBox 13"/>
          <p:cNvSpPr txBox="1"/>
          <p:nvPr/>
        </p:nvSpPr>
        <p:spPr>
          <a:xfrm>
            <a:off x="7178040" y="2395728"/>
            <a:ext cx="4160520" cy="548640"/>
          </a:xfrm>
          <a:prstGeom prst="rect">
            <a:avLst/>
          </a:prstGeom>
          <a:noFill/>
        </p:spPr>
        <p:txBody>
          <a:bodyPr wrap="square" lIns="0" rIns="0" tIns="0" bIns="0" anchor="t">
            <a:spAutoFit/>
          </a:bodyPr>
          <a:lstStyle/>
          <a:p>
            <a:pPr algn="l">
              <a:lnSpc>
                <a:spcPct val="115000"/>
              </a:lnSpc>
            </a:pPr>
            <a:r>
              <a:rPr sz="1300" b="0">
                <a:solidFill>
                  <a:srgbClr val="94A3B8"/>
                </a:solidFill>
                <a:latin typeface="Helvetica Neue"/>
              </a:rPr>
              <a:t>Workflow Automator fires → note posted, ticket lands in Database Team</a:t>
            </a:r>
          </a:p>
        </p:txBody>
      </p:sp>
      <p:sp>
        <p:nvSpPr>
          <p:cNvPr id="15" name="Rounded Rectangle 14"/>
          <p:cNvSpPr/>
          <p:nvPr/>
        </p:nvSpPr>
        <p:spPr>
          <a:xfrm>
            <a:off x="640080" y="3200400"/>
            <a:ext cx="5349240" cy="118872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8680" y="3520440"/>
            <a:ext cx="548640" cy="548640"/>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630168"/>
            <a:ext cx="548640" cy="365760"/>
          </a:xfrm>
          <a:prstGeom prst="rect">
            <a:avLst/>
          </a:prstGeom>
          <a:noFill/>
        </p:spPr>
        <p:txBody>
          <a:bodyPr wrap="square" lIns="0" rIns="0" tIns="0" bIns="0" anchor="t">
            <a:spAutoFit/>
          </a:bodyPr>
          <a:lstStyle/>
          <a:p>
            <a:pPr algn="ctr">
              <a:lnSpc>
                <a:spcPct val="115000"/>
              </a:lnSpc>
            </a:pPr>
            <a:r>
              <a:rPr sz="1700" b="1">
                <a:solidFill>
                  <a:srgbClr val="F8FAFC"/>
                </a:solidFill>
                <a:latin typeface="Helvetica Neue"/>
              </a:rPr>
              <a:t>3</a:t>
            </a:r>
          </a:p>
        </p:txBody>
      </p:sp>
      <p:sp>
        <p:nvSpPr>
          <p:cNvPr id="18" name="TextBox 17"/>
          <p:cNvSpPr txBox="1"/>
          <p:nvPr/>
        </p:nvSpPr>
        <p:spPr>
          <a:xfrm>
            <a:off x="1645920" y="3401568"/>
            <a:ext cx="4114800" cy="365760"/>
          </a:xfrm>
          <a:prstGeom prst="rect">
            <a:avLst/>
          </a:prstGeom>
          <a:noFill/>
        </p:spPr>
        <p:txBody>
          <a:bodyPr wrap="square" lIns="0" rIns="0" tIns="0" bIns="0" anchor="t">
            <a:spAutoFit/>
          </a:bodyPr>
          <a:lstStyle/>
          <a:p>
            <a:pPr algn="l">
              <a:lnSpc>
                <a:spcPct val="115000"/>
              </a:lnSpc>
            </a:pPr>
            <a:r>
              <a:rPr sz="1700" b="1">
                <a:solidFill>
                  <a:srgbClr val="F8FAFC"/>
                </a:solidFill>
                <a:latin typeface="Helvetica Neue"/>
              </a:rPr>
              <a:t>Show the trace</a:t>
            </a:r>
          </a:p>
        </p:txBody>
      </p:sp>
      <p:sp>
        <p:nvSpPr>
          <p:cNvPr id="19" name="TextBox 18"/>
          <p:cNvSpPr txBox="1"/>
          <p:nvPr/>
        </p:nvSpPr>
        <p:spPr>
          <a:xfrm>
            <a:off x="1645920" y="3767328"/>
            <a:ext cx="4160520" cy="548640"/>
          </a:xfrm>
          <a:prstGeom prst="rect">
            <a:avLst/>
          </a:prstGeom>
          <a:noFill/>
        </p:spPr>
        <p:txBody>
          <a:bodyPr wrap="square" lIns="0" rIns="0" tIns="0" bIns="0" anchor="t">
            <a:spAutoFit/>
          </a:bodyPr>
          <a:lstStyle/>
          <a:p>
            <a:pPr algn="l">
              <a:lnSpc>
                <a:spcPct val="115000"/>
              </a:lnSpc>
            </a:pPr>
            <a:r>
              <a:rPr sz="1300" b="0">
                <a:solidFill>
                  <a:srgbClr val="94A3B8"/>
                </a:solidFill>
                <a:latin typeface="Helvetica Neue"/>
              </a:rPr>
              <a:t>Freshservice Integration page → brain icon → live agent trace · Activity Log</a:t>
            </a:r>
          </a:p>
        </p:txBody>
      </p:sp>
      <p:sp>
        <p:nvSpPr>
          <p:cNvPr id="20" name="Rounded Rectangle 19"/>
          <p:cNvSpPr/>
          <p:nvPr/>
        </p:nvSpPr>
        <p:spPr>
          <a:xfrm>
            <a:off x="6172200" y="3200400"/>
            <a:ext cx="5349240" cy="118872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0800" y="3520440"/>
            <a:ext cx="548640" cy="548640"/>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630168"/>
            <a:ext cx="548640" cy="365760"/>
          </a:xfrm>
          <a:prstGeom prst="rect">
            <a:avLst/>
          </a:prstGeom>
          <a:noFill/>
        </p:spPr>
        <p:txBody>
          <a:bodyPr wrap="square" lIns="0" rIns="0" tIns="0" bIns="0" anchor="t">
            <a:spAutoFit/>
          </a:bodyPr>
          <a:lstStyle/>
          <a:p>
            <a:pPr algn="ctr">
              <a:lnSpc>
                <a:spcPct val="115000"/>
              </a:lnSpc>
            </a:pPr>
            <a:r>
              <a:rPr sz="1700" b="1">
                <a:solidFill>
                  <a:srgbClr val="F8FAFC"/>
                </a:solidFill>
                <a:latin typeface="Helvetica Neue"/>
              </a:rPr>
              <a:t>4</a:t>
            </a:r>
          </a:p>
        </p:txBody>
      </p:sp>
      <p:sp>
        <p:nvSpPr>
          <p:cNvPr id="23" name="TextBox 22"/>
          <p:cNvSpPr txBox="1"/>
          <p:nvPr/>
        </p:nvSpPr>
        <p:spPr>
          <a:xfrm>
            <a:off x="7178040" y="3401568"/>
            <a:ext cx="4114800" cy="365760"/>
          </a:xfrm>
          <a:prstGeom prst="rect">
            <a:avLst/>
          </a:prstGeom>
          <a:noFill/>
        </p:spPr>
        <p:txBody>
          <a:bodyPr wrap="square" lIns="0" rIns="0" tIns="0" bIns="0" anchor="t">
            <a:spAutoFit/>
          </a:bodyPr>
          <a:lstStyle/>
          <a:p>
            <a:pPr algn="l">
              <a:lnSpc>
                <a:spcPct val="115000"/>
              </a:lnSpc>
            </a:pPr>
            <a:r>
              <a:rPr sz="1700" b="1">
                <a:solidFill>
                  <a:srgbClr val="F8FAFC"/>
                </a:solidFill>
                <a:latin typeface="Helvetica Neue"/>
              </a:rPr>
              <a:t>Raise a change</a:t>
            </a:r>
          </a:p>
        </p:txBody>
      </p:sp>
      <p:sp>
        <p:nvSpPr>
          <p:cNvPr id="24" name="TextBox 23"/>
          <p:cNvSpPr txBox="1"/>
          <p:nvPr/>
        </p:nvSpPr>
        <p:spPr>
          <a:xfrm>
            <a:off x="7178040" y="3767328"/>
            <a:ext cx="4160520" cy="548640"/>
          </a:xfrm>
          <a:prstGeom prst="rect">
            <a:avLst/>
          </a:prstGeom>
          <a:noFill/>
        </p:spPr>
        <p:txBody>
          <a:bodyPr wrap="square" lIns="0" rIns="0" tIns="0" bIns="0" anchor="t">
            <a:spAutoFit/>
          </a:bodyPr>
          <a:lstStyle/>
          <a:p>
            <a:pPr algn="l">
              <a:lnSpc>
                <a:spcPct val="115000"/>
              </a:lnSpc>
            </a:pPr>
            <a:r>
              <a:rPr sz="1300" b="0">
                <a:solidFill>
                  <a:srgbClr val="94A3B8"/>
                </a:solidFill>
                <a:latin typeface="Helvetica Neue"/>
              </a:rPr>
              <a:t>In Freshservice: "Upgrade SMTP relay config for Notification Service"</a:t>
            </a:r>
          </a:p>
        </p:txBody>
      </p:sp>
      <p:sp>
        <p:nvSpPr>
          <p:cNvPr id="25" name="Rounded Rectangle 24"/>
          <p:cNvSpPr/>
          <p:nvPr/>
        </p:nvSpPr>
        <p:spPr>
          <a:xfrm>
            <a:off x="640080" y="4572000"/>
            <a:ext cx="5349240" cy="118872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68680" y="4892040"/>
            <a:ext cx="548640" cy="548640"/>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001768"/>
            <a:ext cx="548640" cy="365760"/>
          </a:xfrm>
          <a:prstGeom prst="rect">
            <a:avLst/>
          </a:prstGeom>
          <a:noFill/>
        </p:spPr>
        <p:txBody>
          <a:bodyPr wrap="square" lIns="0" rIns="0" tIns="0" bIns="0" anchor="t">
            <a:spAutoFit/>
          </a:bodyPr>
          <a:lstStyle/>
          <a:p>
            <a:pPr algn="ctr">
              <a:lnSpc>
                <a:spcPct val="115000"/>
              </a:lnSpc>
            </a:pPr>
            <a:r>
              <a:rPr sz="1700" b="1">
                <a:solidFill>
                  <a:srgbClr val="F8FAFC"/>
                </a:solidFill>
                <a:latin typeface="Helvetica Neue"/>
              </a:rPr>
              <a:t>5</a:t>
            </a:r>
          </a:p>
        </p:txBody>
      </p:sp>
      <p:sp>
        <p:nvSpPr>
          <p:cNvPr id="28" name="TextBox 27"/>
          <p:cNvSpPr txBox="1"/>
          <p:nvPr/>
        </p:nvSpPr>
        <p:spPr>
          <a:xfrm>
            <a:off x="1645920" y="4773168"/>
            <a:ext cx="4114800" cy="365760"/>
          </a:xfrm>
          <a:prstGeom prst="rect">
            <a:avLst/>
          </a:prstGeom>
          <a:noFill/>
        </p:spPr>
        <p:txBody>
          <a:bodyPr wrap="square" lIns="0" rIns="0" tIns="0" bIns="0" anchor="t">
            <a:spAutoFit/>
          </a:bodyPr>
          <a:lstStyle/>
          <a:p>
            <a:pPr algn="l">
              <a:lnSpc>
                <a:spcPct val="115000"/>
              </a:lnSpc>
            </a:pPr>
            <a:r>
              <a:rPr sz="1700" b="1">
                <a:solidFill>
                  <a:srgbClr val="F8FAFC"/>
                </a:solidFill>
                <a:latin typeface="Helvetica Neue"/>
              </a:rPr>
              <a:t>Blast radius</a:t>
            </a:r>
          </a:p>
        </p:txBody>
      </p:sp>
      <p:sp>
        <p:nvSpPr>
          <p:cNvPr id="29" name="TextBox 28"/>
          <p:cNvSpPr txBox="1"/>
          <p:nvPr/>
        </p:nvSpPr>
        <p:spPr>
          <a:xfrm>
            <a:off x="1645920" y="5138928"/>
            <a:ext cx="4160520" cy="548640"/>
          </a:xfrm>
          <a:prstGeom prst="rect">
            <a:avLst/>
          </a:prstGeom>
          <a:noFill/>
        </p:spPr>
        <p:txBody>
          <a:bodyPr wrap="square" lIns="0" rIns="0" tIns="0" bIns="0" anchor="t">
            <a:spAutoFit/>
          </a:bodyPr>
          <a:lstStyle/>
          <a:p>
            <a:pPr algn="l">
              <a:lnSpc>
                <a:spcPct val="115000"/>
              </a:lnSpc>
            </a:pPr>
            <a:r>
              <a:rPr sz="1300" b="0">
                <a:solidFill>
                  <a:srgbClr val="94A3B8"/>
                </a:solidFill>
                <a:latin typeface="Helvetica Neue"/>
              </a:rPr>
              <a:t>3-agent pipeline → impact, downstream services, CAB reviewers on the change</a:t>
            </a:r>
          </a:p>
        </p:txBody>
      </p:sp>
      <p:sp>
        <p:nvSpPr>
          <p:cNvPr id="30" name="Rounded Rectangle 29"/>
          <p:cNvSpPr/>
          <p:nvPr/>
        </p:nvSpPr>
        <p:spPr>
          <a:xfrm>
            <a:off x="6172200" y="4572000"/>
            <a:ext cx="5349240" cy="118872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00800" y="4892040"/>
            <a:ext cx="548640" cy="548640"/>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5001768"/>
            <a:ext cx="548640" cy="365760"/>
          </a:xfrm>
          <a:prstGeom prst="rect">
            <a:avLst/>
          </a:prstGeom>
          <a:noFill/>
        </p:spPr>
        <p:txBody>
          <a:bodyPr wrap="square" lIns="0" rIns="0" tIns="0" bIns="0" anchor="t">
            <a:spAutoFit/>
          </a:bodyPr>
          <a:lstStyle/>
          <a:p>
            <a:pPr algn="ctr">
              <a:lnSpc>
                <a:spcPct val="115000"/>
              </a:lnSpc>
            </a:pPr>
            <a:r>
              <a:rPr sz="1700" b="1">
                <a:solidFill>
                  <a:srgbClr val="F8FAFC"/>
                </a:solidFill>
                <a:latin typeface="Helvetica Neue"/>
              </a:rPr>
              <a:t>6</a:t>
            </a:r>
          </a:p>
        </p:txBody>
      </p:sp>
      <p:sp>
        <p:nvSpPr>
          <p:cNvPr id="33" name="TextBox 32"/>
          <p:cNvSpPr txBox="1"/>
          <p:nvPr/>
        </p:nvSpPr>
        <p:spPr>
          <a:xfrm>
            <a:off x="7178040" y="4773168"/>
            <a:ext cx="4114800" cy="365760"/>
          </a:xfrm>
          <a:prstGeom prst="rect">
            <a:avLst/>
          </a:prstGeom>
          <a:noFill/>
        </p:spPr>
        <p:txBody>
          <a:bodyPr wrap="square" lIns="0" rIns="0" tIns="0" bIns="0" anchor="t">
            <a:spAutoFit/>
          </a:bodyPr>
          <a:lstStyle/>
          <a:p>
            <a:pPr algn="l">
              <a:lnSpc>
                <a:spcPct val="115000"/>
              </a:lnSpc>
            </a:pPr>
            <a:r>
              <a:rPr sz="1700" b="1">
                <a:solidFill>
                  <a:srgbClr val="F8FAFC"/>
                </a:solidFill>
                <a:latin typeface="Helvetica Neue"/>
              </a:rPr>
              <a:t>Explore</a:t>
            </a:r>
          </a:p>
        </p:txBody>
      </p:sp>
      <p:sp>
        <p:nvSpPr>
          <p:cNvPr id="34" name="TextBox 33"/>
          <p:cNvSpPr txBox="1"/>
          <p:nvPr/>
        </p:nvSpPr>
        <p:spPr>
          <a:xfrm>
            <a:off x="7178040" y="5138928"/>
            <a:ext cx="4160520" cy="548640"/>
          </a:xfrm>
          <a:prstGeom prst="rect">
            <a:avLst/>
          </a:prstGeom>
          <a:noFill/>
        </p:spPr>
        <p:txBody>
          <a:bodyPr wrap="square" lIns="0" rIns="0" tIns="0" bIns="0" anchor="t">
            <a:spAutoFit/>
          </a:bodyPr>
          <a:lstStyle/>
          <a:p>
            <a:pPr algn="l">
              <a:lnSpc>
                <a:spcPct val="115000"/>
              </a:lnSpc>
            </a:pPr>
            <a:r>
              <a:rPr sz="1300" b="0">
                <a:solidFill>
                  <a:srgbClr val="94A3B8"/>
                </a:solidFill>
                <a:latin typeface="Helvetica Neue"/>
              </a:rPr>
              <a:t>Knowledge Graph → Notification Service → Blast Radius highlights the same services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lIns="0" rIns="0" tIns="0" bIns="0" anchor="t">
            <a:spAutoFit/>
          </a:bodyPr>
          <a:lstStyle/>
          <a:p>
            <a:pPr algn="l">
              <a:lnSpc>
                <a:spcPct val="115000"/>
              </a:lnSpc>
            </a:pPr>
            <a:r>
              <a:rPr sz="1200" b="1">
                <a:solidFill>
                  <a:srgbClr val="2DD4BF"/>
                </a:solidFill>
                <a:latin typeface="Helvetica Neue"/>
              </a:rPr>
              <a:t>TARGET CUSTOMERS &amp; USERS</a:t>
            </a:r>
          </a:p>
        </p:txBody>
      </p:sp>
      <p:sp>
        <p:nvSpPr>
          <p:cNvPr id="3" name="TextBox 2"/>
          <p:cNvSpPr txBox="1"/>
          <p:nvPr/>
        </p:nvSpPr>
        <p:spPr>
          <a:xfrm>
            <a:off x="640080" y="777240"/>
            <a:ext cx="10972800" cy="822960"/>
          </a:xfrm>
          <a:prstGeom prst="rect">
            <a:avLst/>
          </a:prstGeom>
          <a:noFill/>
        </p:spPr>
        <p:txBody>
          <a:bodyPr wrap="square" lIns="0" rIns="0" tIns="0" bIns="0" anchor="t">
            <a:spAutoFit/>
          </a:bodyPr>
          <a:lstStyle/>
          <a:p>
            <a:pPr algn="l">
              <a:lnSpc>
                <a:spcPct val="115000"/>
              </a:lnSpc>
            </a:pPr>
            <a:r>
              <a:rPr sz="3200" b="1">
                <a:solidFill>
                  <a:srgbClr val="F8FAFC"/>
                </a:solidFill>
                <a:latin typeface="Helvetica Neue"/>
              </a:rPr>
              <a:t>Who it's for</a:t>
            </a:r>
          </a:p>
        </p:txBody>
      </p:sp>
      <p:sp>
        <p:nvSpPr>
          <p:cNvPr id="4" name="TextBox 3"/>
          <p:cNvSpPr txBox="1"/>
          <p:nvPr/>
        </p:nvSpPr>
        <p:spPr>
          <a:xfrm>
            <a:off x="9235440" y="6400800"/>
            <a:ext cx="2377440" cy="274320"/>
          </a:xfrm>
          <a:prstGeom prst="rect">
            <a:avLst/>
          </a:prstGeom>
          <a:noFill/>
        </p:spPr>
        <p:txBody>
          <a:bodyPr wrap="square" lIns="0" rIns="0" tIns="0" bIns="0" anchor="t">
            <a:spAutoFit/>
          </a:bodyPr>
          <a:lstStyle/>
          <a:p>
            <a:pPr algn="r">
              <a:lnSpc>
                <a:spcPct val="115000"/>
              </a:lnSpc>
            </a:pPr>
            <a:r>
              <a:rPr sz="1000" b="0">
                <a:solidFill>
                  <a:srgbClr val="94A3B8"/>
                </a:solidFill>
                <a:latin typeface="Helvetica Neue"/>
              </a:rPr>
              <a:t>CodeAtlas AI  ·  9</a:t>
            </a:r>
          </a:p>
        </p:txBody>
      </p:sp>
      <p:sp>
        <p:nvSpPr>
          <p:cNvPr id="5" name="Rounded Rectangle 4"/>
          <p:cNvSpPr/>
          <p:nvPr/>
        </p:nvSpPr>
        <p:spPr>
          <a:xfrm>
            <a:off x="640080" y="1737360"/>
            <a:ext cx="5303520" cy="160020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965960"/>
            <a:ext cx="54864" cy="4572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38528"/>
            <a:ext cx="4800600" cy="548640"/>
          </a:xfrm>
          <a:prstGeom prst="rect">
            <a:avLst/>
          </a:prstGeom>
          <a:noFill/>
        </p:spPr>
        <p:txBody>
          <a:bodyPr wrap="square" lIns="0" rIns="0" tIns="0" bIns="0" anchor="t">
            <a:spAutoFit/>
          </a:bodyPr>
          <a:lstStyle/>
          <a:p>
            <a:pPr algn="l">
              <a:lnSpc>
                <a:spcPct val="115000"/>
              </a:lnSpc>
            </a:pPr>
            <a:r>
              <a:rPr sz="1700" b="1">
                <a:solidFill>
                  <a:srgbClr val="F8FAFC"/>
                </a:solidFill>
                <a:latin typeface="Helvetica Neue"/>
              </a:rPr>
              <a:t>Primary</a:t>
            </a:r>
          </a:p>
        </p:txBody>
      </p:sp>
      <p:sp>
        <p:nvSpPr>
          <p:cNvPr id="8" name="TextBox 7"/>
          <p:cNvSpPr txBox="1"/>
          <p:nvPr/>
        </p:nvSpPr>
        <p:spPr>
          <a:xfrm>
            <a:off x="914400" y="2468880"/>
            <a:ext cx="4800600" cy="731520"/>
          </a:xfrm>
          <a:prstGeom prst="rect">
            <a:avLst/>
          </a:prstGeom>
          <a:noFill/>
        </p:spPr>
        <p:txBody>
          <a:bodyPr wrap="square" lIns="0" rIns="0" tIns="0" bIns="0" anchor="t">
            <a:spAutoFit/>
          </a:bodyPr>
          <a:lstStyle/>
          <a:p>
            <a:pPr algn="l">
              <a:lnSpc>
                <a:spcPct val="115000"/>
              </a:lnSpc>
            </a:pPr>
            <a:r>
              <a:rPr sz="1400" b="0">
                <a:solidFill>
                  <a:srgbClr val="94A3B8"/>
                </a:solidFill>
                <a:latin typeface="Helvetica Neue"/>
              </a:rPr>
              <a:t>Mid-size software &amp; digital companies (200–2,000 employees) running IT/engineering incidents in Freshservice, with 20+ microservices and several teams.</a:t>
            </a:r>
          </a:p>
        </p:txBody>
      </p:sp>
      <p:sp>
        <p:nvSpPr>
          <p:cNvPr id="9" name="Rounded Rectangle 8"/>
          <p:cNvSpPr/>
          <p:nvPr/>
        </p:nvSpPr>
        <p:spPr>
          <a:xfrm>
            <a:off x="6217920" y="1737360"/>
            <a:ext cx="5303520" cy="160020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965960"/>
            <a:ext cx="54864" cy="457200"/>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938528"/>
            <a:ext cx="4800600" cy="548640"/>
          </a:xfrm>
          <a:prstGeom prst="rect">
            <a:avLst/>
          </a:prstGeom>
          <a:noFill/>
        </p:spPr>
        <p:txBody>
          <a:bodyPr wrap="square" lIns="0" rIns="0" tIns="0" bIns="0" anchor="t">
            <a:spAutoFit/>
          </a:bodyPr>
          <a:lstStyle/>
          <a:p>
            <a:pPr algn="l">
              <a:lnSpc>
                <a:spcPct val="115000"/>
              </a:lnSpc>
            </a:pPr>
            <a:r>
              <a:rPr sz="1700" b="1">
                <a:solidFill>
                  <a:srgbClr val="F8FAFC"/>
                </a:solidFill>
                <a:latin typeface="Helvetica Neue"/>
              </a:rPr>
              <a:t>Secondary</a:t>
            </a:r>
          </a:p>
        </p:txBody>
      </p:sp>
      <p:sp>
        <p:nvSpPr>
          <p:cNvPr id="12" name="TextBox 11"/>
          <p:cNvSpPr txBox="1"/>
          <p:nvPr/>
        </p:nvSpPr>
        <p:spPr>
          <a:xfrm>
            <a:off x="6492240" y="2468880"/>
            <a:ext cx="4800600" cy="731520"/>
          </a:xfrm>
          <a:prstGeom prst="rect">
            <a:avLst/>
          </a:prstGeom>
          <a:noFill/>
        </p:spPr>
        <p:txBody>
          <a:bodyPr wrap="square" lIns="0" rIns="0" tIns="0" bIns="0" anchor="t">
            <a:spAutoFit/>
          </a:bodyPr>
          <a:lstStyle/>
          <a:p>
            <a:pPr algn="l">
              <a:lnSpc>
                <a:spcPct val="115000"/>
              </a:lnSpc>
            </a:pPr>
            <a:r>
              <a:rPr sz="1400" b="0">
                <a:solidFill>
                  <a:srgbClr val="94A3B8"/>
                </a:solidFill>
                <a:latin typeface="Helvetica Neue"/>
              </a:rPr>
              <a:t>Freshservice MSPs supporting many client environments who need fast context on unfamiliar systems.</a:t>
            </a:r>
          </a:p>
        </p:txBody>
      </p:sp>
      <p:sp>
        <p:nvSpPr>
          <p:cNvPr id="13" name="TextBox 12"/>
          <p:cNvSpPr txBox="1"/>
          <p:nvPr/>
        </p:nvSpPr>
        <p:spPr>
          <a:xfrm>
            <a:off x="640080" y="3566160"/>
            <a:ext cx="10881360" cy="274320"/>
          </a:xfrm>
          <a:prstGeom prst="rect">
            <a:avLst/>
          </a:prstGeom>
          <a:noFill/>
        </p:spPr>
        <p:txBody>
          <a:bodyPr wrap="square" lIns="0" rIns="0" tIns="0" bIns="0" anchor="t">
            <a:spAutoFit/>
          </a:bodyPr>
          <a:lstStyle/>
          <a:p>
            <a:pPr algn="l">
              <a:lnSpc>
                <a:spcPct val="115000"/>
              </a:lnSpc>
            </a:pPr>
            <a:r>
              <a:rPr sz="1100" b="1">
                <a:solidFill>
                  <a:srgbClr val="2DD4BF"/>
                </a:solidFill>
                <a:latin typeface="Helvetica Neue"/>
              </a:rPr>
              <a:t>WHO USES IT, AND WHAT THEY GET</a:t>
            </a:r>
          </a:p>
        </p:txBody>
      </p:sp>
      <p:sp>
        <p:nvSpPr>
          <p:cNvPr id="14" name="Rounded Rectangle 13"/>
          <p:cNvSpPr/>
          <p:nvPr/>
        </p:nvSpPr>
        <p:spPr>
          <a:xfrm>
            <a:off x="640080" y="3840480"/>
            <a:ext cx="2560320" cy="160020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840480"/>
            <a:ext cx="2560320" cy="54864"/>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23360"/>
            <a:ext cx="2194560" cy="27432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Service-desk agents</a:t>
            </a:r>
          </a:p>
        </p:txBody>
      </p:sp>
      <p:sp>
        <p:nvSpPr>
          <p:cNvPr id="17" name="TextBox 16"/>
          <p:cNvSpPr txBox="1"/>
          <p:nvPr/>
        </p:nvSpPr>
        <p:spPr>
          <a:xfrm>
            <a:off x="822960" y="4343400"/>
            <a:ext cx="2194560" cy="777240"/>
          </a:xfrm>
          <a:prstGeom prst="rect">
            <a:avLst/>
          </a:prstGeom>
          <a:noFill/>
        </p:spPr>
        <p:txBody>
          <a:bodyPr wrap="square" lIns="0" rIns="0" tIns="0" bIns="0" anchor="t">
            <a:spAutoFit/>
          </a:bodyPr>
          <a:lstStyle/>
          <a:p>
            <a:pPr algn="l">
              <a:lnSpc>
                <a:spcPct val="110000"/>
              </a:lnSpc>
            </a:pPr>
            <a:r>
              <a:rPr sz="1100" b="0">
                <a:solidFill>
                  <a:srgbClr val="94A3B8"/>
                </a:solidFill>
                <a:latin typeface="Helvetica Neue"/>
              </a:rPr>
              <a:t>Tickets arrive diagnosed and already in the right group, with no guessing which team owns it.</a:t>
            </a:r>
          </a:p>
        </p:txBody>
      </p:sp>
      <p:sp>
        <p:nvSpPr>
          <p:cNvPr id="18" name="TextBox 17"/>
          <p:cNvSpPr txBox="1"/>
          <p:nvPr/>
        </p:nvSpPr>
        <p:spPr>
          <a:xfrm>
            <a:off x="822960" y="5120640"/>
            <a:ext cx="2194560" cy="228600"/>
          </a:xfrm>
          <a:prstGeom prst="rect">
            <a:avLst/>
          </a:prstGeom>
          <a:noFill/>
        </p:spPr>
        <p:txBody>
          <a:bodyPr wrap="square" lIns="0" rIns="0" tIns="0" bIns="0" anchor="t">
            <a:spAutoFit/>
          </a:bodyPr>
          <a:lstStyle/>
          <a:p>
            <a:pPr algn="l">
              <a:lnSpc>
                <a:spcPct val="115000"/>
              </a:lnSpc>
            </a:pPr>
            <a:r>
              <a:rPr sz="1000" b="1">
                <a:solidFill>
                  <a:srgbClr val="2DD4BF"/>
                </a:solidFill>
                <a:latin typeface="Helvetica Neue"/>
              </a:rPr>
              <a:t>Ticket note + auto-routing</a:t>
            </a:r>
          </a:p>
        </p:txBody>
      </p:sp>
      <p:sp>
        <p:nvSpPr>
          <p:cNvPr id="19" name="Rounded Rectangle 18"/>
          <p:cNvSpPr/>
          <p:nvPr/>
        </p:nvSpPr>
        <p:spPr>
          <a:xfrm>
            <a:off x="3413455" y="3840480"/>
            <a:ext cx="2560320" cy="160020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13455" y="3840480"/>
            <a:ext cx="2560320" cy="54864"/>
          </a:xfrm>
          <a:prstGeom prst="rect">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96335" y="4023360"/>
            <a:ext cx="2194560" cy="27432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On-call / SRE</a:t>
            </a:r>
          </a:p>
        </p:txBody>
      </p:sp>
      <p:sp>
        <p:nvSpPr>
          <p:cNvPr id="22" name="TextBox 21"/>
          <p:cNvSpPr txBox="1"/>
          <p:nvPr/>
        </p:nvSpPr>
        <p:spPr>
          <a:xfrm>
            <a:off x="3596335" y="4343400"/>
            <a:ext cx="2194560" cy="777240"/>
          </a:xfrm>
          <a:prstGeom prst="rect">
            <a:avLst/>
          </a:prstGeom>
          <a:noFill/>
        </p:spPr>
        <p:txBody>
          <a:bodyPr wrap="square" lIns="0" rIns="0" tIns="0" bIns="0" anchor="t">
            <a:spAutoFit/>
          </a:bodyPr>
          <a:lstStyle/>
          <a:p>
            <a:pPr algn="l">
              <a:lnSpc>
                <a:spcPct val="110000"/>
              </a:lnSpc>
            </a:pPr>
            <a:r>
              <a:rPr sz="1100" b="0">
                <a:solidFill>
                  <a:srgbClr val="94A3B8"/>
                </a:solidFill>
                <a:latin typeface="Helvetica Neue"/>
              </a:rPr>
              <a:t>Suspected cause, the recent commit or config change behind it, past incidents, runbook, who to call.</a:t>
            </a:r>
          </a:p>
        </p:txBody>
      </p:sp>
      <p:sp>
        <p:nvSpPr>
          <p:cNvPr id="23" name="TextBox 22"/>
          <p:cNvSpPr txBox="1"/>
          <p:nvPr/>
        </p:nvSpPr>
        <p:spPr>
          <a:xfrm>
            <a:off x="3596335" y="5120640"/>
            <a:ext cx="2194560" cy="228600"/>
          </a:xfrm>
          <a:prstGeom prst="rect">
            <a:avLst/>
          </a:prstGeom>
          <a:noFill/>
        </p:spPr>
        <p:txBody>
          <a:bodyPr wrap="square" lIns="0" rIns="0" tIns="0" bIns="0" anchor="t">
            <a:spAutoFit/>
          </a:bodyPr>
          <a:lstStyle/>
          <a:p>
            <a:pPr algn="l">
              <a:lnSpc>
                <a:spcPct val="115000"/>
              </a:lnSpc>
            </a:pPr>
            <a:r>
              <a:rPr sz="1000" b="1">
                <a:solidFill>
                  <a:srgbClr val="FB7185"/>
                </a:solidFill>
                <a:latin typeface="Helvetica Neue"/>
              </a:rPr>
              <a:t>Ticket note · Incident Room</a:t>
            </a:r>
          </a:p>
        </p:txBody>
      </p:sp>
      <p:sp>
        <p:nvSpPr>
          <p:cNvPr id="24" name="Rounded Rectangle 23"/>
          <p:cNvSpPr/>
          <p:nvPr/>
        </p:nvSpPr>
        <p:spPr>
          <a:xfrm>
            <a:off x="6186830" y="3840480"/>
            <a:ext cx="2560320" cy="160020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86830" y="3840480"/>
            <a:ext cx="2560320"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9710" y="4023360"/>
            <a:ext cx="2194560" cy="27432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Change managers / CAB</a:t>
            </a:r>
          </a:p>
        </p:txBody>
      </p:sp>
      <p:sp>
        <p:nvSpPr>
          <p:cNvPr id="27" name="TextBox 26"/>
          <p:cNvSpPr txBox="1"/>
          <p:nvPr/>
        </p:nvSpPr>
        <p:spPr>
          <a:xfrm>
            <a:off x="6369710" y="4343400"/>
            <a:ext cx="2194560" cy="777240"/>
          </a:xfrm>
          <a:prstGeom prst="rect">
            <a:avLst/>
          </a:prstGeom>
          <a:noFill/>
        </p:spPr>
        <p:txBody>
          <a:bodyPr wrap="square" lIns="0" rIns="0" tIns="0" bIns="0" anchor="t">
            <a:spAutoFit/>
          </a:bodyPr>
          <a:lstStyle/>
          <a:p>
            <a:pPr algn="l">
              <a:lnSpc>
                <a:spcPct val="110000"/>
              </a:lnSpc>
            </a:pPr>
            <a:r>
              <a:rPr sz="1100" b="0">
                <a:solidFill>
                  <a:srgbClr val="94A3B8"/>
                </a:solidFill>
                <a:latin typeface="Helvetica Neue"/>
              </a:rPr>
              <a:t>Blast radius, risk and suggested reviewers on every new change, before it is approved.</a:t>
            </a:r>
          </a:p>
        </p:txBody>
      </p:sp>
      <p:sp>
        <p:nvSpPr>
          <p:cNvPr id="28" name="TextBox 27"/>
          <p:cNvSpPr txBox="1"/>
          <p:nvPr/>
        </p:nvSpPr>
        <p:spPr>
          <a:xfrm>
            <a:off x="6369710" y="5120640"/>
            <a:ext cx="2194560" cy="228600"/>
          </a:xfrm>
          <a:prstGeom prst="rect">
            <a:avLst/>
          </a:prstGeom>
          <a:noFill/>
        </p:spPr>
        <p:txBody>
          <a:bodyPr wrap="square" lIns="0" rIns="0" tIns="0" bIns="0" anchor="t">
            <a:spAutoFit/>
          </a:bodyPr>
          <a:lstStyle/>
          <a:p>
            <a:pPr algn="l">
              <a:lnSpc>
                <a:spcPct val="115000"/>
              </a:lnSpc>
            </a:pPr>
            <a:r>
              <a:rPr sz="1000" b="1">
                <a:solidFill>
                  <a:srgbClr val="FBBF24"/>
                </a:solidFill>
                <a:latin typeface="Helvetica Neue"/>
              </a:rPr>
              <a:t>Change note · Knowledge Graph</a:t>
            </a:r>
          </a:p>
        </p:txBody>
      </p:sp>
      <p:sp>
        <p:nvSpPr>
          <p:cNvPr id="29" name="Rounded Rectangle 28"/>
          <p:cNvSpPr/>
          <p:nvPr/>
        </p:nvSpPr>
        <p:spPr>
          <a:xfrm>
            <a:off x="8960205" y="3840480"/>
            <a:ext cx="2560320" cy="160020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0205" y="3840480"/>
            <a:ext cx="2560320" cy="54864"/>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3085" y="4023360"/>
            <a:ext cx="2194560" cy="27432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Tech leads &amp; new hires</a:t>
            </a:r>
          </a:p>
        </p:txBody>
      </p:sp>
      <p:sp>
        <p:nvSpPr>
          <p:cNvPr id="32" name="TextBox 31"/>
          <p:cNvSpPr txBox="1"/>
          <p:nvPr/>
        </p:nvSpPr>
        <p:spPr>
          <a:xfrm>
            <a:off x="9143085" y="4343400"/>
            <a:ext cx="2194560" cy="777240"/>
          </a:xfrm>
          <a:prstGeom prst="rect">
            <a:avLst/>
          </a:prstGeom>
          <a:noFill/>
        </p:spPr>
        <p:txBody>
          <a:bodyPr wrap="square" lIns="0" rIns="0" tIns="0" bIns="0" anchor="t">
            <a:spAutoFit/>
          </a:bodyPr>
          <a:lstStyle/>
          <a:p>
            <a:pPr algn="l">
              <a:lnSpc>
                <a:spcPct val="110000"/>
              </a:lnSpc>
            </a:pPr>
            <a:r>
              <a:rPr sz="1100" b="0">
                <a:solidFill>
                  <a:srgbClr val="94A3B8"/>
                </a:solidFill>
                <a:latin typeface="Helvetica Neue"/>
              </a:rPr>
              <a:t>Impact of a new requirement, owners and experts, and a map of how the system fits together.</a:t>
            </a:r>
          </a:p>
        </p:txBody>
      </p:sp>
      <p:sp>
        <p:nvSpPr>
          <p:cNvPr id="33" name="TextBox 32"/>
          <p:cNvSpPr txBox="1"/>
          <p:nvPr/>
        </p:nvSpPr>
        <p:spPr>
          <a:xfrm>
            <a:off x="9143085" y="5120640"/>
            <a:ext cx="2194560" cy="228600"/>
          </a:xfrm>
          <a:prstGeom prst="rect">
            <a:avLst/>
          </a:prstGeom>
          <a:noFill/>
        </p:spPr>
        <p:txBody>
          <a:bodyPr wrap="square" lIns="0" rIns="0" tIns="0" bIns="0" anchor="t">
            <a:spAutoFit/>
          </a:bodyPr>
          <a:lstStyle/>
          <a:p>
            <a:pPr algn="l">
              <a:lnSpc>
                <a:spcPct val="115000"/>
              </a:lnSpc>
            </a:pPr>
            <a:r>
              <a:rPr sz="1000" b="1">
                <a:solidFill>
                  <a:srgbClr val="818CF8"/>
                </a:solidFill>
                <a:latin typeface="Helvetica Neue"/>
              </a:rPr>
              <a:t>Analyzer · Experts · Graph</a:t>
            </a:r>
          </a:p>
        </p:txBody>
      </p:sp>
      <p:sp>
        <p:nvSpPr>
          <p:cNvPr id="34" name="Rounded Rectangle 33"/>
          <p:cNvSpPr/>
          <p:nvPr/>
        </p:nvSpPr>
        <p:spPr>
          <a:xfrm>
            <a:off x="640080" y="5596128"/>
            <a:ext cx="10881360" cy="658368"/>
          </a:xfrm>
          <a:prstGeom prst="roundRect">
            <a:avLst>
              <a:gd name="adj" fmla="val 6000"/>
            </a:avLst>
          </a:prstGeom>
          <a:solidFill>
            <a:srgbClr val="0F2A2E"/>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641848"/>
            <a:ext cx="10332720" cy="566928"/>
          </a:xfrm>
          <a:prstGeom prst="rect">
            <a:avLst/>
          </a:prstGeom>
          <a:noFill/>
        </p:spPr>
        <p:txBody>
          <a:bodyPr wrap="square" lIns="0" rIns="0" tIns="0" bIns="0" anchor="ctr">
            <a:spAutoFit/>
          </a:bodyPr>
          <a:lstStyle/>
          <a:p>
            <a:pPr algn="l">
              <a:lnSpc>
                <a:spcPct val="115000"/>
              </a:lnSpc>
            </a:pPr>
            <a:r>
              <a:rPr sz="1500" b="0">
                <a:solidFill>
                  <a:srgbClr val="F8FAFC"/>
                </a:solidFill>
                <a:latin typeface="Helvetica Neue"/>
              </a:rPr>
              <a:t>Every incident and change arrives with engineering context: faster resolution, the right owner first time, and no surprises when a change ships.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lIns="0" rIns="0" tIns="0" bIns="0" anchor="t">
            <a:spAutoFit/>
          </a:bodyPr>
          <a:lstStyle/>
          <a:p>
            <a:pPr algn="l">
              <a:lnSpc>
                <a:spcPct val="115000"/>
              </a:lnSpc>
            </a:pPr>
            <a:r>
              <a:rPr sz="1200" b="1">
                <a:solidFill>
                  <a:srgbClr val="2DD4BF"/>
                </a:solidFill>
                <a:latin typeface="Helvetica Neue"/>
              </a:rPr>
              <a:t>VALUE PROPOSITION</a:t>
            </a:r>
          </a:p>
        </p:txBody>
      </p:sp>
      <p:sp>
        <p:nvSpPr>
          <p:cNvPr id="3" name="TextBox 2"/>
          <p:cNvSpPr txBox="1"/>
          <p:nvPr/>
        </p:nvSpPr>
        <p:spPr>
          <a:xfrm>
            <a:off x="640080" y="777240"/>
            <a:ext cx="10972800" cy="822960"/>
          </a:xfrm>
          <a:prstGeom prst="rect">
            <a:avLst/>
          </a:prstGeom>
          <a:noFill/>
        </p:spPr>
        <p:txBody>
          <a:bodyPr wrap="square" lIns="0" rIns="0" tIns="0" bIns="0" anchor="t">
            <a:spAutoFit/>
          </a:bodyPr>
          <a:lstStyle/>
          <a:p>
            <a:pPr algn="l">
              <a:lnSpc>
                <a:spcPct val="115000"/>
              </a:lnSpc>
            </a:pPr>
            <a:r>
              <a:rPr sz="3200" b="1">
                <a:solidFill>
                  <a:srgbClr val="F8FAFC"/>
                </a:solidFill>
                <a:latin typeface="Helvetica Neue"/>
              </a:rPr>
              <a:t>Why customers will want it</a:t>
            </a:r>
          </a:p>
        </p:txBody>
      </p:sp>
      <p:sp>
        <p:nvSpPr>
          <p:cNvPr id="4" name="TextBox 3"/>
          <p:cNvSpPr txBox="1"/>
          <p:nvPr/>
        </p:nvSpPr>
        <p:spPr>
          <a:xfrm>
            <a:off x="9235440" y="6400800"/>
            <a:ext cx="2377440" cy="274320"/>
          </a:xfrm>
          <a:prstGeom prst="rect">
            <a:avLst/>
          </a:prstGeom>
          <a:noFill/>
        </p:spPr>
        <p:txBody>
          <a:bodyPr wrap="square" lIns="0" rIns="0" tIns="0" bIns="0" anchor="t">
            <a:spAutoFit/>
          </a:bodyPr>
          <a:lstStyle/>
          <a:p>
            <a:pPr algn="r">
              <a:lnSpc>
                <a:spcPct val="115000"/>
              </a:lnSpc>
            </a:pPr>
            <a:r>
              <a:rPr sz="1000" b="0">
                <a:solidFill>
                  <a:srgbClr val="94A3B8"/>
                </a:solidFill>
                <a:latin typeface="Helvetica Neue"/>
              </a:rPr>
              <a:t>CodeAtlas AI  ·  10</a:t>
            </a:r>
          </a:p>
        </p:txBody>
      </p:sp>
      <p:sp>
        <p:nvSpPr>
          <p:cNvPr id="5" name="Rounded Rectangle 4"/>
          <p:cNvSpPr/>
          <p:nvPr/>
        </p:nvSpPr>
        <p:spPr>
          <a:xfrm>
            <a:off x="640080" y="1691640"/>
            <a:ext cx="10881360" cy="1325880"/>
          </a:xfrm>
          <a:prstGeom prst="roundRect">
            <a:avLst>
              <a:gd name="adj" fmla="val 6000"/>
            </a:avLst>
          </a:prstGeom>
          <a:solidFill>
            <a:srgbClr val="0F2A2E"/>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332720" cy="1143000"/>
          </a:xfrm>
          <a:prstGeom prst="rect">
            <a:avLst/>
          </a:prstGeom>
          <a:noFill/>
        </p:spPr>
        <p:txBody>
          <a:bodyPr wrap="square" lIns="0" rIns="0" tIns="0" bIns="0" anchor="ctr">
            <a:spAutoFit/>
          </a:bodyPr>
          <a:lstStyle/>
          <a:p>
            <a:pPr algn="l">
              <a:lnSpc>
                <a:spcPct val="115000"/>
              </a:lnSpc>
            </a:pPr>
            <a:r>
              <a:rPr sz="1800" b="1">
                <a:solidFill>
                  <a:srgbClr val="F8FAFC"/>
                </a:solidFill>
                <a:latin typeface="Helvetica Neue"/>
              </a:rPr>
              <a:t>Every Freshservice ticket and change arrives already diagnosed, routed to the right team and risk-assessed, </a:t>
            </a:r>
            <a:r>
              <a:rPr sz="1800" b="0">
                <a:solidFill>
                  <a:srgbClr val="F8FAFC"/>
                </a:solidFill>
                <a:latin typeface="Helvetica Neue"/>
              </a:rPr>
              <a:t>without anyone leaving Freshservice. Teams stop hunting for context across GitHub, runbooks and chat, resolve faster, and know what breaks before a change ships.</a:t>
            </a:r>
          </a:p>
        </p:txBody>
      </p:sp>
      <p:sp>
        <p:nvSpPr>
          <p:cNvPr id="7" name="Rounded Rectangle 6"/>
          <p:cNvSpPr/>
          <p:nvPr/>
        </p:nvSpPr>
        <p:spPr>
          <a:xfrm>
            <a:off x="640080" y="3246120"/>
            <a:ext cx="5303520" cy="201168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3502152"/>
            <a:ext cx="54864" cy="365760"/>
          </a:xfrm>
          <a:prstGeom prst="rect">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74720"/>
            <a:ext cx="4754880" cy="365760"/>
          </a:xfrm>
          <a:prstGeom prst="rect">
            <a:avLst/>
          </a:prstGeom>
          <a:noFill/>
        </p:spPr>
        <p:txBody>
          <a:bodyPr wrap="square" lIns="0" rIns="0" tIns="0" bIns="0" anchor="t">
            <a:spAutoFit/>
          </a:bodyPr>
          <a:lstStyle/>
          <a:p>
            <a:pPr algn="l">
              <a:lnSpc>
                <a:spcPct val="115000"/>
              </a:lnSpc>
            </a:pPr>
            <a:r>
              <a:rPr sz="1700" b="1">
                <a:solidFill>
                  <a:srgbClr val="F8FAFC"/>
                </a:solidFill>
                <a:latin typeface="Helvetica Neue"/>
              </a:rPr>
              <a:t>Instead of doing nothing</a:t>
            </a:r>
          </a:p>
        </p:txBody>
      </p:sp>
      <p:sp>
        <p:nvSpPr>
          <p:cNvPr id="10" name="TextBox 9"/>
          <p:cNvSpPr txBox="1"/>
          <p:nvPr/>
        </p:nvSpPr>
        <p:spPr>
          <a:xfrm>
            <a:off x="914400" y="3977639"/>
            <a:ext cx="4754880" cy="1188720"/>
          </a:xfrm>
          <a:prstGeom prst="rect">
            <a:avLst/>
          </a:prstGeom>
          <a:noFill/>
        </p:spPr>
        <p:txBody>
          <a:bodyPr wrap="square" lIns="0" rIns="0" tIns="0" bIns="0" anchor="t">
            <a:spAutoFit/>
          </a:bodyPr>
          <a:lstStyle/>
          <a:p>
            <a:pPr algn="l">
              <a:lnSpc>
                <a:spcPct val="110000"/>
              </a:lnSpc>
              <a:spcAft>
                <a:spcPts val="800"/>
              </a:spcAft>
            </a:pPr>
            <a:r>
              <a:rPr sz="1300" b="1">
                <a:solidFill>
                  <a:srgbClr val="FB7185"/>
                </a:solidFill>
                <a:latin typeface="Helvetica Neue"/>
              </a:rPr>
              <a:t>✕  </a:t>
            </a:r>
            <a:r>
              <a:rPr sz="1300" b="0">
                <a:solidFill>
                  <a:srgbClr val="94A3B8"/>
                </a:solidFill>
                <a:latin typeface="Helvetica Neue"/>
              </a:rPr>
              <a:t>L1 guesses the team; tickets bounce between queues</a:t>
            </a:r>
          </a:p>
          <a:p>
            <a:pPr algn="l">
              <a:lnSpc>
                <a:spcPct val="110000"/>
              </a:lnSpc>
              <a:spcAft>
                <a:spcPts val="800"/>
              </a:spcAft>
            </a:pPr>
            <a:r>
              <a:rPr sz="1300" b="1">
                <a:solidFill>
                  <a:srgbClr val="FB7185"/>
                </a:solidFill>
                <a:latin typeface="Helvetica Neue"/>
              </a:rPr>
              <a:t>✕  </a:t>
            </a:r>
            <a:r>
              <a:rPr sz="1300" b="0">
                <a:solidFill>
                  <a:srgbClr val="94A3B8"/>
                </a:solidFill>
                <a:latin typeface="Helvetica Neue"/>
              </a:rPr>
              <a:t>On-call spends the first part of every incident hunting for context</a:t>
            </a:r>
          </a:p>
          <a:p>
            <a:pPr algn="l">
              <a:lnSpc>
                <a:spcPct val="110000"/>
              </a:lnSpc>
            </a:pPr>
            <a:r>
              <a:rPr sz="1300" b="1">
                <a:solidFill>
                  <a:srgbClr val="FB7185"/>
                </a:solidFill>
                <a:latin typeface="Helvetica Neue"/>
              </a:rPr>
              <a:t>✕  </a:t>
            </a:r>
            <a:r>
              <a:rPr sz="1300" b="0">
                <a:solidFill>
                  <a:srgbClr val="94A3B8"/>
                </a:solidFill>
                <a:latin typeface="Helvetica Neue"/>
              </a:rPr>
              <a:t>Changes are approved without knowing what depends on them</a:t>
            </a:r>
          </a:p>
        </p:txBody>
      </p:sp>
      <p:sp>
        <p:nvSpPr>
          <p:cNvPr id="11" name="Rounded Rectangle 10"/>
          <p:cNvSpPr/>
          <p:nvPr/>
        </p:nvSpPr>
        <p:spPr>
          <a:xfrm>
            <a:off x="6217920" y="3246120"/>
            <a:ext cx="5303520" cy="201168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3502152"/>
            <a:ext cx="54864" cy="365760"/>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3474720"/>
            <a:ext cx="4754880" cy="365760"/>
          </a:xfrm>
          <a:prstGeom prst="rect">
            <a:avLst/>
          </a:prstGeom>
          <a:noFill/>
        </p:spPr>
        <p:txBody>
          <a:bodyPr wrap="square" lIns="0" rIns="0" tIns="0" bIns="0" anchor="t">
            <a:spAutoFit/>
          </a:bodyPr>
          <a:lstStyle/>
          <a:p>
            <a:pPr algn="l">
              <a:lnSpc>
                <a:spcPct val="115000"/>
              </a:lnSpc>
            </a:pPr>
            <a:r>
              <a:rPr sz="1700" b="1">
                <a:solidFill>
                  <a:srgbClr val="F8FAFC"/>
                </a:solidFill>
                <a:latin typeface="Helvetica Neue"/>
              </a:rPr>
              <a:t>Instead of an alternative</a:t>
            </a:r>
          </a:p>
        </p:txBody>
      </p:sp>
      <p:sp>
        <p:nvSpPr>
          <p:cNvPr id="14" name="TextBox 13"/>
          <p:cNvSpPr txBox="1"/>
          <p:nvPr/>
        </p:nvSpPr>
        <p:spPr>
          <a:xfrm>
            <a:off x="6492240" y="3977639"/>
            <a:ext cx="4754880" cy="1188720"/>
          </a:xfrm>
          <a:prstGeom prst="rect">
            <a:avLst/>
          </a:prstGeom>
          <a:noFill/>
        </p:spPr>
        <p:txBody>
          <a:bodyPr wrap="square" lIns="0" rIns="0" tIns="0" bIns="0" anchor="t">
            <a:spAutoFit/>
          </a:bodyPr>
          <a:lstStyle/>
          <a:p>
            <a:pPr algn="l">
              <a:lnSpc>
                <a:spcPct val="110000"/>
              </a:lnSpc>
              <a:spcAft>
                <a:spcPts val="800"/>
              </a:spcAft>
            </a:pPr>
            <a:r>
              <a:rPr sz="1300" b="1">
                <a:solidFill>
                  <a:srgbClr val="818CF8"/>
                </a:solidFill>
                <a:latin typeface="Helvetica Neue"/>
              </a:rPr>
              <a:t>ServiceNow CMDB: </a:t>
            </a:r>
            <a:r>
              <a:rPr sz="1300" b="0">
                <a:solidFill>
                  <a:srgbClr val="94A3B8"/>
                </a:solidFill>
                <a:latin typeface="Helvetica Neue"/>
              </a:rPr>
              <a:t>heavy rollout, relationships kept up by hand</a:t>
            </a:r>
          </a:p>
          <a:p>
            <a:pPr algn="l">
              <a:lnSpc>
                <a:spcPct val="110000"/>
              </a:lnSpc>
              <a:spcAft>
                <a:spcPts val="800"/>
              </a:spcAft>
            </a:pPr>
            <a:r>
              <a:rPr sz="1300" b="1">
                <a:solidFill>
                  <a:srgbClr val="818CF8"/>
                </a:solidFill>
                <a:latin typeface="Helvetica Neue"/>
              </a:rPr>
              <a:t>Developer portals: </a:t>
            </a:r>
            <a:r>
              <a:rPr sz="1300" b="0">
                <a:solidFill>
                  <a:srgbClr val="94A3B8"/>
                </a:solidFill>
                <a:latin typeface="Helvetica Neue"/>
              </a:rPr>
              <a:t>know owners, but never see a ticket</a:t>
            </a:r>
          </a:p>
          <a:p>
            <a:pPr algn="l">
              <a:lnSpc>
                <a:spcPct val="110000"/>
              </a:lnSpc>
            </a:pPr>
            <a:r>
              <a:rPr sz="1300" b="1">
                <a:solidFill>
                  <a:srgbClr val="818CF8"/>
                </a:solidFill>
                <a:latin typeface="Helvetica Neue"/>
              </a:rPr>
              <a:t>Built-in AI copilots: </a:t>
            </a:r>
            <a:r>
              <a:rPr sz="1300" b="0">
                <a:solidFill>
                  <a:srgbClr val="94A3B8"/>
                </a:solidFill>
                <a:latin typeface="Helvetica Neue"/>
              </a:rPr>
              <a:t>read ticket text, not the system behind it</a:t>
            </a:r>
          </a:p>
        </p:txBody>
      </p:sp>
      <p:sp>
        <p:nvSpPr>
          <p:cNvPr id="15" name="TextBox 14"/>
          <p:cNvSpPr txBox="1"/>
          <p:nvPr/>
        </p:nvSpPr>
        <p:spPr>
          <a:xfrm>
            <a:off x="640080" y="5440680"/>
            <a:ext cx="10881360" cy="274320"/>
          </a:xfrm>
          <a:prstGeom prst="rect">
            <a:avLst/>
          </a:prstGeom>
          <a:noFill/>
        </p:spPr>
        <p:txBody>
          <a:bodyPr wrap="square" lIns="0" rIns="0" tIns="0" bIns="0" anchor="t">
            <a:spAutoFit/>
          </a:bodyPr>
          <a:lstStyle/>
          <a:p>
            <a:pPr algn="l">
              <a:lnSpc>
                <a:spcPct val="115000"/>
              </a:lnSpc>
            </a:pPr>
            <a:r>
              <a:rPr sz="1100" b="1">
                <a:solidFill>
                  <a:srgbClr val="2DD4BF"/>
                </a:solidFill>
                <a:latin typeface="Helvetica Neue"/>
              </a:rPr>
              <a:t>CODEATLAS INSTEAD  ·  SHOWN LIVE IN THE DEMO</a:t>
            </a:r>
          </a:p>
        </p:txBody>
      </p:sp>
      <p:sp>
        <p:nvSpPr>
          <p:cNvPr id="16" name="Rounded Rectangle 15"/>
          <p:cNvSpPr/>
          <p:nvPr/>
        </p:nvSpPr>
        <p:spPr>
          <a:xfrm>
            <a:off x="640080" y="5715000"/>
            <a:ext cx="3474720" cy="502920"/>
          </a:xfrm>
          <a:prstGeom prst="roundRect">
            <a:avLst>
              <a:gd name="adj" fmla="val 6000"/>
            </a:avLst>
          </a:prstGeom>
          <a:solidFill>
            <a:srgbClr val="151E32"/>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852160"/>
            <a:ext cx="3108960" cy="274320"/>
          </a:xfrm>
          <a:prstGeom prst="rect">
            <a:avLst/>
          </a:prstGeom>
          <a:noFill/>
        </p:spPr>
        <p:txBody>
          <a:bodyPr wrap="square" lIns="0" rIns="0" tIns="0" bIns="0" anchor="t">
            <a:spAutoFit/>
          </a:bodyPr>
          <a:lstStyle/>
          <a:p>
            <a:pPr algn="l">
              <a:lnSpc>
                <a:spcPct val="115000"/>
              </a:lnSpc>
            </a:pPr>
            <a:r>
              <a:rPr sz="1200" b="1">
                <a:solidFill>
                  <a:srgbClr val="F8FAFC"/>
                </a:solidFill>
                <a:latin typeface="Helvetica Neue"/>
              </a:rPr>
              <a:t>✓  Ticket auto-routed, zero clicks</a:t>
            </a:r>
          </a:p>
        </p:txBody>
      </p:sp>
      <p:sp>
        <p:nvSpPr>
          <p:cNvPr id="18" name="Rounded Rectangle 17"/>
          <p:cNvSpPr/>
          <p:nvPr/>
        </p:nvSpPr>
        <p:spPr>
          <a:xfrm>
            <a:off x="4297680" y="5715000"/>
            <a:ext cx="3474720" cy="502920"/>
          </a:xfrm>
          <a:prstGeom prst="roundRect">
            <a:avLst>
              <a:gd name="adj" fmla="val 6000"/>
            </a:avLst>
          </a:prstGeom>
          <a:solidFill>
            <a:srgbClr val="151E32"/>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5852160"/>
            <a:ext cx="3108960" cy="274320"/>
          </a:xfrm>
          <a:prstGeom prst="rect">
            <a:avLst/>
          </a:prstGeom>
          <a:noFill/>
        </p:spPr>
        <p:txBody>
          <a:bodyPr wrap="square" lIns="0" rIns="0" tIns="0" bIns="0" anchor="t">
            <a:spAutoFit/>
          </a:bodyPr>
          <a:lstStyle/>
          <a:p>
            <a:pPr algn="l">
              <a:lnSpc>
                <a:spcPct val="115000"/>
              </a:lnSpc>
            </a:pPr>
            <a:r>
              <a:rPr sz="1200" b="1">
                <a:solidFill>
                  <a:srgbClr val="F8FAFC"/>
                </a:solidFill>
                <a:latin typeface="Helvetica Neue"/>
              </a:rPr>
              <a:t>✓  Change note shows blast radius</a:t>
            </a:r>
          </a:p>
        </p:txBody>
      </p:sp>
      <p:sp>
        <p:nvSpPr>
          <p:cNvPr id="20" name="Rounded Rectangle 19"/>
          <p:cNvSpPr/>
          <p:nvPr/>
        </p:nvSpPr>
        <p:spPr>
          <a:xfrm>
            <a:off x="7955280" y="5715000"/>
            <a:ext cx="3474720" cy="502920"/>
          </a:xfrm>
          <a:prstGeom prst="roundRect">
            <a:avLst>
              <a:gd name="adj" fmla="val 6000"/>
            </a:avLst>
          </a:prstGeom>
          <a:solidFill>
            <a:srgbClr val="151E32"/>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5852160"/>
            <a:ext cx="3108960" cy="274320"/>
          </a:xfrm>
          <a:prstGeom prst="rect">
            <a:avLst/>
          </a:prstGeom>
          <a:noFill/>
        </p:spPr>
        <p:txBody>
          <a:bodyPr wrap="square" lIns="0" rIns="0" tIns="0" bIns="0" anchor="t">
            <a:spAutoFit/>
          </a:bodyPr>
          <a:lstStyle/>
          <a:p>
            <a:pPr algn="l">
              <a:lnSpc>
                <a:spcPct val="115000"/>
              </a:lnSpc>
            </a:pPr>
            <a:r>
              <a:rPr sz="1200" b="1">
                <a:solidFill>
                  <a:srgbClr val="F8FAFC"/>
                </a:solidFill>
                <a:latin typeface="Helvetica Neue"/>
              </a:rPr>
              <a:t>✓  Every claim cites its evidence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lIns="0" rIns="0" tIns="0" bIns="0" anchor="t">
            <a:spAutoFit/>
          </a:bodyPr>
          <a:lstStyle/>
          <a:p>
            <a:pPr algn="l">
              <a:lnSpc>
                <a:spcPct val="115000"/>
              </a:lnSpc>
            </a:pPr>
            <a:r>
              <a:rPr sz="1200" b="1">
                <a:solidFill>
                  <a:srgbClr val="2DD4BF"/>
                </a:solidFill>
                <a:latin typeface="Helvetica Neue"/>
              </a:rPr>
              <a:t>PRICING · GO-TO-MARKET · COST</a:t>
            </a:r>
          </a:p>
        </p:txBody>
      </p:sp>
      <p:sp>
        <p:nvSpPr>
          <p:cNvPr id="3" name="TextBox 2"/>
          <p:cNvSpPr txBox="1"/>
          <p:nvPr/>
        </p:nvSpPr>
        <p:spPr>
          <a:xfrm>
            <a:off x="640080" y="777240"/>
            <a:ext cx="10972800" cy="822960"/>
          </a:xfrm>
          <a:prstGeom prst="rect">
            <a:avLst/>
          </a:prstGeom>
          <a:noFill/>
        </p:spPr>
        <p:txBody>
          <a:bodyPr wrap="square" lIns="0" rIns="0" tIns="0" bIns="0" anchor="t">
            <a:spAutoFit/>
          </a:bodyPr>
          <a:lstStyle/>
          <a:p>
            <a:pPr algn="l">
              <a:lnSpc>
                <a:spcPct val="115000"/>
              </a:lnSpc>
            </a:pPr>
            <a:r>
              <a:rPr sz="3200" b="1">
                <a:solidFill>
                  <a:srgbClr val="F8FAFC"/>
                </a:solidFill>
                <a:latin typeface="Helvetica Neue"/>
              </a:rPr>
              <a:t>Business model</a:t>
            </a:r>
          </a:p>
        </p:txBody>
      </p:sp>
      <p:sp>
        <p:nvSpPr>
          <p:cNvPr id="4" name="TextBox 3"/>
          <p:cNvSpPr txBox="1"/>
          <p:nvPr/>
        </p:nvSpPr>
        <p:spPr>
          <a:xfrm>
            <a:off x="9235440" y="6400800"/>
            <a:ext cx="2377440" cy="274320"/>
          </a:xfrm>
          <a:prstGeom prst="rect">
            <a:avLst/>
          </a:prstGeom>
          <a:noFill/>
        </p:spPr>
        <p:txBody>
          <a:bodyPr wrap="square" lIns="0" rIns="0" tIns="0" bIns="0" anchor="t">
            <a:spAutoFit/>
          </a:bodyPr>
          <a:lstStyle/>
          <a:p>
            <a:pPr algn="r">
              <a:lnSpc>
                <a:spcPct val="115000"/>
              </a:lnSpc>
            </a:pPr>
            <a:r>
              <a:rPr sz="1000" b="0">
                <a:solidFill>
                  <a:srgbClr val="94A3B8"/>
                </a:solidFill>
                <a:latin typeface="Helvetica Neue"/>
              </a:rPr>
              <a:t>CodeAtlas AI  ·  11</a:t>
            </a:r>
          </a:p>
        </p:txBody>
      </p:sp>
      <p:sp>
        <p:nvSpPr>
          <p:cNvPr id="5" name="TextBox 4"/>
          <p:cNvSpPr txBox="1"/>
          <p:nvPr/>
        </p:nvSpPr>
        <p:spPr>
          <a:xfrm>
            <a:off x="640080" y="1600200"/>
            <a:ext cx="10881360" cy="274320"/>
          </a:xfrm>
          <a:prstGeom prst="rect">
            <a:avLst/>
          </a:prstGeom>
          <a:noFill/>
        </p:spPr>
        <p:txBody>
          <a:bodyPr wrap="square" lIns="0" rIns="0" tIns="0" bIns="0" anchor="t">
            <a:spAutoFit/>
          </a:bodyPr>
          <a:lstStyle/>
          <a:p>
            <a:pPr algn="l">
              <a:lnSpc>
                <a:spcPct val="115000"/>
              </a:lnSpc>
            </a:pPr>
            <a:r>
              <a:rPr sz="1100" b="1">
                <a:solidFill>
                  <a:srgbClr val="2DD4BF"/>
                </a:solidFill>
                <a:latin typeface="Helvetica Neue"/>
              </a:rPr>
              <a:t>PRICING  ·  FRESHWORKS MARKETPLACE ADD-ON FOR FRESHSERVICE PRO &amp; ENTERPRISE</a:t>
            </a:r>
          </a:p>
        </p:txBody>
      </p:sp>
      <p:sp>
        <p:nvSpPr>
          <p:cNvPr id="6" name="Rounded Rectangle 5"/>
          <p:cNvSpPr/>
          <p:nvPr/>
        </p:nvSpPr>
        <p:spPr>
          <a:xfrm>
            <a:off x="640080" y="1874519"/>
            <a:ext cx="3474720" cy="173736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39111"/>
            <a:ext cx="3017520" cy="228600"/>
          </a:xfrm>
          <a:prstGeom prst="rect">
            <a:avLst/>
          </a:prstGeom>
          <a:noFill/>
        </p:spPr>
        <p:txBody>
          <a:bodyPr wrap="square" lIns="0" rIns="0" tIns="0" bIns="0" anchor="t">
            <a:spAutoFit/>
          </a:bodyPr>
          <a:lstStyle/>
          <a:p>
            <a:pPr algn="l">
              <a:lnSpc>
                <a:spcPct val="115000"/>
              </a:lnSpc>
            </a:pPr>
            <a:r>
              <a:rPr sz="1100" b="1">
                <a:solidFill>
                  <a:srgbClr val="94A3B8"/>
                </a:solidFill>
                <a:latin typeface="Helvetica Neue"/>
              </a:rPr>
              <a:t>FREE</a:t>
            </a:r>
          </a:p>
        </p:txBody>
      </p:sp>
      <p:sp>
        <p:nvSpPr>
          <p:cNvPr id="8" name="TextBox 7"/>
          <p:cNvSpPr txBox="1"/>
          <p:nvPr/>
        </p:nvSpPr>
        <p:spPr>
          <a:xfrm>
            <a:off x="868680" y="2258567"/>
            <a:ext cx="3017520" cy="411480"/>
          </a:xfrm>
          <a:prstGeom prst="rect">
            <a:avLst/>
          </a:prstGeom>
          <a:noFill/>
        </p:spPr>
        <p:txBody>
          <a:bodyPr wrap="square" lIns="0" rIns="0" tIns="0" bIns="0" anchor="t">
            <a:spAutoFit/>
          </a:bodyPr>
          <a:lstStyle/>
          <a:p>
            <a:pPr algn="l">
              <a:lnSpc>
                <a:spcPct val="115000"/>
              </a:lnSpc>
            </a:pPr>
            <a:r>
              <a:rPr sz="2200" b="1">
                <a:solidFill>
                  <a:srgbClr val="F8FAFC"/>
                </a:solidFill>
                <a:latin typeface="Helvetica Neue"/>
              </a:rPr>
              <a:t>Free</a:t>
            </a:r>
          </a:p>
        </p:txBody>
      </p:sp>
      <p:sp>
        <p:nvSpPr>
          <p:cNvPr id="9" name="TextBox 8"/>
          <p:cNvSpPr txBox="1"/>
          <p:nvPr/>
        </p:nvSpPr>
        <p:spPr>
          <a:xfrm>
            <a:off x="868680" y="2788919"/>
            <a:ext cx="3017520" cy="777240"/>
          </a:xfrm>
          <a:prstGeom prst="rect">
            <a:avLst/>
          </a:prstGeom>
          <a:noFill/>
        </p:spPr>
        <p:txBody>
          <a:bodyPr wrap="square" lIns="0" rIns="0" tIns="0" bIns="0" anchor="t">
            <a:spAutoFit/>
          </a:bodyPr>
          <a:lstStyle/>
          <a:p>
            <a:pPr algn="l">
              <a:lnSpc>
                <a:spcPct val="105000"/>
              </a:lnSpc>
              <a:spcAft>
                <a:spcPts val="800"/>
              </a:spcAft>
            </a:pPr>
            <a:r>
              <a:rPr sz="1200" b="1">
                <a:solidFill>
                  <a:srgbClr val="94A3B8"/>
                </a:solidFill>
                <a:latin typeface="Helvetica Neue"/>
              </a:rPr>
              <a:t>•  </a:t>
            </a:r>
            <a:r>
              <a:rPr sz="1200" b="0">
                <a:solidFill>
                  <a:srgbClr val="94A3B8"/>
                </a:solidFill>
                <a:latin typeface="Helvetica Neue"/>
              </a:rPr>
              <a:t>Knowledge graph explorer</a:t>
            </a:r>
          </a:p>
          <a:p>
            <a:pPr algn="l">
              <a:lnSpc>
                <a:spcPct val="105000"/>
              </a:lnSpc>
              <a:spcAft>
                <a:spcPts val="800"/>
              </a:spcAft>
            </a:pPr>
            <a:r>
              <a:rPr sz="1200" b="1">
                <a:solidFill>
                  <a:srgbClr val="94A3B8"/>
                </a:solidFill>
                <a:latin typeface="Helvetica Neue"/>
              </a:rPr>
              <a:t>•  </a:t>
            </a:r>
            <a:r>
              <a:rPr sz="1200" b="0">
                <a:solidFill>
                  <a:srgbClr val="94A3B8"/>
                </a:solidFill>
                <a:latin typeface="Helvetica Neue"/>
              </a:rPr>
              <a:t>Manual AI Diagnose, 25 tickets / month</a:t>
            </a:r>
          </a:p>
          <a:p>
            <a:pPr algn="l">
              <a:lnSpc>
                <a:spcPct val="105000"/>
              </a:lnSpc>
            </a:pPr>
            <a:r>
              <a:rPr sz="1200" b="1">
                <a:solidFill>
                  <a:srgbClr val="94A3B8"/>
                </a:solidFill>
                <a:latin typeface="Helvetica Neue"/>
              </a:rPr>
              <a:t>•  </a:t>
            </a:r>
            <a:r>
              <a:rPr sz="1200" b="0">
                <a:solidFill>
                  <a:srgbClr val="94A3B8"/>
                </a:solidFill>
                <a:latin typeface="Helvetica Neue"/>
              </a:rPr>
              <a:t>Gets the graph into Freshservice</a:t>
            </a:r>
          </a:p>
        </p:txBody>
      </p:sp>
      <p:sp>
        <p:nvSpPr>
          <p:cNvPr id="10" name="Rounded Rectangle 9"/>
          <p:cNvSpPr/>
          <p:nvPr/>
        </p:nvSpPr>
        <p:spPr>
          <a:xfrm>
            <a:off x="4343400" y="1874519"/>
            <a:ext cx="3474720" cy="1737360"/>
          </a:xfrm>
          <a:prstGeom prst="roundRect">
            <a:avLst>
              <a:gd name="adj" fmla="val 6000"/>
            </a:avLst>
          </a:prstGeom>
          <a:solidFill>
            <a:srgbClr val="151E32"/>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039111"/>
            <a:ext cx="3017520" cy="228600"/>
          </a:xfrm>
          <a:prstGeom prst="rect">
            <a:avLst/>
          </a:prstGeom>
          <a:noFill/>
        </p:spPr>
        <p:txBody>
          <a:bodyPr wrap="square" lIns="0" rIns="0" tIns="0" bIns="0" anchor="t">
            <a:spAutoFit/>
          </a:bodyPr>
          <a:lstStyle/>
          <a:p>
            <a:pPr algn="l">
              <a:lnSpc>
                <a:spcPct val="115000"/>
              </a:lnSpc>
            </a:pPr>
            <a:r>
              <a:rPr sz="1100" b="1">
                <a:solidFill>
                  <a:srgbClr val="2DD4BF"/>
                </a:solidFill>
                <a:latin typeface="Helvetica Neue"/>
              </a:rPr>
              <a:t>PRO</a:t>
            </a:r>
          </a:p>
        </p:txBody>
      </p:sp>
      <p:sp>
        <p:nvSpPr>
          <p:cNvPr id="12" name="TextBox 11"/>
          <p:cNvSpPr txBox="1"/>
          <p:nvPr/>
        </p:nvSpPr>
        <p:spPr>
          <a:xfrm>
            <a:off x="4572000" y="2258567"/>
            <a:ext cx="3017520" cy="411480"/>
          </a:xfrm>
          <a:prstGeom prst="rect">
            <a:avLst/>
          </a:prstGeom>
          <a:noFill/>
        </p:spPr>
        <p:txBody>
          <a:bodyPr wrap="square" lIns="0" rIns="0" tIns="0" bIns="0" anchor="t">
            <a:spAutoFit/>
          </a:bodyPr>
          <a:lstStyle/>
          <a:p>
            <a:pPr algn="l">
              <a:lnSpc>
                <a:spcPct val="115000"/>
              </a:lnSpc>
            </a:pPr>
            <a:r>
              <a:rPr sz="2200" b="1">
                <a:solidFill>
                  <a:srgbClr val="F8FAFC"/>
                </a:solidFill>
                <a:latin typeface="Helvetica Neue"/>
              </a:rPr>
              <a:t>$8 / agent / month</a:t>
            </a:r>
          </a:p>
        </p:txBody>
      </p:sp>
      <p:sp>
        <p:nvSpPr>
          <p:cNvPr id="13" name="TextBox 12"/>
          <p:cNvSpPr txBox="1"/>
          <p:nvPr/>
        </p:nvSpPr>
        <p:spPr>
          <a:xfrm>
            <a:off x="4572000" y="2788919"/>
            <a:ext cx="3017520" cy="777240"/>
          </a:xfrm>
          <a:prstGeom prst="rect">
            <a:avLst/>
          </a:prstGeom>
          <a:noFill/>
        </p:spPr>
        <p:txBody>
          <a:bodyPr wrap="square" lIns="0" rIns="0" tIns="0" bIns="0" anchor="t">
            <a:spAutoFit/>
          </a:bodyPr>
          <a:lstStyle/>
          <a:p>
            <a:pPr algn="l">
              <a:lnSpc>
                <a:spcPct val="105000"/>
              </a:lnSpc>
              <a:spcAft>
                <a:spcPts val="800"/>
              </a:spcAft>
            </a:pPr>
            <a:r>
              <a:rPr sz="1200" b="1">
                <a:solidFill>
                  <a:srgbClr val="2DD4BF"/>
                </a:solidFill>
                <a:latin typeface="Helvetica Neue"/>
              </a:rPr>
              <a:t>•  </a:t>
            </a:r>
            <a:r>
              <a:rPr sz="1200" b="0">
                <a:solidFill>
                  <a:srgbClr val="94A3B8"/>
                </a:solidFill>
                <a:latin typeface="Helvetica Neue"/>
              </a:rPr>
              <a:t>Auto-diagnosis on every new ticket</a:t>
            </a:r>
          </a:p>
          <a:p>
            <a:pPr algn="l">
              <a:lnSpc>
                <a:spcPct val="105000"/>
              </a:lnSpc>
              <a:spcAft>
                <a:spcPts val="800"/>
              </a:spcAft>
            </a:pPr>
            <a:r>
              <a:rPr sz="1200" b="1">
                <a:solidFill>
                  <a:srgbClr val="2DD4BF"/>
                </a:solidFill>
                <a:latin typeface="Helvetica Neue"/>
              </a:rPr>
              <a:t>•  </a:t>
            </a:r>
            <a:r>
              <a:rPr sz="1200" b="0">
                <a:solidFill>
                  <a:srgbClr val="94A3B8"/>
                </a:solidFill>
                <a:latin typeface="Helvetica Neue"/>
              </a:rPr>
              <a:t>Auto-routing to the right group</a:t>
            </a:r>
          </a:p>
          <a:p>
            <a:pPr algn="l">
              <a:lnSpc>
                <a:spcPct val="105000"/>
              </a:lnSpc>
            </a:pPr>
            <a:r>
              <a:rPr sz="1200" b="1">
                <a:solidFill>
                  <a:srgbClr val="2DD4BF"/>
                </a:solidFill>
                <a:latin typeface="Helvetica Neue"/>
              </a:rPr>
              <a:t>•  </a:t>
            </a:r>
            <a:r>
              <a:rPr sz="1200" b="0">
                <a:solidFill>
                  <a:srgbClr val="94A3B8"/>
                </a:solidFill>
                <a:latin typeface="Helvetica Neue"/>
              </a:rPr>
              <a:t>30-day free trial</a:t>
            </a:r>
          </a:p>
        </p:txBody>
      </p:sp>
      <p:sp>
        <p:nvSpPr>
          <p:cNvPr id="14" name="Rounded Rectangle 13"/>
          <p:cNvSpPr/>
          <p:nvPr/>
        </p:nvSpPr>
        <p:spPr>
          <a:xfrm>
            <a:off x="8046720" y="1874519"/>
            <a:ext cx="3474720" cy="1737360"/>
          </a:xfrm>
          <a:prstGeom prst="roundRect">
            <a:avLst>
              <a:gd name="adj" fmla="val 6000"/>
            </a:avLst>
          </a:prstGeom>
          <a:solidFill>
            <a:srgbClr val="151E32"/>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039111"/>
            <a:ext cx="3017520" cy="228600"/>
          </a:xfrm>
          <a:prstGeom prst="rect">
            <a:avLst/>
          </a:prstGeom>
          <a:noFill/>
        </p:spPr>
        <p:txBody>
          <a:bodyPr wrap="square" lIns="0" rIns="0" tIns="0" bIns="0" anchor="t">
            <a:spAutoFit/>
          </a:bodyPr>
          <a:lstStyle/>
          <a:p>
            <a:pPr algn="l">
              <a:lnSpc>
                <a:spcPct val="115000"/>
              </a:lnSpc>
            </a:pPr>
            <a:r>
              <a:rPr sz="1100" b="1">
                <a:solidFill>
                  <a:srgbClr val="FBBF24"/>
                </a:solidFill>
                <a:latin typeface="Helvetica Neue"/>
              </a:rPr>
              <a:t>ENTERPRISE  ·  LATER</a:t>
            </a:r>
          </a:p>
        </p:txBody>
      </p:sp>
      <p:sp>
        <p:nvSpPr>
          <p:cNvPr id="16" name="TextBox 15"/>
          <p:cNvSpPr txBox="1"/>
          <p:nvPr/>
        </p:nvSpPr>
        <p:spPr>
          <a:xfrm>
            <a:off x="8275320" y="2258567"/>
            <a:ext cx="3017520" cy="411480"/>
          </a:xfrm>
          <a:prstGeom prst="rect">
            <a:avLst/>
          </a:prstGeom>
          <a:noFill/>
        </p:spPr>
        <p:txBody>
          <a:bodyPr wrap="square" lIns="0" rIns="0" tIns="0" bIns="0" anchor="t">
            <a:spAutoFit/>
          </a:bodyPr>
          <a:lstStyle/>
          <a:p>
            <a:pPr algn="l">
              <a:lnSpc>
                <a:spcPct val="115000"/>
              </a:lnSpc>
            </a:pPr>
            <a:r>
              <a:rPr sz="2200" b="1">
                <a:solidFill>
                  <a:srgbClr val="F8FAFC"/>
                </a:solidFill>
                <a:latin typeface="Helvetica Neue"/>
              </a:rPr>
              <a:t>Custom</a:t>
            </a:r>
          </a:p>
        </p:txBody>
      </p:sp>
      <p:sp>
        <p:nvSpPr>
          <p:cNvPr id="17" name="TextBox 16"/>
          <p:cNvSpPr txBox="1"/>
          <p:nvPr/>
        </p:nvSpPr>
        <p:spPr>
          <a:xfrm>
            <a:off x="8275320" y="2788919"/>
            <a:ext cx="3017520" cy="777240"/>
          </a:xfrm>
          <a:prstGeom prst="rect">
            <a:avLst/>
          </a:prstGeom>
          <a:noFill/>
        </p:spPr>
        <p:txBody>
          <a:bodyPr wrap="square" lIns="0" rIns="0" tIns="0" bIns="0" anchor="t">
            <a:spAutoFit/>
          </a:bodyPr>
          <a:lstStyle/>
          <a:p>
            <a:pPr algn="l">
              <a:lnSpc>
                <a:spcPct val="105000"/>
              </a:lnSpc>
              <a:spcAft>
                <a:spcPts val="800"/>
              </a:spcAft>
            </a:pPr>
            <a:r>
              <a:rPr sz="1200" b="1">
                <a:solidFill>
                  <a:srgbClr val="FBBF24"/>
                </a:solidFill>
                <a:latin typeface="Helvetica Neue"/>
              </a:rPr>
              <a:t>•  </a:t>
            </a:r>
            <a:r>
              <a:rPr sz="1200" b="0">
                <a:solidFill>
                  <a:srgbClr val="94A3B8"/>
                </a:solidFill>
                <a:latin typeface="Helvetica Neue"/>
              </a:rPr>
              <a:t>Change blast radius &amp; CAB reviewers</a:t>
            </a:r>
          </a:p>
          <a:p>
            <a:pPr algn="l">
              <a:lnSpc>
                <a:spcPct val="105000"/>
              </a:lnSpc>
              <a:spcAft>
                <a:spcPts val="800"/>
              </a:spcAft>
            </a:pPr>
            <a:r>
              <a:rPr sz="1200" b="1">
                <a:solidFill>
                  <a:srgbClr val="FBBF24"/>
                </a:solidFill>
                <a:latin typeface="Helvetica Neue"/>
              </a:rPr>
              <a:t>•  </a:t>
            </a:r>
            <a:r>
              <a:rPr sz="1200" b="0">
                <a:solidFill>
                  <a:srgbClr val="94A3B8"/>
                </a:solidFill>
                <a:latin typeface="Helvetica Neue"/>
              </a:rPr>
              <a:t>Jira · Confluence · Slack connectors</a:t>
            </a:r>
          </a:p>
          <a:p>
            <a:pPr algn="l">
              <a:lnSpc>
                <a:spcPct val="105000"/>
              </a:lnSpc>
            </a:pPr>
            <a:r>
              <a:rPr sz="1200" b="1">
                <a:solidFill>
                  <a:srgbClr val="FBBF24"/>
                </a:solidFill>
                <a:latin typeface="Helvetica Neue"/>
              </a:rPr>
              <a:t>•  </a:t>
            </a:r>
            <a:r>
              <a:rPr sz="1200" b="0">
                <a:solidFill>
                  <a:srgbClr val="94A3B8"/>
                </a:solidFill>
                <a:latin typeface="Helvetica Neue"/>
              </a:rPr>
              <a:t>CMDB sync on eligible plans</a:t>
            </a:r>
          </a:p>
        </p:txBody>
      </p:sp>
      <p:sp>
        <p:nvSpPr>
          <p:cNvPr id="18" name="Rounded Rectangle 17"/>
          <p:cNvSpPr/>
          <p:nvPr/>
        </p:nvSpPr>
        <p:spPr>
          <a:xfrm>
            <a:off x="640080" y="3840480"/>
            <a:ext cx="6446520" cy="210312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069080"/>
            <a:ext cx="54864" cy="365760"/>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041648"/>
            <a:ext cx="5943600" cy="365760"/>
          </a:xfrm>
          <a:prstGeom prst="rect">
            <a:avLst/>
          </a:prstGeom>
          <a:noFill/>
        </p:spPr>
        <p:txBody>
          <a:bodyPr wrap="square" lIns="0" rIns="0" tIns="0" bIns="0" anchor="t">
            <a:spAutoFit/>
          </a:bodyPr>
          <a:lstStyle/>
          <a:p>
            <a:pPr algn="l">
              <a:lnSpc>
                <a:spcPct val="115000"/>
              </a:lnSpc>
            </a:pPr>
            <a:r>
              <a:rPr sz="1600" b="1">
                <a:solidFill>
                  <a:srgbClr val="F8FAFC"/>
                </a:solidFill>
                <a:latin typeface="Helvetica Neue"/>
              </a:rPr>
              <a:t>Go-to-market: inside the Freshworks ecosystem</a:t>
            </a:r>
          </a:p>
        </p:txBody>
      </p:sp>
      <p:sp>
        <p:nvSpPr>
          <p:cNvPr id="21" name="TextBox 20"/>
          <p:cNvSpPr txBox="1"/>
          <p:nvPr/>
        </p:nvSpPr>
        <p:spPr>
          <a:xfrm>
            <a:off x="914400" y="4526280"/>
            <a:ext cx="5943600" cy="1371600"/>
          </a:xfrm>
          <a:prstGeom prst="rect">
            <a:avLst/>
          </a:prstGeom>
          <a:noFill/>
        </p:spPr>
        <p:txBody>
          <a:bodyPr wrap="square" lIns="0" rIns="0" tIns="0" bIns="0" anchor="t">
            <a:spAutoFit/>
          </a:bodyPr>
          <a:lstStyle/>
          <a:p>
            <a:pPr algn="l">
              <a:lnSpc>
                <a:spcPct val="105000"/>
              </a:lnSpc>
              <a:spcAft>
                <a:spcPts val="800"/>
              </a:spcAft>
            </a:pPr>
            <a:r>
              <a:rPr sz="1200" b="1">
                <a:solidFill>
                  <a:srgbClr val="818CF8"/>
                </a:solidFill>
                <a:latin typeface="Helvetica Neue"/>
              </a:rPr>
              <a:t>1. Discover   </a:t>
            </a:r>
            <a:r>
              <a:rPr sz="1200" b="0">
                <a:solidFill>
                  <a:srgbClr val="94A3B8"/>
                </a:solidFill>
                <a:latin typeface="Helvetica Neue"/>
              </a:rPr>
              <a:t>Marketplace listing + in-product banner for eligible admins</a:t>
            </a:r>
          </a:p>
          <a:p>
            <a:pPr algn="l">
              <a:lnSpc>
                <a:spcPct val="105000"/>
              </a:lnSpc>
              <a:spcAft>
                <a:spcPts val="800"/>
              </a:spcAft>
            </a:pPr>
            <a:r>
              <a:rPr sz="1200" b="1">
                <a:solidFill>
                  <a:srgbClr val="818CF8"/>
                </a:solidFill>
                <a:latin typeface="Helvetica Neue"/>
              </a:rPr>
              <a:t>2. Try   </a:t>
            </a:r>
            <a:r>
              <a:rPr sz="1200" b="0">
                <a:solidFill>
                  <a:srgbClr val="94A3B8"/>
                </a:solidFill>
                <a:latin typeface="Helvetica Neue"/>
              </a:rPr>
              <a:t>Connect in 5 minutes: paste API key → Sync → see your graph</a:t>
            </a:r>
          </a:p>
          <a:p>
            <a:pPr algn="l">
              <a:lnSpc>
                <a:spcPct val="105000"/>
              </a:lnSpc>
              <a:spcAft>
                <a:spcPts val="800"/>
              </a:spcAft>
            </a:pPr>
            <a:r>
              <a:rPr sz="1200" b="1">
                <a:solidFill>
                  <a:srgbClr val="818CF8"/>
                </a:solidFill>
                <a:latin typeface="Helvetica Neue"/>
              </a:rPr>
              <a:t>3. Convert   </a:t>
            </a:r>
            <a:r>
              <a:rPr sz="1200" b="0">
                <a:solidFill>
                  <a:srgbClr val="94A3B8"/>
                </a:solidFill>
                <a:latin typeface="Helvetica Neue"/>
              </a:rPr>
              <a:t>Trial email to Pro/Enterprise admins + "a ticket diagnoses itself" video</a:t>
            </a:r>
          </a:p>
          <a:p>
            <a:pPr algn="l">
              <a:lnSpc>
                <a:spcPct val="105000"/>
              </a:lnSpc>
            </a:pPr>
            <a:r>
              <a:rPr sz="1200" b="1">
                <a:solidFill>
                  <a:srgbClr val="818CF8"/>
                </a:solidFill>
                <a:latin typeface="Helvetica Neue"/>
              </a:rPr>
              <a:t>4. Prove   </a:t>
            </a:r>
            <a:r>
              <a:rPr sz="1200" b="0">
                <a:solidFill>
                  <a:srgbClr val="94A3B8"/>
                </a:solidFill>
                <a:latin typeface="Helvetica Neue"/>
              </a:rPr>
              <a:t>3–5 design partners, case studies with measured MTTR drop</a:t>
            </a:r>
          </a:p>
        </p:txBody>
      </p:sp>
      <p:sp>
        <p:nvSpPr>
          <p:cNvPr id="22" name="Rounded Rectangle 21"/>
          <p:cNvSpPr/>
          <p:nvPr/>
        </p:nvSpPr>
        <p:spPr>
          <a:xfrm>
            <a:off x="7315200" y="3840480"/>
            <a:ext cx="4206240" cy="210312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0" y="4069080"/>
            <a:ext cx="54864" cy="36576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0" y="4041648"/>
            <a:ext cx="3749039" cy="365760"/>
          </a:xfrm>
          <a:prstGeom prst="rect">
            <a:avLst/>
          </a:prstGeom>
          <a:noFill/>
        </p:spPr>
        <p:txBody>
          <a:bodyPr wrap="square" lIns="0" rIns="0" tIns="0" bIns="0" anchor="t">
            <a:spAutoFit/>
          </a:bodyPr>
          <a:lstStyle/>
          <a:p>
            <a:pPr algn="l">
              <a:lnSpc>
                <a:spcPct val="115000"/>
              </a:lnSpc>
            </a:pPr>
            <a:r>
              <a:rPr sz="1600" b="1">
                <a:solidFill>
                  <a:srgbClr val="F8FAFC"/>
                </a:solidFill>
                <a:latin typeface="Helvetica Neue"/>
              </a:rPr>
              <a:t>Cost &amp; economics</a:t>
            </a:r>
          </a:p>
        </p:txBody>
      </p:sp>
      <p:sp>
        <p:nvSpPr>
          <p:cNvPr id="25" name="TextBox 24"/>
          <p:cNvSpPr txBox="1"/>
          <p:nvPr/>
        </p:nvSpPr>
        <p:spPr>
          <a:xfrm>
            <a:off x="7589520" y="4526280"/>
            <a:ext cx="3749039" cy="1371600"/>
          </a:xfrm>
          <a:prstGeom prst="rect">
            <a:avLst/>
          </a:prstGeom>
          <a:noFill/>
        </p:spPr>
        <p:txBody>
          <a:bodyPr wrap="square" lIns="0" rIns="0" tIns="0" bIns="0" anchor="t">
            <a:spAutoFit/>
          </a:bodyPr>
          <a:lstStyle/>
          <a:p>
            <a:pPr algn="l">
              <a:lnSpc>
                <a:spcPct val="105000"/>
              </a:lnSpc>
              <a:spcAft>
                <a:spcPts val="800"/>
              </a:spcAft>
            </a:pPr>
            <a:r>
              <a:rPr sz="1200" b="1">
                <a:solidFill>
                  <a:srgbClr val="FBBF24"/>
                </a:solidFill>
                <a:latin typeface="Helvetica Neue"/>
              </a:rPr>
              <a:t>MVP  </a:t>
            </a:r>
            <a:r>
              <a:rPr sz="1200" b="0">
                <a:solidFill>
                  <a:srgbClr val="94A3B8"/>
                </a:solidFill>
                <a:latin typeface="Helvetica Neue"/>
              </a:rPr>
              <a:t>~$90–110K in ~3 months</a:t>
            </a:r>
          </a:p>
          <a:p>
            <a:pPr algn="l">
              <a:lnSpc>
                <a:spcPct val="105000"/>
              </a:lnSpc>
              <a:spcAft>
                <a:spcPts val="800"/>
              </a:spcAft>
            </a:pPr>
            <a:r>
              <a:rPr sz="1200" b="1">
                <a:solidFill>
                  <a:srgbClr val="FBBF24"/>
                </a:solidFill>
                <a:latin typeface="Helvetica Neue"/>
              </a:rPr>
              <a:t>Team  </a:t>
            </a:r>
            <a:r>
              <a:rPr sz="1200" b="0">
                <a:solidFill>
                  <a:srgbClr val="94A3B8"/>
                </a:solidFill>
                <a:latin typeface="Helvetica Neue"/>
              </a:rPr>
              <a:t>3 engineers + part-time design &amp; PM</a:t>
            </a:r>
          </a:p>
          <a:p>
            <a:pPr algn="l">
              <a:lnSpc>
                <a:spcPct val="105000"/>
              </a:lnSpc>
              <a:spcAft>
                <a:spcPts val="800"/>
              </a:spcAft>
            </a:pPr>
            <a:r>
              <a:rPr sz="1200" b="1">
                <a:solidFill>
                  <a:srgbClr val="FBBF24"/>
                </a:solidFill>
                <a:latin typeface="Helvetica Neue"/>
              </a:rPr>
              <a:t>Scope  </a:t>
            </a:r>
            <a:r>
              <a:rPr sz="1200" b="0">
                <a:solidFill>
                  <a:srgbClr val="94A3B8"/>
                </a:solidFill>
                <a:latin typeface="Helvetica Neue"/>
              </a:rPr>
              <a:t>auth, multi-tenant, Marketplace review</a:t>
            </a:r>
          </a:p>
          <a:p>
            <a:pPr algn="l">
              <a:lnSpc>
                <a:spcPct val="105000"/>
              </a:lnSpc>
              <a:spcAft>
                <a:spcPts val="800"/>
              </a:spcAft>
            </a:pPr>
            <a:r>
              <a:rPr sz="1200" b="1">
                <a:solidFill>
                  <a:srgbClr val="FBBF24"/>
                </a:solidFill>
                <a:latin typeface="Helvetica Neue"/>
              </a:rPr>
              <a:t>Run  </a:t>
            </a:r>
            <a:r>
              <a:rPr sz="1200" b="0">
                <a:solidFill>
                  <a:srgbClr val="94A3B8"/>
                </a:solidFill>
                <a:latin typeface="Helvetica Neue"/>
              </a:rPr>
              <a:t>LLM cost in cents per diagnosis</a:t>
            </a:r>
          </a:p>
          <a:p>
            <a:pPr algn="l">
              <a:lnSpc>
                <a:spcPct val="105000"/>
              </a:lnSpc>
            </a:pPr>
            <a:r>
              <a:rPr sz="1200" b="1">
                <a:solidFill>
                  <a:srgbClr val="FBBF24"/>
                </a:solidFill>
                <a:latin typeface="Helvetica Neue"/>
              </a:rPr>
              <a:t>ARR  </a:t>
            </a:r>
            <a:r>
              <a:rPr sz="1200" b="0">
                <a:solidFill>
                  <a:srgbClr val="94A3B8"/>
                </a:solidFill>
                <a:latin typeface="Helvetica Neue"/>
              </a:rPr>
              <a:t>≈ $288K illustrative (100 × 30 × $8 × 12)</a:t>
            </a:r>
          </a:p>
        </p:txBody>
      </p:sp>
      <p:sp>
        <p:nvSpPr>
          <p:cNvPr id="26" name="Rounded Rectangle 25"/>
          <p:cNvSpPr/>
          <p:nvPr/>
        </p:nvSpPr>
        <p:spPr>
          <a:xfrm>
            <a:off x="640080" y="6053328"/>
            <a:ext cx="1371600" cy="274320"/>
          </a:xfrm>
          <a:prstGeom prst="roundRect">
            <a:avLst>
              <a:gd name="adj" fmla="val 50000"/>
            </a:avLst>
          </a:prstGeom>
          <a:solidFill>
            <a:srgbClr val="0B1120"/>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6094476"/>
            <a:ext cx="1371600" cy="228600"/>
          </a:xfrm>
          <a:prstGeom prst="rect">
            <a:avLst/>
          </a:prstGeom>
          <a:noFill/>
        </p:spPr>
        <p:txBody>
          <a:bodyPr wrap="square" lIns="0" rIns="0" tIns="0" bIns="0" anchor="t">
            <a:spAutoFit/>
          </a:bodyPr>
          <a:lstStyle/>
          <a:p>
            <a:pPr algn="ctr">
              <a:lnSpc>
                <a:spcPct val="115000"/>
              </a:lnSpc>
            </a:pPr>
            <a:r>
              <a:rPr sz="1000" b="1">
                <a:solidFill>
                  <a:srgbClr val="FBBF24"/>
                </a:solidFill>
                <a:latin typeface="Helvetica Neue"/>
              </a:rPr>
              <a:t>ASSUMPTIONS</a:t>
            </a:r>
          </a:p>
        </p:txBody>
      </p:sp>
      <p:sp>
        <p:nvSpPr>
          <p:cNvPr id="28" name="TextBox 27"/>
          <p:cNvSpPr txBox="1"/>
          <p:nvPr/>
        </p:nvSpPr>
        <p:spPr>
          <a:xfrm>
            <a:off x="2148840" y="6089904"/>
            <a:ext cx="6858000" cy="274320"/>
          </a:xfrm>
          <a:prstGeom prst="rect">
            <a:avLst/>
          </a:prstGeom>
          <a:noFill/>
        </p:spPr>
        <p:txBody>
          <a:bodyPr wrap="square" lIns="0" rIns="0" tIns="0" bIns="0" anchor="t">
            <a:spAutoFit/>
          </a:bodyPr>
          <a:lstStyle/>
          <a:p>
            <a:pPr algn="l">
              <a:lnSpc>
                <a:spcPct val="115000"/>
              </a:lnSpc>
            </a:pPr>
            <a:r>
              <a:rPr sz="1100" b="0">
                <a:solidFill>
                  <a:srgbClr val="94A3B8"/>
                </a:solidFill>
                <a:latin typeface="Helvetica Neue"/>
              </a:rPr>
              <a:t>Prices, costs and ARR are working estimates, to be validated with design partners.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lIns="0" rIns="0" tIns="0" bIns="0" anchor="t">
            <a:spAutoFit/>
          </a:bodyPr>
          <a:lstStyle/>
          <a:p>
            <a:pPr algn="l">
              <a:lnSpc>
                <a:spcPct val="115000"/>
              </a:lnSpc>
            </a:pPr>
            <a:r>
              <a:rPr sz="1200" b="1">
                <a:solidFill>
                  <a:srgbClr val="2DD4BF"/>
                </a:solidFill>
                <a:latin typeface="Helvetica Neue"/>
              </a:rPr>
              <a:t>SUCCESS METRICS · 6 MONTHS AFTER LAUNCH</a:t>
            </a:r>
          </a:p>
        </p:txBody>
      </p:sp>
      <p:sp>
        <p:nvSpPr>
          <p:cNvPr id="3" name="TextBox 2"/>
          <p:cNvSpPr txBox="1"/>
          <p:nvPr/>
        </p:nvSpPr>
        <p:spPr>
          <a:xfrm>
            <a:off x="640080" y="777240"/>
            <a:ext cx="10972800" cy="822960"/>
          </a:xfrm>
          <a:prstGeom prst="rect">
            <a:avLst/>
          </a:prstGeom>
          <a:noFill/>
        </p:spPr>
        <p:txBody>
          <a:bodyPr wrap="square" lIns="0" rIns="0" tIns="0" bIns="0" anchor="t">
            <a:spAutoFit/>
          </a:bodyPr>
          <a:lstStyle/>
          <a:p>
            <a:pPr algn="l">
              <a:lnSpc>
                <a:spcPct val="115000"/>
              </a:lnSpc>
            </a:pPr>
            <a:r>
              <a:rPr sz="3200" b="1">
                <a:solidFill>
                  <a:srgbClr val="F8FAFC"/>
                </a:solidFill>
                <a:latin typeface="Helvetica Neue"/>
              </a:rPr>
              <a:t>How we'll know it worked</a:t>
            </a:r>
          </a:p>
        </p:txBody>
      </p:sp>
      <p:sp>
        <p:nvSpPr>
          <p:cNvPr id="4" name="TextBox 3"/>
          <p:cNvSpPr txBox="1"/>
          <p:nvPr/>
        </p:nvSpPr>
        <p:spPr>
          <a:xfrm>
            <a:off x="9235440" y="6400800"/>
            <a:ext cx="2377440" cy="274320"/>
          </a:xfrm>
          <a:prstGeom prst="rect">
            <a:avLst/>
          </a:prstGeom>
          <a:noFill/>
        </p:spPr>
        <p:txBody>
          <a:bodyPr wrap="square" lIns="0" rIns="0" tIns="0" bIns="0" anchor="t">
            <a:spAutoFit/>
          </a:bodyPr>
          <a:lstStyle/>
          <a:p>
            <a:pPr algn="r">
              <a:lnSpc>
                <a:spcPct val="115000"/>
              </a:lnSpc>
            </a:pPr>
            <a:r>
              <a:rPr sz="1000" b="0">
                <a:solidFill>
                  <a:srgbClr val="94A3B8"/>
                </a:solidFill>
                <a:latin typeface="Helvetica Neue"/>
              </a:rPr>
              <a:t>CodeAtlas AI  ·  12</a:t>
            </a:r>
          </a:p>
        </p:txBody>
      </p:sp>
      <p:sp>
        <p:nvSpPr>
          <p:cNvPr id="5" name="Rounded Rectangle 4"/>
          <p:cNvSpPr/>
          <p:nvPr/>
        </p:nvSpPr>
        <p:spPr>
          <a:xfrm>
            <a:off x="640080" y="2011680"/>
            <a:ext cx="2560320" cy="292608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560320"/>
            <a:ext cx="2560320" cy="914400"/>
          </a:xfrm>
          <a:prstGeom prst="rect">
            <a:avLst/>
          </a:prstGeom>
          <a:noFill/>
        </p:spPr>
        <p:txBody>
          <a:bodyPr wrap="square" lIns="0" rIns="0" tIns="0" bIns="0" anchor="t">
            <a:spAutoFit/>
          </a:bodyPr>
          <a:lstStyle/>
          <a:p>
            <a:pPr algn="ctr">
              <a:lnSpc>
                <a:spcPct val="115000"/>
              </a:lnSpc>
            </a:pPr>
            <a:r>
              <a:rPr sz="4800" b="1">
                <a:solidFill>
                  <a:srgbClr val="2DD4BF"/>
                </a:solidFill>
                <a:latin typeface="Helvetica Neue"/>
              </a:rPr>
              <a:t>−25%</a:t>
            </a:r>
          </a:p>
        </p:txBody>
      </p:sp>
      <p:sp>
        <p:nvSpPr>
          <p:cNvPr id="7" name="TextBox 6"/>
          <p:cNvSpPr txBox="1"/>
          <p:nvPr/>
        </p:nvSpPr>
        <p:spPr>
          <a:xfrm>
            <a:off x="868680" y="3749039"/>
            <a:ext cx="2103120" cy="914400"/>
          </a:xfrm>
          <a:prstGeom prst="rect">
            <a:avLst/>
          </a:prstGeom>
          <a:noFill/>
        </p:spPr>
        <p:txBody>
          <a:bodyPr wrap="square" lIns="0" rIns="0" tIns="0" bIns="0" anchor="t">
            <a:spAutoFit/>
          </a:bodyPr>
          <a:lstStyle/>
          <a:p>
            <a:pPr algn="ctr">
              <a:lnSpc>
                <a:spcPct val="115000"/>
              </a:lnSpc>
            </a:pPr>
            <a:r>
              <a:rPr sz="1500" b="0">
                <a:solidFill>
                  <a:srgbClr val="F8FAFC"/>
                </a:solidFill>
                <a:latin typeface="Helvetica Neue"/>
              </a:rPr>
              <a:t>MTTR on diagnosed incidents</a:t>
            </a:r>
          </a:p>
        </p:txBody>
      </p:sp>
      <p:sp>
        <p:nvSpPr>
          <p:cNvPr id="8" name="Rounded Rectangle 7"/>
          <p:cNvSpPr/>
          <p:nvPr/>
        </p:nvSpPr>
        <p:spPr>
          <a:xfrm>
            <a:off x="3410712" y="2011680"/>
            <a:ext cx="2560320" cy="292608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10712" y="2560320"/>
            <a:ext cx="2560320" cy="914400"/>
          </a:xfrm>
          <a:prstGeom prst="rect">
            <a:avLst/>
          </a:prstGeom>
          <a:noFill/>
        </p:spPr>
        <p:txBody>
          <a:bodyPr wrap="square" lIns="0" rIns="0" tIns="0" bIns="0" anchor="t">
            <a:spAutoFit/>
          </a:bodyPr>
          <a:lstStyle/>
          <a:p>
            <a:pPr algn="ctr">
              <a:lnSpc>
                <a:spcPct val="115000"/>
              </a:lnSpc>
            </a:pPr>
            <a:r>
              <a:rPr sz="4800" b="1">
                <a:solidFill>
                  <a:srgbClr val="818CF8"/>
                </a:solidFill>
                <a:latin typeface="Helvetica Neue"/>
              </a:rPr>
              <a:t>≥ 80%</a:t>
            </a:r>
          </a:p>
        </p:txBody>
      </p:sp>
      <p:sp>
        <p:nvSpPr>
          <p:cNvPr id="10" name="TextBox 9"/>
          <p:cNvSpPr txBox="1"/>
          <p:nvPr/>
        </p:nvSpPr>
        <p:spPr>
          <a:xfrm>
            <a:off x="3639312" y="3749039"/>
            <a:ext cx="2103120" cy="914400"/>
          </a:xfrm>
          <a:prstGeom prst="rect">
            <a:avLst/>
          </a:prstGeom>
          <a:noFill/>
        </p:spPr>
        <p:txBody>
          <a:bodyPr wrap="square" lIns="0" rIns="0" tIns="0" bIns="0" anchor="t">
            <a:spAutoFit/>
          </a:bodyPr>
          <a:lstStyle/>
          <a:p>
            <a:pPr algn="ctr">
              <a:lnSpc>
                <a:spcPct val="115000"/>
              </a:lnSpc>
            </a:pPr>
            <a:r>
              <a:rPr sz="1500" b="0">
                <a:solidFill>
                  <a:srgbClr val="F8FAFC"/>
                </a:solidFill>
                <a:latin typeface="Helvetica Neue"/>
              </a:rPr>
              <a:t>New incidents auto-diagnosed</a:t>
            </a:r>
          </a:p>
        </p:txBody>
      </p:sp>
      <p:sp>
        <p:nvSpPr>
          <p:cNvPr id="11" name="Rounded Rectangle 10"/>
          <p:cNvSpPr/>
          <p:nvPr/>
        </p:nvSpPr>
        <p:spPr>
          <a:xfrm>
            <a:off x="6181344" y="2011680"/>
            <a:ext cx="2560320" cy="292608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1344" y="2560320"/>
            <a:ext cx="2560320" cy="914400"/>
          </a:xfrm>
          <a:prstGeom prst="rect">
            <a:avLst/>
          </a:prstGeom>
          <a:noFill/>
        </p:spPr>
        <p:txBody>
          <a:bodyPr wrap="square" lIns="0" rIns="0" tIns="0" bIns="0" anchor="t">
            <a:spAutoFit/>
          </a:bodyPr>
          <a:lstStyle/>
          <a:p>
            <a:pPr algn="ctr">
              <a:lnSpc>
                <a:spcPct val="115000"/>
              </a:lnSpc>
            </a:pPr>
            <a:r>
              <a:rPr sz="4800" b="1">
                <a:solidFill>
                  <a:srgbClr val="818CF8"/>
                </a:solidFill>
                <a:latin typeface="Helvetica Neue"/>
              </a:rPr>
              <a:t>+20%</a:t>
            </a:r>
          </a:p>
        </p:txBody>
      </p:sp>
      <p:sp>
        <p:nvSpPr>
          <p:cNvPr id="13" name="TextBox 12"/>
          <p:cNvSpPr txBox="1"/>
          <p:nvPr/>
        </p:nvSpPr>
        <p:spPr>
          <a:xfrm>
            <a:off x="6409944" y="3749039"/>
            <a:ext cx="2103120" cy="914400"/>
          </a:xfrm>
          <a:prstGeom prst="rect">
            <a:avLst/>
          </a:prstGeom>
          <a:noFill/>
        </p:spPr>
        <p:txBody>
          <a:bodyPr wrap="square" lIns="0" rIns="0" tIns="0" bIns="0" anchor="t">
            <a:spAutoFit/>
          </a:bodyPr>
          <a:lstStyle/>
          <a:p>
            <a:pPr algn="ctr">
              <a:lnSpc>
                <a:spcPct val="115000"/>
              </a:lnSpc>
            </a:pPr>
            <a:r>
              <a:rPr sz="1500" b="0">
                <a:solidFill>
                  <a:srgbClr val="F8FAFC"/>
                </a:solidFill>
                <a:latin typeface="Helvetica Neue"/>
              </a:rPr>
              <a:t>Resolved by first team routed</a:t>
            </a:r>
          </a:p>
        </p:txBody>
      </p:sp>
      <p:sp>
        <p:nvSpPr>
          <p:cNvPr id="14" name="Rounded Rectangle 13"/>
          <p:cNvSpPr/>
          <p:nvPr/>
        </p:nvSpPr>
        <p:spPr>
          <a:xfrm>
            <a:off x="8951976" y="2011680"/>
            <a:ext cx="2560320" cy="292608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51976" y="2560320"/>
            <a:ext cx="2560320" cy="914400"/>
          </a:xfrm>
          <a:prstGeom prst="rect">
            <a:avLst/>
          </a:prstGeom>
          <a:noFill/>
        </p:spPr>
        <p:txBody>
          <a:bodyPr wrap="square" lIns="0" rIns="0" tIns="0" bIns="0" anchor="t">
            <a:spAutoFit/>
          </a:bodyPr>
          <a:lstStyle/>
          <a:p>
            <a:pPr algn="ctr">
              <a:lnSpc>
                <a:spcPct val="115000"/>
              </a:lnSpc>
            </a:pPr>
            <a:r>
              <a:rPr sz="4800" b="1">
                <a:solidFill>
                  <a:srgbClr val="2DD4BF"/>
                </a:solidFill>
                <a:latin typeface="Helvetica Neue"/>
              </a:rPr>
              <a:t>≥ 20%</a:t>
            </a:r>
          </a:p>
        </p:txBody>
      </p:sp>
      <p:sp>
        <p:nvSpPr>
          <p:cNvPr id="16" name="TextBox 15"/>
          <p:cNvSpPr txBox="1"/>
          <p:nvPr/>
        </p:nvSpPr>
        <p:spPr>
          <a:xfrm>
            <a:off x="9180576" y="3749039"/>
            <a:ext cx="2103120" cy="914400"/>
          </a:xfrm>
          <a:prstGeom prst="rect">
            <a:avLst/>
          </a:prstGeom>
          <a:noFill/>
        </p:spPr>
        <p:txBody>
          <a:bodyPr wrap="square" lIns="0" rIns="0" tIns="0" bIns="0" anchor="t">
            <a:spAutoFit/>
          </a:bodyPr>
          <a:lstStyle/>
          <a:p>
            <a:pPr algn="ctr">
              <a:lnSpc>
                <a:spcPct val="115000"/>
              </a:lnSpc>
            </a:pPr>
            <a:r>
              <a:rPr sz="1500" b="0">
                <a:solidFill>
                  <a:srgbClr val="F8FAFC"/>
                </a:solidFill>
                <a:latin typeface="Helvetica Neue"/>
              </a:rPr>
              <a:t>Trial → paid conversion</a:t>
            </a:r>
          </a:p>
        </p:txBody>
      </p:sp>
      <p:sp>
        <p:nvSpPr>
          <p:cNvPr id="17" name="Rounded Rectangle 16"/>
          <p:cNvSpPr/>
          <p:nvPr/>
        </p:nvSpPr>
        <p:spPr>
          <a:xfrm>
            <a:off x="640080" y="5394960"/>
            <a:ext cx="1097280" cy="274320"/>
          </a:xfrm>
          <a:prstGeom prst="roundRect">
            <a:avLst>
              <a:gd name="adj" fmla="val 50000"/>
            </a:avLst>
          </a:prstGeom>
          <a:solidFill>
            <a:srgbClr val="0B1120"/>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436108"/>
            <a:ext cx="1097280" cy="228600"/>
          </a:xfrm>
          <a:prstGeom prst="rect">
            <a:avLst/>
          </a:prstGeom>
          <a:noFill/>
        </p:spPr>
        <p:txBody>
          <a:bodyPr wrap="square" lIns="0" rIns="0" tIns="0" bIns="0" anchor="t">
            <a:spAutoFit/>
          </a:bodyPr>
          <a:lstStyle/>
          <a:p>
            <a:pPr algn="ctr">
              <a:lnSpc>
                <a:spcPct val="115000"/>
              </a:lnSpc>
            </a:pPr>
            <a:r>
              <a:rPr sz="1000" b="1">
                <a:solidFill>
                  <a:srgbClr val="FBBF24"/>
                </a:solidFill>
                <a:latin typeface="Helvetica Neue"/>
              </a:rPr>
              <a:t>TARGETS</a:t>
            </a:r>
          </a:p>
        </p:txBody>
      </p:sp>
      <p:sp>
        <p:nvSpPr>
          <p:cNvPr id="19" name="TextBox 18"/>
          <p:cNvSpPr txBox="1"/>
          <p:nvPr/>
        </p:nvSpPr>
        <p:spPr>
          <a:xfrm>
            <a:off x="1874519" y="5431536"/>
            <a:ext cx="9144000" cy="320040"/>
          </a:xfrm>
          <a:prstGeom prst="rect">
            <a:avLst/>
          </a:prstGeom>
          <a:noFill/>
        </p:spPr>
        <p:txBody>
          <a:bodyPr wrap="square" lIns="0" rIns="0" tIns="0" bIns="0" anchor="t">
            <a:spAutoFit/>
          </a:bodyPr>
          <a:lstStyle/>
          <a:p>
            <a:pPr algn="l">
              <a:lnSpc>
                <a:spcPct val="115000"/>
              </a:lnSpc>
            </a:pPr>
            <a:r>
              <a:rPr sz="1200" b="0">
                <a:solidFill>
                  <a:srgbClr val="94A3B8"/>
                </a:solidFill>
                <a:latin typeface="Helvetica Neue"/>
              </a:rPr>
              <a:t>Targets are assumptions; baseline measured on non-diagnosed incidents.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lIns="0" rIns="0" tIns="0" bIns="0" anchor="t">
            <a:spAutoFit/>
          </a:bodyPr>
          <a:lstStyle/>
          <a:p>
            <a:pPr algn="l">
              <a:lnSpc>
                <a:spcPct val="115000"/>
              </a:lnSpc>
            </a:pPr>
            <a:r>
              <a:rPr sz="1200" b="1">
                <a:solidFill>
                  <a:srgbClr val="2DD4BF"/>
                </a:solidFill>
                <a:latin typeface="Helvetica Neue"/>
              </a:rPr>
              <a:t>WHAT COULD GO WRONG · WHAT'S NEXT</a:t>
            </a:r>
          </a:p>
        </p:txBody>
      </p:sp>
      <p:sp>
        <p:nvSpPr>
          <p:cNvPr id="3" name="TextBox 2"/>
          <p:cNvSpPr txBox="1"/>
          <p:nvPr/>
        </p:nvSpPr>
        <p:spPr>
          <a:xfrm>
            <a:off x="640080" y="777240"/>
            <a:ext cx="10972800" cy="822960"/>
          </a:xfrm>
          <a:prstGeom prst="rect">
            <a:avLst/>
          </a:prstGeom>
          <a:noFill/>
        </p:spPr>
        <p:txBody>
          <a:bodyPr wrap="square" lIns="0" rIns="0" tIns="0" bIns="0" anchor="t">
            <a:spAutoFit/>
          </a:bodyPr>
          <a:lstStyle/>
          <a:p>
            <a:pPr algn="l">
              <a:lnSpc>
                <a:spcPct val="115000"/>
              </a:lnSpc>
            </a:pPr>
            <a:r>
              <a:rPr sz="3200" b="1">
                <a:solidFill>
                  <a:srgbClr val="F8FAFC"/>
                </a:solidFill>
                <a:latin typeface="Helvetica Neue"/>
              </a:rPr>
              <a:t>Risks &amp; roadmap</a:t>
            </a:r>
          </a:p>
        </p:txBody>
      </p:sp>
      <p:sp>
        <p:nvSpPr>
          <p:cNvPr id="4" name="TextBox 3"/>
          <p:cNvSpPr txBox="1"/>
          <p:nvPr/>
        </p:nvSpPr>
        <p:spPr>
          <a:xfrm>
            <a:off x="9235440" y="6400800"/>
            <a:ext cx="2377440" cy="274320"/>
          </a:xfrm>
          <a:prstGeom prst="rect">
            <a:avLst/>
          </a:prstGeom>
          <a:noFill/>
        </p:spPr>
        <p:txBody>
          <a:bodyPr wrap="square" lIns="0" rIns="0" tIns="0" bIns="0" anchor="t">
            <a:spAutoFit/>
          </a:bodyPr>
          <a:lstStyle/>
          <a:p>
            <a:pPr algn="r">
              <a:lnSpc>
                <a:spcPct val="115000"/>
              </a:lnSpc>
            </a:pPr>
            <a:r>
              <a:rPr sz="1000" b="0">
                <a:solidFill>
                  <a:srgbClr val="94A3B8"/>
                </a:solidFill>
                <a:latin typeface="Helvetica Neue"/>
              </a:rPr>
              <a:t>CodeAtlas AI  ·  13</a:t>
            </a:r>
          </a:p>
        </p:txBody>
      </p:sp>
      <p:sp>
        <p:nvSpPr>
          <p:cNvPr id="5" name="TextBox 4"/>
          <p:cNvSpPr txBox="1"/>
          <p:nvPr/>
        </p:nvSpPr>
        <p:spPr>
          <a:xfrm>
            <a:off x="640080" y="1783080"/>
            <a:ext cx="5486400" cy="365760"/>
          </a:xfrm>
          <a:prstGeom prst="rect">
            <a:avLst/>
          </a:prstGeom>
          <a:noFill/>
        </p:spPr>
        <p:txBody>
          <a:bodyPr wrap="square" lIns="0" rIns="0" tIns="0" bIns="0" anchor="t">
            <a:spAutoFit/>
          </a:bodyPr>
          <a:lstStyle/>
          <a:p>
            <a:pPr algn="l">
              <a:lnSpc>
                <a:spcPct val="115000"/>
              </a:lnSpc>
            </a:pPr>
            <a:r>
              <a:rPr sz="1200" b="1">
                <a:solidFill>
                  <a:srgbClr val="FB7185"/>
                </a:solidFill>
                <a:latin typeface="Helvetica Neue"/>
              </a:rPr>
              <a:t>RISKS  →  MITIGATION</a:t>
            </a:r>
          </a:p>
        </p:txBody>
      </p:sp>
      <p:sp>
        <p:nvSpPr>
          <p:cNvPr id="6" name="Rounded Rectangle 5"/>
          <p:cNvSpPr/>
          <p:nvPr/>
        </p:nvSpPr>
        <p:spPr>
          <a:xfrm>
            <a:off x="640080" y="2194560"/>
            <a:ext cx="6035040" cy="713232"/>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86000"/>
            <a:ext cx="5669280" cy="32004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Graph quality drives diagnosis quality</a:t>
            </a:r>
          </a:p>
        </p:txBody>
      </p:sp>
      <p:sp>
        <p:nvSpPr>
          <p:cNvPr id="8" name="TextBox 7"/>
          <p:cNvSpPr txBox="1"/>
          <p:nvPr/>
        </p:nvSpPr>
        <p:spPr>
          <a:xfrm>
            <a:off x="868680" y="2587752"/>
            <a:ext cx="5669280" cy="320040"/>
          </a:xfrm>
          <a:prstGeom prst="rect">
            <a:avLst/>
          </a:prstGeom>
          <a:noFill/>
        </p:spPr>
        <p:txBody>
          <a:bodyPr wrap="square" lIns="0" rIns="0" tIns="0" bIns="0" anchor="t">
            <a:spAutoFit/>
          </a:bodyPr>
          <a:lstStyle/>
          <a:p>
            <a:pPr algn="l">
              <a:lnSpc>
                <a:spcPct val="115000"/>
              </a:lnSpc>
            </a:pPr>
            <a:r>
              <a:rPr sz="1200" b="0">
                <a:solidFill>
                  <a:srgbClr val="94A3B8"/>
                </a:solidFill>
                <a:latin typeface="Helvetica Neue"/>
              </a:rPr>
              <a:t>Knowledge Gap agent flags missing owners, runbooks and docs</a:t>
            </a:r>
          </a:p>
        </p:txBody>
      </p:sp>
      <p:sp>
        <p:nvSpPr>
          <p:cNvPr id="9" name="Rounded Rectangle 8"/>
          <p:cNvSpPr/>
          <p:nvPr/>
        </p:nvSpPr>
        <p:spPr>
          <a:xfrm>
            <a:off x="640080" y="2999232"/>
            <a:ext cx="6035040" cy="713232"/>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090672"/>
            <a:ext cx="5669280" cy="32004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Trust &amp; privacy of ticket data</a:t>
            </a:r>
          </a:p>
        </p:txBody>
      </p:sp>
      <p:sp>
        <p:nvSpPr>
          <p:cNvPr id="11" name="TextBox 10"/>
          <p:cNvSpPr txBox="1"/>
          <p:nvPr/>
        </p:nvSpPr>
        <p:spPr>
          <a:xfrm>
            <a:off x="868680" y="3392424"/>
            <a:ext cx="5669280" cy="320040"/>
          </a:xfrm>
          <a:prstGeom prst="rect">
            <a:avLst/>
          </a:prstGeom>
          <a:noFill/>
        </p:spPr>
        <p:txBody>
          <a:bodyPr wrap="square" lIns="0" rIns="0" tIns="0" bIns="0" anchor="t">
            <a:spAutoFit/>
          </a:bodyPr>
          <a:lstStyle/>
          <a:p>
            <a:pPr algn="l">
              <a:lnSpc>
                <a:spcPct val="115000"/>
              </a:lnSpc>
            </a:pPr>
            <a:r>
              <a:rPr sz="1200" b="0">
                <a:solidFill>
                  <a:srgbClr val="94A3B8"/>
                </a:solidFill>
                <a:latin typeface="Helvetica Neue"/>
              </a:rPr>
              <a:t>Private notes only; rule-based mode needs no LLM</a:t>
            </a:r>
          </a:p>
        </p:txBody>
      </p:sp>
      <p:sp>
        <p:nvSpPr>
          <p:cNvPr id="12" name="Rounded Rectangle 11"/>
          <p:cNvSpPr/>
          <p:nvPr/>
        </p:nvSpPr>
        <p:spPr>
          <a:xfrm>
            <a:off x="640080" y="3803904"/>
            <a:ext cx="6035040" cy="713232"/>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895344"/>
            <a:ext cx="5669280" cy="32004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Willingness to pay beyond built-in AI</a:t>
            </a:r>
          </a:p>
        </p:txBody>
      </p:sp>
      <p:sp>
        <p:nvSpPr>
          <p:cNvPr id="14" name="TextBox 13"/>
          <p:cNvSpPr txBox="1"/>
          <p:nvPr/>
        </p:nvSpPr>
        <p:spPr>
          <a:xfrm>
            <a:off x="868680" y="4197096"/>
            <a:ext cx="5669280" cy="320040"/>
          </a:xfrm>
          <a:prstGeom prst="rect">
            <a:avLst/>
          </a:prstGeom>
          <a:noFill/>
        </p:spPr>
        <p:txBody>
          <a:bodyPr wrap="square" lIns="0" rIns="0" tIns="0" bIns="0" anchor="t">
            <a:spAutoFit/>
          </a:bodyPr>
          <a:lstStyle/>
          <a:p>
            <a:pPr algn="l">
              <a:lnSpc>
                <a:spcPct val="115000"/>
              </a:lnSpc>
            </a:pPr>
            <a:r>
              <a:rPr sz="1200" b="0">
                <a:solidFill>
                  <a:srgbClr val="94A3B8"/>
                </a:solidFill>
                <a:latin typeface="Helvetica Neue"/>
              </a:rPr>
              <a:t>Validate with design partners before pricing is final</a:t>
            </a:r>
          </a:p>
        </p:txBody>
      </p:sp>
      <p:sp>
        <p:nvSpPr>
          <p:cNvPr id="15" name="Rounded Rectangle 14"/>
          <p:cNvSpPr/>
          <p:nvPr/>
        </p:nvSpPr>
        <p:spPr>
          <a:xfrm>
            <a:off x="640080" y="4608576"/>
            <a:ext cx="6035040" cy="713232"/>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700016"/>
            <a:ext cx="5669280" cy="32004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Auto-routing sends a ticket to the wrong queue</a:t>
            </a:r>
          </a:p>
        </p:txBody>
      </p:sp>
      <p:sp>
        <p:nvSpPr>
          <p:cNvPr id="17" name="TextBox 16"/>
          <p:cNvSpPr txBox="1"/>
          <p:nvPr/>
        </p:nvSpPr>
        <p:spPr>
          <a:xfrm>
            <a:off x="868680" y="5001768"/>
            <a:ext cx="5669280" cy="320040"/>
          </a:xfrm>
          <a:prstGeom prst="rect">
            <a:avLst/>
          </a:prstGeom>
          <a:noFill/>
        </p:spPr>
        <p:txBody>
          <a:bodyPr wrap="square" lIns="0" rIns="0" tIns="0" bIns="0" anchor="t">
            <a:spAutoFit/>
          </a:bodyPr>
          <a:lstStyle/>
          <a:p>
            <a:pPr algn="l">
              <a:lnSpc>
                <a:spcPct val="115000"/>
              </a:lnSpc>
            </a:pPr>
            <a:r>
              <a:rPr sz="1200" b="0">
                <a:solidFill>
                  <a:srgbClr val="94A3B8"/>
                </a:solidFill>
                <a:latin typeface="Helvetica Neue"/>
              </a:rPr>
              <a:t>Only assigns unassigned tickets; reason is written in the note</a:t>
            </a:r>
          </a:p>
        </p:txBody>
      </p:sp>
      <p:sp>
        <p:nvSpPr>
          <p:cNvPr id="18" name="Rounded Rectangle 17"/>
          <p:cNvSpPr/>
          <p:nvPr/>
        </p:nvSpPr>
        <p:spPr>
          <a:xfrm>
            <a:off x="640080" y="5413248"/>
            <a:ext cx="6035040" cy="713232"/>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504688"/>
            <a:ext cx="5669280" cy="320040"/>
          </a:xfrm>
          <a:prstGeom prst="rect">
            <a:avLst/>
          </a:prstGeom>
          <a:noFill/>
        </p:spPr>
        <p:txBody>
          <a:bodyPr wrap="square" lIns="0" rIns="0" tIns="0" bIns="0" anchor="t">
            <a:spAutoFit/>
          </a:bodyPr>
          <a:lstStyle/>
          <a:p>
            <a:pPr algn="l">
              <a:lnSpc>
                <a:spcPct val="115000"/>
              </a:lnSpc>
            </a:pPr>
            <a:r>
              <a:rPr sz="1400" b="1">
                <a:solidFill>
                  <a:srgbClr val="F8FAFC"/>
                </a:solidFill>
                <a:latin typeface="Helvetica Neue"/>
              </a:rPr>
              <a:t>API rate limits &amp; plan restrictions</a:t>
            </a:r>
          </a:p>
        </p:txBody>
      </p:sp>
      <p:sp>
        <p:nvSpPr>
          <p:cNvPr id="20" name="TextBox 19"/>
          <p:cNvSpPr txBox="1"/>
          <p:nvPr/>
        </p:nvSpPr>
        <p:spPr>
          <a:xfrm>
            <a:off x="868680" y="5806440"/>
            <a:ext cx="5669280" cy="320040"/>
          </a:xfrm>
          <a:prstGeom prst="rect">
            <a:avLst/>
          </a:prstGeom>
          <a:noFill/>
        </p:spPr>
        <p:txBody>
          <a:bodyPr wrap="square" lIns="0" rIns="0" tIns="0" bIns="0" anchor="t">
            <a:spAutoFit/>
          </a:bodyPr>
          <a:lstStyle/>
          <a:p>
            <a:pPr algn="l">
              <a:lnSpc>
                <a:spcPct val="115000"/>
              </a:lnSpc>
            </a:pPr>
            <a:r>
              <a:rPr sz="1200" b="0">
                <a:solidFill>
                  <a:srgbClr val="94A3B8"/>
                </a:solidFill>
                <a:latin typeface="Helvetica Neue"/>
              </a:rPr>
              <a:t>Graceful degradation (e.g. CMDB needs higher plans)</a:t>
            </a:r>
          </a:p>
        </p:txBody>
      </p:sp>
      <p:sp>
        <p:nvSpPr>
          <p:cNvPr id="21" name="TextBox 20"/>
          <p:cNvSpPr txBox="1"/>
          <p:nvPr/>
        </p:nvSpPr>
        <p:spPr>
          <a:xfrm>
            <a:off x="7040880" y="1783080"/>
            <a:ext cx="4572000" cy="365760"/>
          </a:xfrm>
          <a:prstGeom prst="rect">
            <a:avLst/>
          </a:prstGeom>
          <a:noFill/>
        </p:spPr>
        <p:txBody>
          <a:bodyPr wrap="square" lIns="0" rIns="0" tIns="0" bIns="0" anchor="t">
            <a:spAutoFit/>
          </a:bodyPr>
          <a:lstStyle/>
          <a:p>
            <a:pPr algn="l">
              <a:lnSpc>
                <a:spcPct val="115000"/>
              </a:lnSpc>
            </a:pPr>
            <a:r>
              <a:rPr sz="1200" b="1">
                <a:solidFill>
                  <a:srgbClr val="2DD4BF"/>
                </a:solidFill>
                <a:latin typeface="Helvetica Neue"/>
              </a:rPr>
              <a:t>PHASE 2 ROADMAP</a:t>
            </a:r>
          </a:p>
        </p:txBody>
      </p:sp>
      <p:sp>
        <p:nvSpPr>
          <p:cNvPr id="22" name="Rounded Rectangle 21"/>
          <p:cNvSpPr/>
          <p:nvPr/>
        </p:nvSpPr>
        <p:spPr>
          <a:xfrm>
            <a:off x="7040880" y="2194560"/>
            <a:ext cx="4480560" cy="370332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269480" y="2496312"/>
            <a:ext cx="146304" cy="146304"/>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0" y="2423160"/>
            <a:ext cx="3749039" cy="640080"/>
          </a:xfrm>
          <a:prstGeom prst="rect">
            <a:avLst/>
          </a:prstGeom>
          <a:noFill/>
        </p:spPr>
        <p:txBody>
          <a:bodyPr wrap="square" lIns="0" rIns="0" tIns="0" bIns="0" anchor="t">
            <a:spAutoFit/>
          </a:bodyPr>
          <a:lstStyle/>
          <a:p>
            <a:pPr algn="l">
              <a:lnSpc>
                <a:spcPct val="115000"/>
              </a:lnSpc>
            </a:pPr>
            <a:r>
              <a:rPr sz="1400" b="0">
                <a:solidFill>
                  <a:srgbClr val="F8FAFC"/>
                </a:solidFill>
                <a:latin typeface="Helvetica Neue"/>
              </a:rPr>
              <a:t>Live Jira · Confluence · Slack connectors</a:t>
            </a:r>
          </a:p>
        </p:txBody>
      </p:sp>
      <p:sp>
        <p:nvSpPr>
          <p:cNvPr id="25" name="Oval 24"/>
          <p:cNvSpPr/>
          <p:nvPr/>
        </p:nvSpPr>
        <p:spPr>
          <a:xfrm>
            <a:off x="7269480" y="3182112"/>
            <a:ext cx="146304" cy="146304"/>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0" y="3108960"/>
            <a:ext cx="3749039" cy="640080"/>
          </a:xfrm>
          <a:prstGeom prst="rect">
            <a:avLst/>
          </a:prstGeom>
          <a:noFill/>
        </p:spPr>
        <p:txBody>
          <a:bodyPr wrap="square" lIns="0" rIns="0" tIns="0" bIns="0" anchor="t">
            <a:spAutoFit/>
          </a:bodyPr>
          <a:lstStyle/>
          <a:p>
            <a:pPr algn="l">
              <a:lnSpc>
                <a:spcPct val="115000"/>
              </a:lnSpc>
            </a:pPr>
            <a:r>
              <a:rPr sz="1400" b="0">
                <a:solidFill>
                  <a:srgbClr val="F8FAFC"/>
                </a:solidFill>
                <a:latin typeface="Helvetica Neue"/>
              </a:rPr>
              <a:t>Freshdesk: link customer tickets to engineering incidents</a:t>
            </a:r>
          </a:p>
        </p:txBody>
      </p:sp>
      <p:sp>
        <p:nvSpPr>
          <p:cNvPr id="27" name="Oval 26"/>
          <p:cNvSpPr/>
          <p:nvPr/>
        </p:nvSpPr>
        <p:spPr>
          <a:xfrm>
            <a:off x="7269480" y="3867912"/>
            <a:ext cx="146304" cy="146304"/>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0" y="3794760"/>
            <a:ext cx="3749039" cy="640080"/>
          </a:xfrm>
          <a:prstGeom prst="rect">
            <a:avLst/>
          </a:prstGeom>
          <a:noFill/>
        </p:spPr>
        <p:txBody>
          <a:bodyPr wrap="square" lIns="0" rIns="0" tIns="0" bIns="0" anchor="t">
            <a:spAutoFit/>
          </a:bodyPr>
          <a:lstStyle/>
          <a:p>
            <a:pPr algn="l">
              <a:lnSpc>
                <a:spcPct val="115000"/>
              </a:lnSpc>
            </a:pPr>
            <a:r>
              <a:rPr sz="1400" b="0">
                <a:solidFill>
                  <a:srgbClr val="F8FAFC"/>
                </a:solidFill>
                <a:latin typeface="Helvetica Neue"/>
              </a:rPr>
              <a:t>Native FDK sidebar app on tickets &amp; changes</a:t>
            </a:r>
          </a:p>
        </p:txBody>
      </p:sp>
      <p:sp>
        <p:nvSpPr>
          <p:cNvPr id="29" name="Oval 28"/>
          <p:cNvSpPr/>
          <p:nvPr/>
        </p:nvSpPr>
        <p:spPr>
          <a:xfrm>
            <a:off x="7269480" y="4553712"/>
            <a:ext cx="146304" cy="146304"/>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0" y="4480560"/>
            <a:ext cx="3749039" cy="640080"/>
          </a:xfrm>
          <a:prstGeom prst="rect">
            <a:avLst/>
          </a:prstGeom>
          <a:noFill/>
        </p:spPr>
        <p:txBody>
          <a:bodyPr wrap="square" lIns="0" rIns="0" tIns="0" bIns="0" anchor="t">
            <a:spAutoFit/>
          </a:bodyPr>
          <a:lstStyle/>
          <a:p>
            <a:pPr algn="l">
              <a:lnSpc>
                <a:spcPct val="115000"/>
              </a:lnSpc>
            </a:pPr>
            <a:r>
              <a:rPr sz="1400" b="0">
                <a:solidFill>
                  <a:srgbClr val="F8FAFC"/>
                </a:solidFill>
                <a:latin typeface="Helvetica Neue"/>
              </a:rPr>
              <a:t>CMDB sync · Problems from recurring incidents · on-call aware escalation</a:t>
            </a:r>
          </a:p>
        </p:txBody>
      </p:sp>
      <p:sp>
        <p:nvSpPr>
          <p:cNvPr id="31" name="Oval 30"/>
          <p:cNvSpPr/>
          <p:nvPr/>
        </p:nvSpPr>
        <p:spPr>
          <a:xfrm>
            <a:off x="7269480" y="5239512"/>
            <a:ext cx="146304" cy="146304"/>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89520" y="5166360"/>
            <a:ext cx="3749039" cy="640080"/>
          </a:xfrm>
          <a:prstGeom prst="rect">
            <a:avLst/>
          </a:prstGeom>
          <a:noFill/>
        </p:spPr>
        <p:txBody>
          <a:bodyPr wrap="square" lIns="0" rIns="0" tIns="0" bIns="0" anchor="t">
            <a:spAutoFit/>
          </a:bodyPr>
          <a:lstStyle/>
          <a:p>
            <a:pPr algn="l">
              <a:lnSpc>
                <a:spcPct val="115000"/>
              </a:lnSpc>
            </a:pPr>
            <a:r>
              <a:rPr sz="1400" b="0">
                <a:solidFill>
                  <a:srgbClr val="F8FAFC"/>
                </a:solidFill>
                <a:latin typeface="Helvetica Neue"/>
              </a:rPr>
              <a:t>Graph learns from every resolved ticket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lIns="0" rIns="0" tIns="0" bIns="0" anchor="t">
            <a:spAutoFit/>
          </a:bodyPr>
          <a:lstStyle/>
          <a:p>
            <a:pPr algn="l">
              <a:lnSpc>
                <a:spcPct val="115000"/>
              </a:lnSpc>
            </a:pPr>
            <a:r>
              <a:rPr sz="1200" b="1">
                <a:solidFill>
                  <a:srgbClr val="2DD4BF"/>
                </a:solidFill>
                <a:latin typeface="Helvetica Neue"/>
              </a:rPr>
              <a:t>FOR REVIEWER Q&amp;A</a:t>
            </a:r>
          </a:p>
        </p:txBody>
      </p:sp>
      <p:sp>
        <p:nvSpPr>
          <p:cNvPr id="3" name="TextBox 2"/>
          <p:cNvSpPr txBox="1"/>
          <p:nvPr/>
        </p:nvSpPr>
        <p:spPr>
          <a:xfrm>
            <a:off x="640080" y="777240"/>
            <a:ext cx="10972800" cy="822960"/>
          </a:xfrm>
          <a:prstGeom prst="rect">
            <a:avLst/>
          </a:prstGeom>
          <a:noFill/>
        </p:spPr>
        <p:txBody>
          <a:bodyPr wrap="square" lIns="0" rIns="0" tIns="0" bIns="0" anchor="t">
            <a:spAutoFit/>
          </a:bodyPr>
          <a:lstStyle/>
          <a:p>
            <a:pPr algn="l">
              <a:lnSpc>
                <a:spcPct val="115000"/>
              </a:lnSpc>
            </a:pPr>
            <a:r>
              <a:rPr sz="3200" b="1">
                <a:solidFill>
                  <a:srgbClr val="F8FAFC"/>
                </a:solidFill>
                <a:latin typeface="Helvetica Neue"/>
              </a:rPr>
              <a:t>Appendix: what's built vs. planned</a:t>
            </a:r>
          </a:p>
        </p:txBody>
      </p:sp>
      <p:sp>
        <p:nvSpPr>
          <p:cNvPr id="4" name="TextBox 3"/>
          <p:cNvSpPr txBox="1"/>
          <p:nvPr/>
        </p:nvSpPr>
        <p:spPr>
          <a:xfrm>
            <a:off x="9235440" y="6400800"/>
            <a:ext cx="2377440" cy="274320"/>
          </a:xfrm>
          <a:prstGeom prst="rect">
            <a:avLst/>
          </a:prstGeom>
          <a:noFill/>
        </p:spPr>
        <p:txBody>
          <a:bodyPr wrap="square" lIns="0" rIns="0" tIns="0" bIns="0" anchor="t">
            <a:spAutoFit/>
          </a:bodyPr>
          <a:lstStyle/>
          <a:p>
            <a:pPr algn="r">
              <a:lnSpc>
                <a:spcPct val="115000"/>
              </a:lnSpc>
            </a:pPr>
            <a:r>
              <a:rPr sz="1000" b="0">
                <a:solidFill>
                  <a:srgbClr val="94A3B8"/>
                </a:solidFill>
                <a:latin typeface="Helvetica Neue"/>
              </a:rPr>
              <a:t>CodeAtlas AI  ·  14</a:t>
            </a:r>
          </a:p>
        </p:txBody>
      </p:sp>
      <p:sp>
        <p:nvSpPr>
          <p:cNvPr id="5" name="Rounded Rectangle 4"/>
          <p:cNvSpPr/>
          <p:nvPr/>
        </p:nvSpPr>
        <p:spPr>
          <a:xfrm>
            <a:off x="640080" y="1783080"/>
            <a:ext cx="10881360" cy="54864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920240"/>
            <a:ext cx="1051560" cy="274320"/>
          </a:xfrm>
          <a:prstGeom prst="roundRect">
            <a:avLst>
              <a:gd name="adj" fmla="val 50000"/>
            </a:avLst>
          </a:prstGeom>
          <a:solidFill>
            <a:srgbClr val="0B112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61388"/>
            <a:ext cx="1051560" cy="228600"/>
          </a:xfrm>
          <a:prstGeom prst="rect">
            <a:avLst/>
          </a:prstGeom>
          <a:noFill/>
        </p:spPr>
        <p:txBody>
          <a:bodyPr wrap="square" lIns="0" rIns="0" tIns="0" bIns="0" anchor="t">
            <a:spAutoFit/>
          </a:bodyPr>
          <a:lstStyle/>
          <a:p>
            <a:pPr algn="ctr">
              <a:lnSpc>
                <a:spcPct val="115000"/>
              </a:lnSpc>
            </a:pPr>
            <a:r>
              <a:rPr sz="1000" b="1">
                <a:solidFill>
                  <a:srgbClr val="2DD4BF"/>
                </a:solidFill>
                <a:latin typeface="Helvetica Neue"/>
              </a:rPr>
              <a:t>LIVE</a:t>
            </a:r>
          </a:p>
        </p:txBody>
      </p:sp>
      <p:sp>
        <p:nvSpPr>
          <p:cNvPr id="8" name="TextBox 7"/>
          <p:cNvSpPr txBox="1"/>
          <p:nvPr/>
        </p:nvSpPr>
        <p:spPr>
          <a:xfrm>
            <a:off x="2194560" y="1938528"/>
            <a:ext cx="9144000" cy="365760"/>
          </a:xfrm>
          <a:prstGeom prst="rect">
            <a:avLst/>
          </a:prstGeom>
          <a:noFill/>
        </p:spPr>
        <p:txBody>
          <a:bodyPr wrap="square" lIns="0" rIns="0" tIns="0" bIns="0" anchor="t">
            <a:spAutoFit/>
          </a:bodyPr>
          <a:lstStyle/>
          <a:p>
            <a:pPr algn="l">
              <a:lnSpc>
                <a:spcPct val="115000"/>
              </a:lnSpc>
            </a:pPr>
            <a:r>
              <a:rPr sz="1300" b="0">
                <a:solidFill>
                  <a:srgbClr val="F8FAFC"/>
                </a:solidFill>
                <a:latin typeface="Helvetica Neue"/>
              </a:rPr>
              <a:t>Freshservice tickets, groups, KB search, diagnosis notes, auto-routing, Workflow Automator (REST v2)</a:t>
            </a:r>
          </a:p>
        </p:txBody>
      </p:sp>
      <p:sp>
        <p:nvSpPr>
          <p:cNvPr id="9" name="Rounded Rectangle 8"/>
          <p:cNvSpPr/>
          <p:nvPr/>
        </p:nvSpPr>
        <p:spPr>
          <a:xfrm>
            <a:off x="640080" y="2423160"/>
            <a:ext cx="10881360" cy="54864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2560320"/>
            <a:ext cx="1051560" cy="274320"/>
          </a:xfrm>
          <a:prstGeom prst="roundRect">
            <a:avLst>
              <a:gd name="adj" fmla="val 50000"/>
            </a:avLst>
          </a:prstGeom>
          <a:solidFill>
            <a:srgbClr val="0B112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601468"/>
            <a:ext cx="1051560" cy="228600"/>
          </a:xfrm>
          <a:prstGeom prst="rect">
            <a:avLst/>
          </a:prstGeom>
          <a:noFill/>
        </p:spPr>
        <p:txBody>
          <a:bodyPr wrap="square" lIns="0" rIns="0" tIns="0" bIns="0" anchor="t">
            <a:spAutoFit/>
          </a:bodyPr>
          <a:lstStyle/>
          <a:p>
            <a:pPr algn="ctr">
              <a:lnSpc>
                <a:spcPct val="115000"/>
              </a:lnSpc>
            </a:pPr>
            <a:r>
              <a:rPr sz="1000" b="1">
                <a:solidFill>
                  <a:srgbClr val="2DD4BF"/>
                </a:solidFill>
                <a:latin typeface="Helvetica Neue"/>
              </a:rPr>
              <a:t>LIVE</a:t>
            </a:r>
          </a:p>
        </p:txBody>
      </p:sp>
      <p:sp>
        <p:nvSpPr>
          <p:cNvPr id="12" name="TextBox 11"/>
          <p:cNvSpPr txBox="1"/>
          <p:nvPr/>
        </p:nvSpPr>
        <p:spPr>
          <a:xfrm>
            <a:off x="2194560" y="2578608"/>
            <a:ext cx="9144000" cy="365760"/>
          </a:xfrm>
          <a:prstGeom prst="rect">
            <a:avLst/>
          </a:prstGeom>
          <a:noFill/>
        </p:spPr>
        <p:txBody>
          <a:bodyPr wrap="square" lIns="0" rIns="0" tIns="0" bIns="0" anchor="t">
            <a:spAutoFit/>
          </a:bodyPr>
          <a:lstStyle/>
          <a:p>
            <a:pPr algn="l">
              <a:lnSpc>
                <a:spcPct val="115000"/>
              </a:lnSpc>
            </a:pPr>
            <a:r>
              <a:rPr sz="1300" b="0">
                <a:solidFill>
                  <a:srgbClr val="F8FAFC"/>
                </a:solidFill>
                <a:latin typeface="Helvetica Neue"/>
              </a:rPr>
              <a:t>Freshservice Changes: 3-agent impact pipeline + graph blast radius posted as a change note</a:t>
            </a:r>
          </a:p>
        </p:txBody>
      </p:sp>
      <p:sp>
        <p:nvSpPr>
          <p:cNvPr id="13" name="Rounded Rectangle 12"/>
          <p:cNvSpPr/>
          <p:nvPr/>
        </p:nvSpPr>
        <p:spPr>
          <a:xfrm>
            <a:off x="640080" y="3063240"/>
            <a:ext cx="10881360" cy="54864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3200400"/>
            <a:ext cx="1051560" cy="274320"/>
          </a:xfrm>
          <a:prstGeom prst="roundRect">
            <a:avLst>
              <a:gd name="adj" fmla="val 50000"/>
            </a:avLst>
          </a:prstGeom>
          <a:solidFill>
            <a:srgbClr val="0B112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241548"/>
            <a:ext cx="1051560" cy="228600"/>
          </a:xfrm>
          <a:prstGeom prst="rect">
            <a:avLst/>
          </a:prstGeom>
          <a:noFill/>
        </p:spPr>
        <p:txBody>
          <a:bodyPr wrap="square" lIns="0" rIns="0" tIns="0" bIns="0" anchor="t">
            <a:spAutoFit/>
          </a:bodyPr>
          <a:lstStyle/>
          <a:p>
            <a:pPr algn="ctr">
              <a:lnSpc>
                <a:spcPct val="115000"/>
              </a:lnSpc>
            </a:pPr>
            <a:r>
              <a:rPr sz="1000" b="1">
                <a:solidFill>
                  <a:srgbClr val="2DD4BF"/>
                </a:solidFill>
                <a:latin typeface="Helvetica Neue"/>
              </a:rPr>
              <a:t>LIVE</a:t>
            </a:r>
          </a:p>
        </p:txBody>
      </p:sp>
      <p:sp>
        <p:nvSpPr>
          <p:cNvPr id="16" name="TextBox 15"/>
          <p:cNvSpPr txBox="1"/>
          <p:nvPr/>
        </p:nvSpPr>
        <p:spPr>
          <a:xfrm>
            <a:off x="2194560" y="3218688"/>
            <a:ext cx="9144000" cy="365760"/>
          </a:xfrm>
          <a:prstGeom prst="rect">
            <a:avLst/>
          </a:prstGeom>
          <a:noFill/>
        </p:spPr>
        <p:txBody>
          <a:bodyPr wrap="square" lIns="0" rIns="0" tIns="0" bIns="0" anchor="t">
            <a:spAutoFit/>
          </a:bodyPr>
          <a:lstStyle/>
          <a:p>
            <a:pPr algn="l">
              <a:lnSpc>
                <a:spcPct val="115000"/>
              </a:lnSpc>
            </a:pPr>
            <a:r>
              <a:rPr sz="1300" b="0">
                <a:solidFill>
                  <a:srgbClr val="F8FAFC"/>
                </a:solidFill>
                <a:latin typeface="Helvetica Neue"/>
              </a:rPr>
              <a:t>GitHub recent releases, commits, config diffs (secrets redacted) in every diagnosis</a:t>
            </a:r>
          </a:p>
        </p:txBody>
      </p:sp>
      <p:sp>
        <p:nvSpPr>
          <p:cNvPr id="17" name="Rounded Rectangle 16"/>
          <p:cNvSpPr/>
          <p:nvPr/>
        </p:nvSpPr>
        <p:spPr>
          <a:xfrm>
            <a:off x="640080" y="3703320"/>
            <a:ext cx="10881360" cy="54864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8680" y="3840480"/>
            <a:ext cx="1051560" cy="274320"/>
          </a:xfrm>
          <a:prstGeom prst="roundRect">
            <a:avLst>
              <a:gd name="adj" fmla="val 50000"/>
            </a:avLst>
          </a:prstGeom>
          <a:solidFill>
            <a:srgbClr val="0B1120"/>
          </a:solidFill>
          <a:ln w="12700">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881628"/>
            <a:ext cx="1051560" cy="228600"/>
          </a:xfrm>
          <a:prstGeom prst="rect">
            <a:avLst/>
          </a:prstGeom>
          <a:noFill/>
        </p:spPr>
        <p:txBody>
          <a:bodyPr wrap="square" lIns="0" rIns="0" tIns="0" bIns="0" anchor="t">
            <a:spAutoFit/>
          </a:bodyPr>
          <a:lstStyle/>
          <a:p>
            <a:pPr algn="ctr">
              <a:lnSpc>
                <a:spcPct val="115000"/>
              </a:lnSpc>
            </a:pPr>
            <a:r>
              <a:rPr sz="1000" b="1">
                <a:solidFill>
                  <a:srgbClr val="818CF8"/>
                </a:solidFill>
                <a:latin typeface="Helvetica Neue"/>
              </a:rPr>
              <a:t>BUILT</a:t>
            </a:r>
          </a:p>
        </p:txBody>
      </p:sp>
      <p:sp>
        <p:nvSpPr>
          <p:cNvPr id="20" name="TextBox 19"/>
          <p:cNvSpPr txBox="1"/>
          <p:nvPr/>
        </p:nvSpPr>
        <p:spPr>
          <a:xfrm>
            <a:off x="2194560" y="3858768"/>
            <a:ext cx="9144000" cy="365760"/>
          </a:xfrm>
          <a:prstGeom prst="rect">
            <a:avLst/>
          </a:prstGeom>
          <a:noFill/>
        </p:spPr>
        <p:txBody>
          <a:bodyPr wrap="square" lIns="0" rIns="0" tIns="0" bIns="0" anchor="t">
            <a:spAutoFit/>
          </a:bodyPr>
          <a:lstStyle/>
          <a:p>
            <a:pPr algn="l">
              <a:lnSpc>
                <a:spcPct val="115000"/>
              </a:lnSpc>
            </a:pPr>
            <a:r>
              <a:rPr sz="1300" b="0">
                <a:solidFill>
                  <a:srgbClr val="F8FAFC"/>
                </a:solidFill>
                <a:latin typeface="Helvetica Neue"/>
              </a:rPr>
              <a:t>Neo4j graph (+ in-memory fallback), vector search, 8 agents, orchestrator, explainability, repo/ZIP intake</a:t>
            </a:r>
          </a:p>
        </p:txBody>
      </p:sp>
      <p:sp>
        <p:nvSpPr>
          <p:cNvPr id="21" name="Rounded Rectangle 20"/>
          <p:cNvSpPr/>
          <p:nvPr/>
        </p:nvSpPr>
        <p:spPr>
          <a:xfrm>
            <a:off x="640080" y="4343400"/>
            <a:ext cx="10881360" cy="54864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68680" y="4480560"/>
            <a:ext cx="1051560" cy="274320"/>
          </a:xfrm>
          <a:prstGeom prst="roundRect">
            <a:avLst>
              <a:gd name="adj" fmla="val 50000"/>
            </a:avLst>
          </a:prstGeom>
          <a:solidFill>
            <a:srgbClr val="0B1120"/>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521708"/>
            <a:ext cx="1051560" cy="228600"/>
          </a:xfrm>
          <a:prstGeom prst="rect">
            <a:avLst/>
          </a:prstGeom>
          <a:noFill/>
        </p:spPr>
        <p:txBody>
          <a:bodyPr wrap="square" lIns="0" rIns="0" tIns="0" bIns="0" anchor="t">
            <a:spAutoFit/>
          </a:bodyPr>
          <a:lstStyle/>
          <a:p>
            <a:pPr algn="ctr">
              <a:lnSpc>
                <a:spcPct val="115000"/>
              </a:lnSpc>
            </a:pPr>
            <a:r>
              <a:rPr sz="1000" b="1">
                <a:solidFill>
                  <a:srgbClr val="FBBF24"/>
                </a:solidFill>
                <a:latin typeface="Helvetica Neue"/>
              </a:rPr>
              <a:t>MOCKED</a:t>
            </a:r>
          </a:p>
        </p:txBody>
      </p:sp>
      <p:sp>
        <p:nvSpPr>
          <p:cNvPr id="24" name="TextBox 23"/>
          <p:cNvSpPr txBox="1"/>
          <p:nvPr/>
        </p:nvSpPr>
        <p:spPr>
          <a:xfrm>
            <a:off x="2194560" y="4498848"/>
            <a:ext cx="9144000" cy="365760"/>
          </a:xfrm>
          <a:prstGeom prst="rect">
            <a:avLst/>
          </a:prstGeom>
          <a:noFill/>
        </p:spPr>
        <p:txBody>
          <a:bodyPr wrap="square" lIns="0" rIns="0" tIns="0" bIns="0" anchor="t">
            <a:spAutoFit/>
          </a:bodyPr>
          <a:lstStyle/>
          <a:p>
            <a:pPr algn="l">
              <a:lnSpc>
                <a:spcPct val="115000"/>
              </a:lnSpc>
            </a:pPr>
            <a:r>
              <a:rPr sz="1300" b="0">
                <a:solidFill>
                  <a:srgbClr val="F8FAFC"/>
                </a:solidFill>
                <a:latin typeface="Helvetica Neue"/>
              </a:rPr>
              <a:t>Jira, Confluence, Slack, Freshdesk connectors (same adapter interface)</a:t>
            </a:r>
          </a:p>
        </p:txBody>
      </p:sp>
      <p:sp>
        <p:nvSpPr>
          <p:cNvPr id="25" name="Rounded Rectangle 24"/>
          <p:cNvSpPr/>
          <p:nvPr/>
        </p:nvSpPr>
        <p:spPr>
          <a:xfrm>
            <a:off x="640080" y="4983480"/>
            <a:ext cx="10881360" cy="54864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68680" y="5120640"/>
            <a:ext cx="1051560" cy="274320"/>
          </a:xfrm>
          <a:prstGeom prst="roundRect">
            <a:avLst>
              <a:gd name="adj" fmla="val 50000"/>
            </a:avLst>
          </a:prstGeom>
          <a:solidFill>
            <a:srgbClr val="0B1120"/>
          </a:solidFill>
          <a:ln w="12700">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161788"/>
            <a:ext cx="1051560" cy="228600"/>
          </a:xfrm>
          <a:prstGeom prst="rect">
            <a:avLst/>
          </a:prstGeom>
          <a:noFill/>
        </p:spPr>
        <p:txBody>
          <a:bodyPr wrap="square" lIns="0" rIns="0" tIns="0" bIns="0" anchor="t">
            <a:spAutoFit/>
          </a:bodyPr>
          <a:lstStyle/>
          <a:p>
            <a:pPr algn="ctr">
              <a:lnSpc>
                <a:spcPct val="115000"/>
              </a:lnSpc>
            </a:pPr>
            <a:r>
              <a:rPr sz="1000" b="1">
                <a:solidFill>
                  <a:srgbClr val="FB7185"/>
                </a:solidFill>
                <a:latin typeface="Helvetica Neue"/>
              </a:rPr>
              <a:t>BLOCKED</a:t>
            </a:r>
          </a:p>
        </p:txBody>
      </p:sp>
      <p:sp>
        <p:nvSpPr>
          <p:cNvPr id="28" name="TextBox 27"/>
          <p:cNvSpPr txBox="1"/>
          <p:nvPr/>
        </p:nvSpPr>
        <p:spPr>
          <a:xfrm>
            <a:off x="2194560" y="5138928"/>
            <a:ext cx="9144000" cy="365760"/>
          </a:xfrm>
          <a:prstGeom prst="rect">
            <a:avLst/>
          </a:prstGeom>
          <a:noFill/>
        </p:spPr>
        <p:txBody>
          <a:bodyPr wrap="square" lIns="0" rIns="0" tIns="0" bIns="0" anchor="t">
            <a:spAutoFit/>
          </a:bodyPr>
          <a:lstStyle/>
          <a:p>
            <a:pPr algn="l">
              <a:lnSpc>
                <a:spcPct val="115000"/>
              </a:lnSpc>
            </a:pPr>
            <a:r>
              <a:rPr sz="1300" b="0">
                <a:solidFill>
                  <a:srgbClr val="F8FAFC"/>
                </a:solidFill>
                <a:latin typeface="Helvetica Neue"/>
              </a:rPr>
              <a:t>Freshservice agents &amp; assets / CMDB: not available on the trial plan/role</a:t>
            </a:r>
          </a:p>
        </p:txBody>
      </p:sp>
      <p:sp>
        <p:nvSpPr>
          <p:cNvPr id="29" name="Rounded Rectangle 28"/>
          <p:cNvSpPr/>
          <p:nvPr/>
        </p:nvSpPr>
        <p:spPr>
          <a:xfrm>
            <a:off x="640080" y="5623560"/>
            <a:ext cx="10881360" cy="548640"/>
          </a:xfrm>
          <a:prstGeom prst="roundRect">
            <a:avLst>
              <a:gd name="adj" fmla="val 6000"/>
            </a:avLst>
          </a:prstGeom>
          <a:solidFill>
            <a:srgbClr val="151E32"/>
          </a:solidFill>
          <a:ln w="12700">
            <a:solidFill>
              <a:srgbClr val="2A36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68680" y="5760720"/>
            <a:ext cx="1051560" cy="274320"/>
          </a:xfrm>
          <a:prstGeom prst="roundRect">
            <a:avLst>
              <a:gd name="adj" fmla="val 50000"/>
            </a:avLst>
          </a:prstGeom>
          <a:solidFill>
            <a:srgbClr val="0B1120"/>
          </a:solidFill>
          <a:ln w="127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5801868"/>
            <a:ext cx="1051560" cy="228600"/>
          </a:xfrm>
          <a:prstGeom prst="rect">
            <a:avLst/>
          </a:prstGeom>
          <a:noFill/>
        </p:spPr>
        <p:txBody>
          <a:bodyPr wrap="square" lIns="0" rIns="0" tIns="0" bIns="0" anchor="t">
            <a:spAutoFit/>
          </a:bodyPr>
          <a:lstStyle/>
          <a:p>
            <a:pPr algn="ctr">
              <a:lnSpc>
                <a:spcPct val="115000"/>
              </a:lnSpc>
            </a:pPr>
            <a:r>
              <a:rPr sz="1000" b="1">
                <a:solidFill>
                  <a:srgbClr val="94A3B8"/>
                </a:solidFill>
                <a:latin typeface="Helvetica Neue"/>
              </a:rPr>
              <a:t>PHASE 2</a:t>
            </a:r>
          </a:p>
        </p:txBody>
      </p:sp>
      <p:sp>
        <p:nvSpPr>
          <p:cNvPr id="32" name="TextBox 31"/>
          <p:cNvSpPr txBox="1"/>
          <p:nvPr/>
        </p:nvSpPr>
        <p:spPr>
          <a:xfrm>
            <a:off x="2194560" y="5779008"/>
            <a:ext cx="9144000" cy="365760"/>
          </a:xfrm>
          <a:prstGeom prst="rect">
            <a:avLst/>
          </a:prstGeom>
          <a:noFill/>
        </p:spPr>
        <p:txBody>
          <a:bodyPr wrap="square" lIns="0" rIns="0" tIns="0" bIns="0" anchor="t">
            <a:spAutoFit/>
          </a:bodyPr>
          <a:lstStyle/>
          <a:p>
            <a:pPr algn="l">
              <a:lnSpc>
                <a:spcPct val="115000"/>
              </a:lnSpc>
            </a:pPr>
            <a:r>
              <a:rPr sz="1300" b="0">
                <a:solidFill>
                  <a:srgbClr val="F8FAFC"/>
                </a:solidFill>
                <a:latin typeface="Helvetica Neue"/>
              </a:rPr>
              <a:t>FDK sidebar app; official Freshworks MCP server wiring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