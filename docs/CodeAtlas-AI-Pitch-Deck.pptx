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one-line pitch: CodeAtlas gives every Freshservice incident the engineering context it's missing, and posts it back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real ticket from our tenant. The five questions are what every on-call engineer asks first, and today the answers live in GitHub, Jira, Confluence, Slack and people's heads.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Freshworks now ships official MCP servers and REST v2 plus workflow webhooks, so agents can act on live tickets. LLMs are cheap and accurate when grounded in a graph. And systems keep fragmenting.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Suites like ServiceNow are powerful but heavy. Developer portals know ownership but don't touch incidents. Built-in helpdesk AI only sees ticket text. Our edge: a live engineering graph plus agents acting inside Freshservice.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Freshservice tickets, groups and KB flow in through REST v2 and our MCP-style connector. They join the knowledge graph and vector store alongside repos and docs. Eight agents reason over it with graph traversal, semantic search and an LLM. The result goes back into Freshservice as a private note, triggered automatically by Workflow Automator.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http://localhost:8000. Follow the demo script in docs/TGAH-Business-Case.md. Backup: Incident Room with query 'payment gateway connection pool error'.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buyer: mid-size software companies running engineering incidents in Freshservice. Secondary: MSPs who constantly face unfamiliar client systems. The value in one line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figures are working assumptions to be validated with design partners. Pricing is a Marketplace add-on per agent; the free tier drives adoption; the demo video shows a ticket that diagnoses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MTTR is the headline metric. Coverage shows the automation is really running. Correct first escalation shows the graph's ownership data is right. Conversion shows willingness to pay.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diagnosis quality depends on graph quality, and we mitigate with the Knowledge Gap agent. Privacy: private notes and a no-LLM mode. Roadmap turns mocked connectors live and adds a native FDK sidebar and change-risk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upfront about what's mocked builds trust. Freshservice is fully live; the other connectors share the same adapter interface and are Phase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Rectangle 1"/>
          <p:cNvSpPr/>
          <p:nvPr/>
        </p:nvSpPr>
        <p:spPr>
          <a:xfrm>
            <a:off x="640080" y="2148840"/>
            <a:ext cx="109728" cy="192024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011680"/>
            <a:ext cx="10058400" cy="1097280"/>
          </a:xfrm>
          <a:prstGeom prst="rect">
            <a:avLst/>
          </a:prstGeom>
          <a:noFill/>
        </p:spPr>
        <p:txBody>
          <a:bodyPr wrap="square" lIns="0" rIns="0" tIns="0" bIns="0" anchor="t">
            <a:spAutoFit/>
          </a:bodyPr>
          <a:lstStyle/>
          <a:p>
            <a:pPr algn="l">
              <a:lnSpc>
                <a:spcPct val="115000"/>
              </a:lnSpc>
            </a:pPr>
            <a:r>
              <a:rPr sz="6000" b="1">
                <a:solidFill>
                  <a:srgbClr val="F8FAFC"/>
                </a:solidFill>
                <a:latin typeface="Helvetica Neue"/>
              </a:rPr>
              <a:t>CodeAtlas AI</a:t>
            </a:r>
          </a:p>
        </p:txBody>
      </p:sp>
      <p:sp>
        <p:nvSpPr>
          <p:cNvPr id="4" name="TextBox 3"/>
          <p:cNvSpPr txBox="1"/>
          <p:nvPr/>
        </p:nvSpPr>
        <p:spPr>
          <a:xfrm>
            <a:off x="1005840" y="3063240"/>
            <a:ext cx="10058400" cy="548640"/>
          </a:xfrm>
          <a:prstGeom prst="rect">
            <a:avLst/>
          </a:prstGeom>
          <a:noFill/>
        </p:spPr>
        <p:txBody>
          <a:bodyPr wrap="square" lIns="0" rIns="0" tIns="0" bIns="0" anchor="t">
            <a:spAutoFit/>
          </a:bodyPr>
          <a:lstStyle/>
          <a:p>
            <a:pPr algn="l">
              <a:lnSpc>
                <a:spcPct val="115000"/>
              </a:lnSpc>
            </a:pPr>
            <a:r>
              <a:rPr sz="2400" b="0">
                <a:solidFill>
                  <a:srgbClr val="818CF8"/>
                </a:solidFill>
                <a:latin typeface="Helvetica Neue"/>
              </a:rPr>
              <a:t>The Living Engineering Ontology and Knowledge Graph Platform</a:t>
            </a:r>
          </a:p>
        </p:txBody>
      </p:sp>
      <p:sp>
        <p:nvSpPr>
          <p:cNvPr id="5" name="TextBox 4"/>
          <p:cNvSpPr txBox="1"/>
          <p:nvPr/>
        </p:nvSpPr>
        <p:spPr>
          <a:xfrm>
            <a:off x="1005840" y="3657600"/>
            <a:ext cx="100584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Every Freshservice incident, diagnosed before anyone opens it.</a:t>
            </a:r>
          </a:p>
        </p:txBody>
      </p:sp>
      <p:sp>
        <p:nvSpPr>
          <p:cNvPr id="6" name="TextBox 5"/>
          <p:cNvSpPr txBox="1"/>
          <p:nvPr/>
        </p:nvSpPr>
        <p:spPr>
          <a:xfrm>
            <a:off x="1005840" y="5669280"/>
            <a:ext cx="10058400" cy="365760"/>
          </a:xfrm>
          <a:prstGeom prst="rect">
            <a:avLst/>
          </a:prstGeom>
          <a:noFill/>
        </p:spPr>
        <p:txBody>
          <a:bodyPr wrap="square" lIns="0" rIns="0" tIns="0" bIns="0" anchor="t">
            <a:spAutoFit/>
          </a:bodyPr>
          <a:lstStyle/>
          <a:p>
            <a:pPr algn="l">
              <a:lnSpc>
                <a:spcPct val="115000"/>
              </a:lnSpc>
            </a:pPr>
            <a:r>
              <a:rPr sz="1600" b="1">
                <a:solidFill>
                  <a:srgbClr val="F8FAFC"/>
                </a:solidFill>
                <a:latin typeface="Helvetica Neue"/>
              </a:rPr>
              <a:t>Pavan Kumar H</a:t>
            </a:r>
            <a:r>
              <a:rPr sz="1600" b="0">
                <a:solidFill>
                  <a:srgbClr val="94A3B8"/>
                </a:solidFill>
                <a:latin typeface="Helvetica Neue"/>
              </a:rPr>
              <a:t>   ·   The Great Agent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THE PROBLEM</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 ticket says what broke. Nobody knows why.</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2</a:t>
            </a:r>
          </a:p>
        </p:txBody>
      </p:sp>
      <p:sp>
        <p:nvSpPr>
          <p:cNvPr id="5" name="Rounded Rectangle 4"/>
          <p:cNvSpPr/>
          <p:nvPr/>
        </p:nvSpPr>
        <p:spPr>
          <a:xfrm>
            <a:off x="640080" y="1920240"/>
            <a:ext cx="512064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48840"/>
            <a:ext cx="45720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FRESHSERVICE  ·  INCIDENT #80</a:t>
            </a:r>
          </a:p>
        </p:txBody>
      </p:sp>
      <p:sp>
        <p:nvSpPr>
          <p:cNvPr id="7" name="TextBox 6"/>
          <p:cNvSpPr txBox="1"/>
          <p:nvPr/>
        </p:nvSpPr>
        <p:spPr>
          <a:xfrm>
            <a:off x="914400" y="2514600"/>
            <a:ext cx="4572000" cy="1097280"/>
          </a:xfrm>
          <a:prstGeom prst="rect">
            <a:avLst/>
          </a:prstGeom>
          <a:noFill/>
        </p:spPr>
        <p:txBody>
          <a:bodyPr wrap="square" lIns="0" rIns="0" tIns="0" bIns="0" anchor="t">
            <a:spAutoFit/>
          </a:bodyPr>
          <a:lstStyle/>
          <a:p>
            <a:pPr algn="l">
              <a:lnSpc>
                <a:spcPct val="115000"/>
              </a:lnSpc>
            </a:pPr>
            <a:r>
              <a:rPr sz="2200" b="1">
                <a:solidFill>
                  <a:srgbClr val="F8FAFC"/>
                </a:solidFill>
                <a:latin typeface="Helvetica Neue"/>
              </a:rPr>
              <a:t>Database connection pool exhausted on payment gateway</a:t>
            </a:r>
          </a:p>
        </p:txBody>
      </p:sp>
      <p:sp>
        <p:nvSpPr>
          <p:cNvPr id="8" name="Rounded Rectangle 7"/>
          <p:cNvSpPr/>
          <p:nvPr/>
        </p:nvSpPr>
        <p:spPr>
          <a:xfrm>
            <a:off x="914400" y="3703320"/>
            <a:ext cx="8229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744468"/>
            <a:ext cx="8229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OPEN</a:t>
            </a:r>
          </a:p>
        </p:txBody>
      </p:sp>
      <p:sp>
        <p:nvSpPr>
          <p:cNvPr id="10" name="Rounded Rectangle 9"/>
          <p:cNvSpPr/>
          <p:nvPr/>
        </p:nvSpPr>
        <p:spPr>
          <a:xfrm>
            <a:off x="1874519" y="3703320"/>
            <a:ext cx="12801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3744468"/>
            <a:ext cx="12801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UNASSIGNED</a:t>
            </a:r>
          </a:p>
        </p:txBody>
      </p:sp>
      <p:sp>
        <p:nvSpPr>
          <p:cNvPr id="12" name="TextBox 11"/>
          <p:cNvSpPr txBox="1"/>
          <p:nvPr/>
        </p:nvSpPr>
        <p:spPr>
          <a:xfrm>
            <a:off x="914400" y="4297680"/>
            <a:ext cx="4572000" cy="1005840"/>
          </a:xfrm>
          <a:prstGeom prst="rect">
            <a:avLst/>
          </a:prstGeom>
          <a:noFill/>
        </p:spPr>
        <p:txBody>
          <a:bodyPr wrap="square" lIns="0" rIns="0" tIns="0" bIns="0" anchor="t">
            <a:spAutoFit/>
          </a:bodyPr>
          <a:lstStyle/>
          <a:p>
            <a:pPr algn="l">
              <a:lnSpc>
                <a:spcPct val="115000"/>
              </a:lnSpc>
            </a:pPr>
            <a:r>
              <a:rPr sz="1400" b="0">
                <a:solidFill>
                  <a:srgbClr val="94A3B8"/>
                </a:solidFill>
                <a:latin typeface="Helvetica Neue"/>
              </a:rPr>
              <a:t>Knowledge is scattered across GitHub, Jira, Confluence, Slack, past tickets and tribal knowledge.</a:t>
            </a:r>
          </a:p>
        </p:txBody>
      </p:sp>
      <p:sp>
        <p:nvSpPr>
          <p:cNvPr id="13" name="Rounded Rectangle 12"/>
          <p:cNvSpPr/>
          <p:nvPr/>
        </p:nvSpPr>
        <p:spPr>
          <a:xfrm>
            <a:off x="6217920" y="192024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7568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5" name="TextBox 14"/>
          <p:cNvSpPr txBox="1"/>
          <p:nvPr/>
        </p:nvSpPr>
        <p:spPr>
          <a:xfrm>
            <a:off x="6858000" y="207568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service is this?</a:t>
            </a:r>
          </a:p>
        </p:txBody>
      </p:sp>
      <p:sp>
        <p:nvSpPr>
          <p:cNvPr id="16" name="Rounded Rectangle 15"/>
          <p:cNvSpPr/>
          <p:nvPr/>
        </p:nvSpPr>
        <p:spPr>
          <a:xfrm>
            <a:off x="6217920" y="265176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80720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8" name="TextBox 17"/>
          <p:cNvSpPr txBox="1"/>
          <p:nvPr/>
        </p:nvSpPr>
        <p:spPr>
          <a:xfrm>
            <a:off x="6858000" y="280720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Who owns it?</a:t>
            </a:r>
          </a:p>
        </p:txBody>
      </p:sp>
      <p:sp>
        <p:nvSpPr>
          <p:cNvPr id="19" name="Rounded Rectangle 18"/>
          <p:cNvSpPr/>
          <p:nvPr/>
        </p:nvSpPr>
        <p:spPr>
          <a:xfrm>
            <a:off x="6217920" y="338328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53872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1" name="TextBox 20"/>
          <p:cNvSpPr txBox="1"/>
          <p:nvPr/>
        </p:nvSpPr>
        <p:spPr>
          <a:xfrm>
            <a:off x="6858000" y="353872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What depends on it?</a:t>
            </a:r>
          </a:p>
        </p:txBody>
      </p:sp>
      <p:sp>
        <p:nvSpPr>
          <p:cNvPr id="22" name="Rounded Rectangle 21"/>
          <p:cNvSpPr/>
          <p:nvPr/>
        </p:nvSpPr>
        <p:spPr>
          <a:xfrm>
            <a:off x="6217920" y="411480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27024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4" name="TextBox 23"/>
          <p:cNvSpPr txBox="1"/>
          <p:nvPr/>
        </p:nvSpPr>
        <p:spPr>
          <a:xfrm>
            <a:off x="6858000" y="427024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Has this happened before?</a:t>
            </a:r>
          </a:p>
        </p:txBody>
      </p:sp>
      <p:sp>
        <p:nvSpPr>
          <p:cNvPr id="25" name="Rounded Rectangle 24"/>
          <p:cNvSpPr/>
          <p:nvPr/>
        </p:nvSpPr>
        <p:spPr>
          <a:xfrm>
            <a:off x="6217920" y="484632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500176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7" name="TextBox 26"/>
          <p:cNvSpPr txBox="1"/>
          <p:nvPr/>
        </p:nvSpPr>
        <p:spPr>
          <a:xfrm>
            <a:off x="6858000" y="500176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runbook do I follow?</a:t>
            </a:r>
          </a:p>
        </p:txBody>
      </p:sp>
      <p:sp>
        <p:nvSpPr>
          <p:cNvPr id="28" name="TextBox 27"/>
          <p:cNvSpPr txBox="1"/>
          <p:nvPr/>
        </p:nvSpPr>
        <p:spPr>
          <a:xfrm>
            <a:off x="640080" y="5806440"/>
            <a:ext cx="109728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The challenge isn't finding information. </a:t>
            </a:r>
            <a:r>
              <a:rPr sz="1800" b="1">
                <a:solidFill>
                  <a:srgbClr val="2DD4BF"/>
                </a:solidFill>
                <a:latin typeface="Helvetica Neue"/>
              </a:rPr>
              <a:t>It's understanding how it connects.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RATIONALE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Why now</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3</a:t>
            </a:r>
          </a:p>
        </p:txBody>
      </p:sp>
      <p:sp>
        <p:nvSpPr>
          <p:cNvPr id="5" name="Rounded Rectangle 4"/>
          <p:cNvSpPr/>
          <p:nvPr/>
        </p:nvSpPr>
        <p:spPr>
          <a:xfrm>
            <a:off x="640080"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24028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Freshworks opened the door</a:t>
            </a:r>
          </a:p>
        </p:txBody>
      </p:sp>
      <p:sp>
        <p:nvSpPr>
          <p:cNvPr id="8" name="TextBox 7"/>
          <p:cNvSpPr txBox="1"/>
          <p:nvPr/>
        </p:nvSpPr>
        <p:spPr>
          <a:xfrm>
            <a:off x="914400"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Official Freshservice &amp; Freshdesk MCP servers (Freshdesk MCP generally available Sep 2026), REST v2 and Workflow Automator webhooks let agents read and act on live tickets.</a:t>
            </a:r>
          </a:p>
        </p:txBody>
      </p:sp>
      <p:sp>
        <p:nvSpPr>
          <p:cNvPr id="9" name="Rounded Rectangle 8"/>
          <p:cNvSpPr/>
          <p:nvPr/>
        </p:nvSpPr>
        <p:spPr>
          <a:xfrm>
            <a:off x="4361688"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24028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LLMs are ready, if grounded</a:t>
            </a:r>
          </a:p>
        </p:txBody>
      </p:sp>
      <p:sp>
        <p:nvSpPr>
          <p:cNvPr id="12" name="TextBox 11"/>
          <p:cNvSpPr txBox="1"/>
          <p:nvPr/>
        </p:nvSpPr>
        <p:spPr>
          <a:xfrm>
            <a:off x="4636008"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LLM reasoning is cheap and fluent. A knowledge graph keeps it factual: answers cite real services, owners and incidents.</a:t>
            </a:r>
          </a:p>
        </p:txBody>
      </p:sp>
      <p:sp>
        <p:nvSpPr>
          <p:cNvPr id="13" name="Rounded Rectangle 12"/>
          <p:cNvSpPr/>
          <p:nvPr/>
        </p:nvSpPr>
        <p:spPr>
          <a:xfrm>
            <a:off x="8083296"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2240280"/>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6"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Systems keep fragmenting</a:t>
            </a:r>
          </a:p>
        </p:txBody>
      </p:sp>
      <p:sp>
        <p:nvSpPr>
          <p:cNvPr id="16" name="TextBox 15"/>
          <p:cNvSpPr txBox="1"/>
          <p:nvPr/>
        </p:nvSpPr>
        <p:spPr>
          <a:xfrm>
            <a:off x="8357616"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More microservices, more tools, more handoffs. Spreadsheet catalogues and tribal knowledge don't scale, and slow incidents cost revenue.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WHO ELSE SOLVES THIS</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Competitive landscape</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4</a:t>
            </a:r>
          </a:p>
        </p:txBody>
      </p:sp>
      <p:graphicFrame>
        <p:nvGraphicFramePr>
          <p:cNvPr id="5" name="Table 4"/>
          <p:cNvGraphicFramePr>
            <a:graphicFrameLocks noGrp="1"/>
          </p:cNvGraphicFramePr>
          <p:nvPr/>
        </p:nvGraphicFramePr>
        <p:xfrm>
          <a:off x="640080" y="1783080"/>
          <a:ext cx="10881360" cy="3108960"/>
        </p:xfrm>
        <a:graphic>
          <a:graphicData uri="http://schemas.openxmlformats.org/drawingml/2006/table">
            <a:tbl>
              <a:tblPr firstRow="1" bandRow="1">
                <a:tableStyleId>{5C22544A-7EE6-4342-B048-85BDC9FD1C3A}</a:tableStyleId>
              </a:tblPr>
              <a:tblGrid>
                <a:gridCol w="3657600"/>
                <a:gridCol w="3017520"/>
                <a:gridCol w="4206240"/>
              </a:tblGrid>
              <a:tr h="621792">
                <a:tc>
                  <a:txBody>
                    <a:bodyPr wrap="square"/>
                    <a:lstStyle/>
                    <a:p>
                      <a:r>
                        <a:rPr sz="1200" b="1">
                          <a:solidFill>
                            <a:srgbClr val="F8FAFC"/>
                          </a:solidFill>
                          <a:latin typeface="Helvetica Neue"/>
                        </a:rPr>
                        <a:t>Alternative</a:t>
                      </a:r>
                    </a:p>
                  </a:txBody>
                  <a:tcPr marL="137160" marR="137160" anchor="ctr">
                    <a:solidFill>
                      <a:srgbClr val="2A3650"/>
                    </a:solidFill>
                  </a:tcPr>
                </a:tc>
                <a:tc>
                  <a:txBody>
                    <a:bodyPr wrap="square"/>
                    <a:lstStyle/>
                    <a:p>
                      <a:r>
                        <a:rPr sz="1200" b="1">
                          <a:solidFill>
                            <a:srgbClr val="F8FAFC"/>
                          </a:solidFill>
                          <a:latin typeface="Helvetica Neue"/>
                        </a:rPr>
                        <a:t>Strength</a:t>
                      </a:r>
                    </a:p>
                  </a:txBody>
                  <a:tcPr marL="137160" marR="137160" anchor="ctr">
                    <a:solidFill>
                      <a:srgbClr val="2A3650"/>
                    </a:solidFill>
                  </a:tcPr>
                </a:tc>
                <a:tc>
                  <a:txBody>
                    <a:bodyPr wrap="square"/>
                    <a:lstStyle/>
                    <a:p>
                      <a:r>
                        <a:rPr sz="1200" b="1">
                          <a:solidFill>
                            <a:srgbClr val="F8FAFC"/>
                          </a:solidFill>
                          <a:latin typeface="Helvetica Neue"/>
                        </a:rPr>
                        <a:t>Gap</a:t>
                      </a:r>
                    </a:p>
                  </a:txBody>
                  <a:tcPr marL="137160" marR="137160" anchor="ctr">
                    <a:solidFill>
                      <a:srgbClr val="2A3650"/>
                    </a:solidFill>
                  </a:tcPr>
                </a:tc>
              </a:tr>
              <a:tr h="621792">
                <a:tc>
                  <a:txBody>
                    <a:bodyPr wrap="square"/>
                    <a:lstStyle/>
                    <a:p>
                      <a:r>
                        <a:rPr sz="1300" b="1">
                          <a:solidFill>
                            <a:srgbClr val="F8FAFC"/>
                          </a:solidFill>
                          <a:latin typeface="Helvetica Neue"/>
                        </a:rPr>
                        <a:t>ServiceNow (CMDB + Now Assist)</a:t>
                      </a:r>
                    </a:p>
                  </a:txBody>
                  <a:tcPr marL="137160" marR="137160" anchor="ctr">
                    <a:solidFill>
                      <a:srgbClr val="151E32"/>
                    </a:solidFill>
                  </a:tcPr>
                </a:tc>
                <a:tc>
                  <a:txBody>
                    <a:bodyPr wrap="square"/>
                    <a:lstStyle/>
                    <a:p>
                      <a:r>
                        <a:rPr sz="1300" b="0">
                          <a:solidFill>
                            <a:srgbClr val="94A3B8"/>
                          </a:solidFill>
                          <a:latin typeface="Helvetica Neue"/>
                        </a:rPr>
                        <a:t>Deep ITSM + CMDB suite</a:t>
                      </a:r>
                    </a:p>
                  </a:txBody>
                  <a:tcPr marL="137160" marR="137160" anchor="ctr">
                    <a:solidFill>
                      <a:srgbClr val="151E32"/>
                    </a:solidFill>
                  </a:tcPr>
                </a:tc>
                <a:tc>
                  <a:txBody>
                    <a:bodyPr wrap="square"/>
                    <a:lstStyle/>
                    <a:p>
                      <a:r>
                        <a:rPr sz="1300" b="0">
                          <a:solidFill>
                            <a:srgbClr val="94A3B8"/>
                          </a:solidFill>
                          <a:latin typeface="Helvetica Neue"/>
                        </a:rPr>
                        <a:t>Heavy, costly, long rollout; CMDB needs manual upkeep</a:t>
                      </a:r>
                    </a:p>
                  </a:txBody>
                  <a:tcPr marL="137160" marR="137160" anchor="ctr">
                    <a:solidFill>
                      <a:srgbClr val="151E32"/>
                    </a:solidFill>
                  </a:tcPr>
                </a:tc>
              </a:tr>
              <a:tr h="621792">
                <a:tc>
                  <a:txBody>
                    <a:bodyPr wrap="square"/>
                    <a:lstStyle/>
                    <a:p>
                      <a:r>
                        <a:rPr sz="1300" b="1">
                          <a:solidFill>
                            <a:srgbClr val="F8FAFC"/>
                          </a:solidFill>
                          <a:latin typeface="Helvetica Neue"/>
                        </a:rPr>
                        <a:t>Developer portals (Backstage, Compass)</a:t>
                      </a:r>
                    </a:p>
                  </a:txBody>
                  <a:tcPr marL="137160" marR="137160" anchor="ctr">
                    <a:solidFill>
                      <a:srgbClr val="151E32"/>
                    </a:solidFill>
                  </a:tcPr>
                </a:tc>
                <a:tc>
                  <a:txBody>
                    <a:bodyPr wrap="square"/>
                    <a:lstStyle/>
                    <a:p>
                      <a:r>
                        <a:rPr sz="1300" b="0">
                          <a:solidFill>
                            <a:srgbClr val="94A3B8"/>
                          </a:solidFill>
                          <a:latin typeface="Helvetica Neue"/>
                        </a:rPr>
                        <a:t>Service catalogue &amp; ownership</a:t>
                      </a:r>
                    </a:p>
                  </a:txBody>
                  <a:tcPr marL="137160" marR="137160" anchor="ctr">
                    <a:solidFill>
                      <a:srgbClr val="151E32"/>
                    </a:solidFill>
                  </a:tcPr>
                </a:tc>
                <a:tc>
                  <a:txBody>
                    <a:bodyPr wrap="square"/>
                    <a:lstStyle/>
                    <a:p>
                      <a:r>
                        <a:rPr sz="1300" b="0">
                          <a:solidFill>
                            <a:srgbClr val="94A3B8"/>
                          </a:solidFill>
                          <a:latin typeface="Helvetica Neue"/>
                        </a:rPr>
                        <a:t>Not connected to live ITSM incidents; no diagnosis</a:t>
                      </a:r>
                    </a:p>
                  </a:txBody>
                  <a:tcPr marL="137160" marR="137160" anchor="ctr">
                    <a:solidFill>
                      <a:srgbClr val="151E32"/>
                    </a:solidFill>
                  </a:tcPr>
                </a:tc>
              </a:tr>
              <a:tr h="621792">
                <a:tc>
                  <a:txBody>
                    <a:bodyPr wrap="square"/>
                    <a:lstStyle/>
                    <a:p>
                      <a:r>
                        <a:rPr sz="1300" b="1">
                          <a:solidFill>
                            <a:srgbClr val="F8FAFC"/>
                          </a:solidFill>
                          <a:latin typeface="Helvetica Neue"/>
                        </a:rPr>
                        <a:t>Built-in helpdesk AI copilots</a:t>
                      </a:r>
                    </a:p>
                  </a:txBody>
                  <a:tcPr marL="137160" marR="137160" anchor="ctr">
                    <a:solidFill>
                      <a:srgbClr val="151E32"/>
                    </a:solidFill>
                  </a:tcPr>
                </a:tc>
                <a:tc>
                  <a:txBody>
                    <a:bodyPr wrap="square"/>
                    <a:lstStyle/>
                    <a:p>
                      <a:r>
                        <a:rPr sz="1300" b="0">
                          <a:solidFill>
                            <a:srgbClr val="94A3B8"/>
                          </a:solidFill>
                          <a:latin typeface="Helvetica Neue"/>
                        </a:rPr>
                        <a:t>Summarise / reply within a ticket</a:t>
                      </a:r>
                    </a:p>
                  </a:txBody>
                  <a:tcPr marL="137160" marR="137160" anchor="ctr">
                    <a:solidFill>
                      <a:srgbClr val="151E32"/>
                    </a:solidFill>
                  </a:tcPr>
                </a:tc>
                <a:tc>
                  <a:txBody>
                    <a:bodyPr wrap="square"/>
                    <a:lstStyle/>
                    <a:p>
                      <a:r>
                        <a:rPr sz="1300" b="0">
                          <a:solidFill>
                            <a:srgbClr val="94A3B8"/>
                          </a:solidFill>
                          <a:latin typeface="Helvetica Neue"/>
                        </a:rPr>
                        <a:t>Sees only ticket text: no dependencies, owners, blast radius</a:t>
                      </a:r>
                    </a:p>
                  </a:txBody>
                  <a:tcPr marL="137160" marR="137160" anchor="ctr">
                    <a:solidFill>
                      <a:srgbClr val="151E32"/>
                    </a:solidFill>
                  </a:tcPr>
                </a:tc>
              </a:tr>
              <a:tr h="621792">
                <a:tc>
                  <a:txBody>
                    <a:bodyPr wrap="square"/>
                    <a:lstStyle/>
                    <a:p>
                      <a:r>
                        <a:rPr sz="1300" b="1">
                          <a:solidFill>
                            <a:srgbClr val="F8FAFC"/>
                          </a:solidFill>
                          <a:latin typeface="Helvetica Neue"/>
                        </a:rPr>
                        <a:t>Do nothing (Slack, wikis, "ask Alex")</a:t>
                      </a:r>
                    </a:p>
                  </a:txBody>
                  <a:tcPr marL="137160" marR="137160" anchor="ctr">
                    <a:solidFill>
                      <a:srgbClr val="151E32"/>
                    </a:solidFill>
                  </a:tcPr>
                </a:tc>
                <a:tc>
                  <a:txBody>
                    <a:bodyPr wrap="square"/>
                    <a:lstStyle/>
                    <a:p>
                      <a:r>
                        <a:rPr sz="1300" b="0">
                          <a:solidFill>
                            <a:srgbClr val="94A3B8"/>
                          </a:solidFill>
                          <a:latin typeface="Helvetica Neue"/>
                        </a:rPr>
                        <a:t>Free, familiar</a:t>
                      </a:r>
                    </a:p>
                  </a:txBody>
                  <a:tcPr marL="137160" marR="137160" anchor="ctr">
                    <a:solidFill>
                      <a:srgbClr val="151E32"/>
                    </a:solidFill>
                  </a:tcPr>
                </a:tc>
                <a:tc>
                  <a:txBody>
                    <a:bodyPr wrap="square"/>
                    <a:lstStyle/>
                    <a:p>
                      <a:r>
                        <a:rPr sz="1300" b="0">
                          <a:solidFill>
                            <a:srgbClr val="94A3B8"/>
                          </a:solidFill>
                          <a:latin typeface="Helvetica Neue"/>
                        </a:rPr>
                        <a:t>Slow, inconsistent, depends on a few people</a:t>
                      </a:r>
                    </a:p>
                  </a:txBody>
                  <a:tcPr marL="137160" marR="137160" anchor="ctr">
                    <a:solidFill>
                      <a:srgbClr val="151E32"/>
                    </a:solidFill>
                  </a:tcPr>
                </a:tc>
              </a:tr>
            </a:tbl>
          </a:graphicData>
        </a:graphic>
      </p:graphicFrame>
      <p:sp>
        <p:nvSpPr>
          <p:cNvPr id="6" name="Rounded Rectangle 5"/>
          <p:cNvSpPr/>
          <p:nvPr/>
        </p:nvSpPr>
        <p:spPr>
          <a:xfrm>
            <a:off x="640080" y="5166360"/>
            <a:ext cx="10881360" cy="96012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303520"/>
            <a:ext cx="10424160" cy="731520"/>
          </a:xfrm>
          <a:prstGeom prst="rect">
            <a:avLst/>
          </a:prstGeom>
          <a:noFill/>
        </p:spPr>
        <p:txBody>
          <a:bodyPr wrap="square" lIns="0" rIns="0" tIns="0" bIns="0" anchor="ctr">
            <a:spAutoFit/>
          </a:bodyPr>
          <a:lstStyle/>
          <a:p>
            <a:pPr algn="l">
              <a:lnSpc>
                <a:spcPct val="115000"/>
              </a:lnSpc>
            </a:pPr>
            <a:r>
              <a:rPr sz="1600" b="1">
                <a:solidFill>
                  <a:srgbClr val="2DD4BF"/>
                </a:solidFill>
                <a:latin typeface="Helvetica Neue"/>
              </a:rPr>
              <a:t>Our edge  </a:t>
            </a:r>
            <a:r>
              <a:rPr sz="1600" b="0">
                <a:solidFill>
                  <a:srgbClr val="F8FAFC"/>
                </a:solidFill>
                <a:latin typeface="Helvetica Neue"/>
              </a:rPr>
              <a:t>A living graph of the engineering system, plus agents that act inside Freshservice. Every new ticket gets a diagnosis note automatically, without leaving the service desk.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PROPOSED SOLUTION</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it works</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5</a:t>
            </a:r>
          </a:p>
        </p:txBody>
      </p:sp>
      <p:sp>
        <p:nvSpPr>
          <p:cNvPr id="5" name="Rounded Rectangle 4"/>
          <p:cNvSpPr/>
          <p:nvPr/>
        </p:nvSpPr>
        <p:spPr>
          <a:xfrm>
            <a:off x="64008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Sources</a:t>
            </a:r>
          </a:p>
        </p:txBody>
      </p:sp>
      <p:sp>
        <p:nvSpPr>
          <p:cNvPr id="7" name="TextBox 6"/>
          <p:cNvSpPr txBox="1"/>
          <p:nvPr/>
        </p:nvSpPr>
        <p:spPr>
          <a:xfrm>
            <a:off x="86868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Freshservice tickets, groups, KB  (live)</a:t>
            </a:r>
          </a:p>
          <a:p>
            <a:pPr algn="l">
              <a:lnSpc>
                <a:spcPct val="110000"/>
              </a:lnSpc>
              <a:spcAft>
                <a:spcPts val="800"/>
              </a:spcAft>
            </a:pPr>
            <a:r>
              <a:rPr sz="1300" b="0">
                <a:solidFill>
                  <a:srgbClr val="F8FAFC"/>
                </a:solidFill>
                <a:latin typeface="Helvetica Neue"/>
              </a:rPr>
              <a:t>GitHub repos &amp; ZIP / Excel intake</a:t>
            </a:r>
          </a:p>
          <a:p>
            <a:pPr algn="l">
              <a:lnSpc>
                <a:spcPct val="110000"/>
              </a:lnSpc>
            </a:pPr>
            <a:r>
              <a:rPr sz="1300" b="0">
                <a:solidFill>
                  <a:srgbClr val="F8FAFC"/>
                </a:solidFill>
                <a:latin typeface="Helvetica Neue"/>
              </a:rPr>
              <a:t>Jira · Confluence · Slack  (Phase 2)</a:t>
            </a:r>
          </a:p>
        </p:txBody>
      </p:sp>
      <p:sp>
        <p:nvSpPr>
          <p:cNvPr id="8" name="Right Arrow 7"/>
          <p:cNvSpPr/>
          <p:nvPr/>
        </p:nvSpPr>
        <p:spPr>
          <a:xfrm>
            <a:off x="318211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2900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Living ontology</a:t>
            </a:r>
          </a:p>
        </p:txBody>
      </p:sp>
      <p:sp>
        <p:nvSpPr>
          <p:cNvPr id="11" name="TextBox 10"/>
          <p:cNvSpPr txBox="1"/>
          <p:nvPr/>
        </p:nvSpPr>
        <p:spPr>
          <a:xfrm>
            <a:off x="365760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Neo4j knowledge graph</a:t>
            </a:r>
          </a:p>
          <a:p>
            <a:pPr algn="l">
              <a:lnSpc>
                <a:spcPct val="110000"/>
              </a:lnSpc>
              <a:spcAft>
                <a:spcPts val="800"/>
              </a:spcAft>
            </a:pPr>
            <a:r>
              <a:rPr sz="1300" b="0">
                <a:solidFill>
                  <a:srgbClr val="F8FAFC"/>
                </a:solidFill>
                <a:latin typeface="Helvetica Neue"/>
              </a:rPr>
              <a:t>Services · Teams · Owners · APIs · Incidents · Runbooks</a:t>
            </a:r>
          </a:p>
          <a:p>
            <a:pPr algn="l">
              <a:lnSpc>
                <a:spcPct val="110000"/>
              </a:lnSpc>
            </a:pPr>
            <a:r>
              <a:rPr sz="1300" b="0">
                <a:solidFill>
                  <a:srgbClr val="F8FAFC"/>
                </a:solidFill>
                <a:latin typeface="Helvetica Neue"/>
              </a:rPr>
              <a:t>Vector store for semantic search</a:t>
            </a:r>
          </a:p>
        </p:txBody>
      </p:sp>
      <p:sp>
        <p:nvSpPr>
          <p:cNvPr id="12" name="Right Arrow 11"/>
          <p:cNvSpPr/>
          <p:nvPr/>
        </p:nvSpPr>
        <p:spPr>
          <a:xfrm>
            <a:off x="597103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8 AI agents</a:t>
            </a:r>
          </a:p>
        </p:txBody>
      </p:sp>
      <p:sp>
        <p:nvSpPr>
          <p:cNvPr id="15" name="TextBox 14"/>
          <p:cNvSpPr txBox="1"/>
          <p:nvPr/>
        </p:nvSpPr>
        <p:spPr>
          <a:xfrm>
            <a:off x="644652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Incident Context · Requirement Impact</a:t>
            </a:r>
          </a:p>
          <a:p>
            <a:pPr algn="l">
              <a:lnSpc>
                <a:spcPct val="110000"/>
              </a:lnSpc>
              <a:spcAft>
                <a:spcPts val="800"/>
              </a:spcAft>
            </a:pPr>
            <a:r>
              <a:rPr sz="1300" b="0">
                <a:solidFill>
                  <a:srgbClr val="F8FAFC"/>
                </a:solidFill>
                <a:latin typeface="Helvetica Neue"/>
              </a:rPr>
              <a:t>Expert Discovery · Blast Radius</a:t>
            </a:r>
          </a:p>
          <a:p>
            <a:pPr algn="l">
              <a:lnSpc>
                <a:spcPct val="110000"/>
              </a:lnSpc>
            </a:pPr>
            <a:r>
              <a:rPr sz="1300" b="0">
                <a:solidFill>
                  <a:srgbClr val="F8FAFC"/>
                </a:solidFill>
                <a:latin typeface="Helvetica Neue"/>
              </a:rPr>
              <a:t>Ontology Mentor · Storyteller · Gaps · Doc Q&amp;A</a:t>
            </a:r>
          </a:p>
        </p:txBody>
      </p:sp>
      <p:sp>
        <p:nvSpPr>
          <p:cNvPr id="16" name="Right Arrow 15"/>
          <p:cNvSpPr/>
          <p:nvPr/>
        </p:nvSpPr>
        <p:spPr>
          <a:xfrm>
            <a:off x="875995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00684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Back in Freshservice</a:t>
            </a:r>
          </a:p>
        </p:txBody>
      </p:sp>
      <p:sp>
        <p:nvSpPr>
          <p:cNvPr id="19" name="TextBox 18"/>
          <p:cNvSpPr txBox="1"/>
          <p:nvPr/>
        </p:nvSpPr>
        <p:spPr>
          <a:xfrm>
            <a:off x="923544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Private diagnosis note on the ticket</a:t>
            </a:r>
          </a:p>
          <a:p>
            <a:pPr algn="l">
              <a:lnSpc>
                <a:spcPct val="110000"/>
              </a:lnSpc>
              <a:spcAft>
                <a:spcPts val="800"/>
              </a:spcAft>
            </a:pPr>
            <a:r>
              <a:rPr sz="1300" b="0">
                <a:solidFill>
                  <a:srgbClr val="F8FAFC"/>
                </a:solidFill>
                <a:latin typeface="Helvetica Neue"/>
              </a:rPr>
              <a:t>Auto-triggered by Workflow Automator webhook</a:t>
            </a:r>
          </a:p>
          <a:p>
            <a:pPr algn="l">
              <a:lnSpc>
                <a:spcPct val="110000"/>
              </a:lnSpc>
            </a:pPr>
            <a:r>
              <a:rPr sz="1300" b="0">
                <a:solidFill>
                  <a:srgbClr val="F8FAFC"/>
                </a:solidFill>
                <a:latin typeface="Helvetica Neue"/>
              </a:rPr>
              <a:t>Explainable: trace + sources</a:t>
            </a:r>
          </a:p>
        </p:txBody>
      </p:sp>
      <p:sp>
        <p:nvSpPr>
          <p:cNvPr id="20" name="TextBox 19"/>
          <p:cNvSpPr txBox="1"/>
          <p:nvPr/>
        </p:nvSpPr>
        <p:spPr>
          <a:xfrm>
            <a:off x="640080" y="5120640"/>
            <a:ext cx="10881360" cy="457200"/>
          </a:xfrm>
          <a:prstGeom prst="rect">
            <a:avLst/>
          </a:prstGeom>
          <a:noFill/>
        </p:spPr>
        <p:txBody>
          <a:bodyPr wrap="square" lIns="0" rIns="0" tIns="0" bIns="0" anchor="t">
            <a:spAutoFit/>
          </a:bodyPr>
          <a:lstStyle/>
          <a:p>
            <a:pPr algn="l">
              <a:lnSpc>
                <a:spcPct val="115000"/>
              </a:lnSpc>
            </a:pPr>
            <a:r>
              <a:rPr sz="1500" b="1">
                <a:solidFill>
                  <a:srgbClr val="F8FAFC"/>
                </a:solidFill>
                <a:latin typeface="Helvetica Neue"/>
              </a:rPr>
              <a:t>Hybrid intelligence: </a:t>
            </a:r>
            <a:r>
              <a:rPr sz="1500" b="0">
                <a:solidFill>
                  <a:srgbClr val="94A3B8"/>
                </a:solidFill>
                <a:latin typeface="Helvetica Neue"/>
              </a:rPr>
              <a:t>graph traversal + semantic search + LLM reasoning, with a rule-based fallback when no LLM is available.</a:t>
            </a:r>
          </a:p>
        </p:txBody>
      </p:sp>
      <p:sp>
        <p:nvSpPr>
          <p:cNvPr id="21" name="TextBox 20"/>
          <p:cNvSpPr txBox="1"/>
          <p:nvPr/>
        </p:nvSpPr>
        <p:spPr>
          <a:xfrm>
            <a:off x="640080" y="5623560"/>
            <a:ext cx="10881360" cy="457200"/>
          </a:xfrm>
          <a:prstGeom prst="rect">
            <a:avLst/>
          </a:prstGeom>
          <a:noFill/>
        </p:spPr>
        <p:txBody>
          <a:bodyPr wrap="square" lIns="0" rIns="0" tIns="0" bIns="0" anchor="t">
            <a:spAutoFit/>
          </a:bodyPr>
          <a:lstStyle/>
          <a:p>
            <a:pPr algn="l">
              <a:lnSpc>
                <a:spcPct val="115000"/>
              </a:lnSpc>
            </a:pPr>
            <a:r>
              <a:rPr sz="1400" b="1">
                <a:solidFill>
                  <a:srgbClr val="2DD4BF"/>
                </a:solidFill>
                <a:latin typeface="Helvetica Neue"/>
              </a:rPr>
              <a:t>MVP: </a:t>
            </a:r>
            <a:r>
              <a:rPr sz="1400" b="0">
                <a:solidFill>
                  <a:srgbClr val="94A3B8"/>
                </a:solidFill>
                <a:latin typeface="Helvetica Neue"/>
              </a:rPr>
              <a:t>incidents → graph → auto-diagnosis · impact analysis · expert finder · blast radius · knowledge gaps · graph explorer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SEE IT WORK</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Live demo</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6</a:t>
            </a:r>
          </a:p>
        </p:txBody>
      </p:sp>
      <p:sp>
        <p:nvSpPr>
          <p:cNvPr id="5" name="Rounded Rectangle 4"/>
          <p:cNvSpPr/>
          <p:nvPr/>
        </p:nvSpPr>
        <p:spPr>
          <a:xfrm>
            <a:off x="64008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1</a:t>
            </a:r>
          </a:p>
        </p:txBody>
      </p:sp>
      <p:sp>
        <p:nvSpPr>
          <p:cNvPr id="8" name="TextBox 7"/>
          <p:cNvSpPr txBox="1"/>
          <p:nvPr/>
        </p:nvSpPr>
        <p:spPr>
          <a:xfrm>
            <a:off x="164592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Connect</a:t>
            </a:r>
          </a:p>
        </p:txBody>
      </p:sp>
      <p:sp>
        <p:nvSpPr>
          <p:cNvPr id="9" name="TextBox 8"/>
          <p:cNvSpPr txBox="1"/>
          <p:nvPr/>
        </p:nvSpPr>
        <p:spPr>
          <a:xfrm>
            <a:off x="164592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Dashboard → Test Connection to the live Freshservice tenant</a:t>
            </a:r>
          </a:p>
        </p:txBody>
      </p:sp>
      <p:sp>
        <p:nvSpPr>
          <p:cNvPr id="10" name="Rounded Rectangle 9"/>
          <p:cNvSpPr/>
          <p:nvPr/>
        </p:nvSpPr>
        <p:spPr>
          <a:xfrm>
            <a:off x="617220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2</a:t>
            </a:r>
          </a:p>
        </p:txBody>
      </p:sp>
      <p:sp>
        <p:nvSpPr>
          <p:cNvPr id="13" name="TextBox 12"/>
          <p:cNvSpPr txBox="1"/>
          <p:nvPr/>
        </p:nvSpPr>
        <p:spPr>
          <a:xfrm>
            <a:off x="717804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Sync</a:t>
            </a:r>
          </a:p>
        </p:txBody>
      </p:sp>
      <p:sp>
        <p:nvSpPr>
          <p:cNvPr id="14" name="TextBox 13"/>
          <p:cNvSpPr txBox="1"/>
          <p:nvPr/>
        </p:nvSpPr>
        <p:spPr>
          <a:xfrm>
            <a:off x="717804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Tickets → Incidents, groups → Teams, linked to affected services</a:t>
            </a:r>
          </a:p>
        </p:txBody>
      </p:sp>
      <p:sp>
        <p:nvSpPr>
          <p:cNvPr id="15" name="Rounded Rectangle 14"/>
          <p:cNvSpPr/>
          <p:nvPr/>
        </p:nvSpPr>
        <p:spPr>
          <a:xfrm>
            <a:off x="64008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3</a:t>
            </a:r>
          </a:p>
        </p:txBody>
      </p:sp>
      <p:sp>
        <p:nvSpPr>
          <p:cNvPr id="18" name="TextBox 17"/>
          <p:cNvSpPr txBox="1"/>
          <p:nvPr/>
        </p:nvSpPr>
        <p:spPr>
          <a:xfrm>
            <a:off x="164592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Explore</a:t>
            </a:r>
          </a:p>
        </p:txBody>
      </p:sp>
      <p:sp>
        <p:nvSpPr>
          <p:cNvPr id="19" name="TextBox 18"/>
          <p:cNvSpPr txBox="1"/>
          <p:nvPr/>
        </p:nvSpPr>
        <p:spPr>
          <a:xfrm>
            <a:off x="164592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Knowledge Graph → Payment Gateway Service → Blast Radius</a:t>
            </a:r>
          </a:p>
        </p:txBody>
      </p:sp>
      <p:sp>
        <p:nvSpPr>
          <p:cNvPr id="20" name="Rounded Rectangle 19"/>
          <p:cNvSpPr/>
          <p:nvPr/>
        </p:nvSpPr>
        <p:spPr>
          <a:xfrm>
            <a:off x="617220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080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4</a:t>
            </a:r>
          </a:p>
        </p:txBody>
      </p:sp>
      <p:sp>
        <p:nvSpPr>
          <p:cNvPr id="23" name="TextBox 22"/>
          <p:cNvSpPr txBox="1"/>
          <p:nvPr/>
        </p:nvSpPr>
        <p:spPr>
          <a:xfrm>
            <a:off x="717804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Diagnose</a:t>
            </a:r>
          </a:p>
        </p:txBody>
      </p:sp>
      <p:sp>
        <p:nvSpPr>
          <p:cNvPr id="24" name="TextBox 23"/>
          <p:cNvSpPr txBox="1"/>
          <p:nvPr/>
        </p:nvSpPr>
        <p:spPr>
          <a:xfrm>
            <a:off x="717804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AI Diagnose a new ticket → private note appears in Freshservice</a:t>
            </a:r>
          </a:p>
        </p:txBody>
      </p:sp>
      <p:sp>
        <p:nvSpPr>
          <p:cNvPr id="25" name="Rounded Rectangle 24"/>
          <p:cNvSpPr/>
          <p:nvPr/>
        </p:nvSpPr>
        <p:spPr>
          <a:xfrm>
            <a:off x="64008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6868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5</a:t>
            </a:r>
          </a:p>
        </p:txBody>
      </p:sp>
      <p:sp>
        <p:nvSpPr>
          <p:cNvPr id="28" name="TextBox 27"/>
          <p:cNvSpPr txBox="1"/>
          <p:nvPr/>
        </p:nvSpPr>
        <p:spPr>
          <a:xfrm>
            <a:off x="164592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Automate</a:t>
            </a:r>
          </a:p>
        </p:txBody>
      </p:sp>
      <p:sp>
        <p:nvSpPr>
          <p:cNvPr id="29" name="TextBox 28"/>
          <p:cNvSpPr txBox="1"/>
          <p:nvPr/>
        </p:nvSpPr>
        <p:spPr>
          <a:xfrm>
            <a:off x="164592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Workflow Automator: Ticket is Raised → webhook → note, no clicks</a:t>
            </a:r>
          </a:p>
        </p:txBody>
      </p:sp>
      <p:sp>
        <p:nvSpPr>
          <p:cNvPr id="30" name="Rounded Rectangle 29"/>
          <p:cNvSpPr/>
          <p:nvPr/>
        </p:nvSpPr>
        <p:spPr>
          <a:xfrm>
            <a:off x="617220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0080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6</a:t>
            </a:r>
          </a:p>
        </p:txBody>
      </p:sp>
      <p:sp>
        <p:nvSpPr>
          <p:cNvPr id="33" name="TextBox 32"/>
          <p:cNvSpPr txBox="1"/>
          <p:nvPr/>
        </p:nvSpPr>
        <p:spPr>
          <a:xfrm>
            <a:off x="717804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Plan</a:t>
            </a:r>
          </a:p>
        </p:txBody>
      </p:sp>
      <p:sp>
        <p:nvSpPr>
          <p:cNvPr id="34" name="TextBox 33"/>
          <p:cNvSpPr txBox="1"/>
          <p:nvPr/>
        </p:nvSpPr>
        <p:spPr>
          <a:xfrm>
            <a:off x="717804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Analyzer: "Add WhatsApp notifications": agent handoffs + trace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TARGET CUSTOMERS &amp; VALUE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Who it's for, and why they'll want it</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7</a:t>
            </a:r>
          </a:p>
        </p:txBody>
      </p:sp>
      <p:sp>
        <p:nvSpPr>
          <p:cNvPr id="5" name="Rounded Rectangle 4"/>
          <p:cNvSpPr/>
          <p:nvPr/>
        </p:nvSpPr>
        <p:spPr>
          <a:xfrm>
            <a:off x="64008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Primary</a:t>
            </a:r>
          </a:p>
        </p:txBody>
      </p:sp>
      <p:sp>
        <p:nvSpPr>
          <p:cNvPr id="8" name="TextBox 7"/>
          <p:cNvSpPr txBox="1"/>
          <p:nvPr/>
        </p:nvSpPr>
        <p:spPr>
          <a:xfrm>
            <a:off x="91440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Mid-size software &amp; digital companies (200–2,000 employees) running IT/engineering incidents in Freshservice, with 20+ microservices and several teams.</a:t>
            </a:r>
          </a:p>
        </p:txBody>
      </p:sp>
      <p:sp>
        <p:nvSpPr>
          <p:cNvPr id="9" name="Rounded Rectangle 8"/>
          <p:cNvSpPr/>
          <p:nvPr/>
        </p:nvSpPr>
        <p:spPr>
          <a:xfrm>
            <a:off x="621792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Secondary</a:t>
            </a:r>
          </a:p>
        </p:txBody>
      </p:sp>
      <p:sp>
        <p:nvSpPr>
          <p:cNvPr id="12" name="TextBox 11"/>
          <p:cNvSpPr txBox="1"/>
          <p:nvPr/>
        </p:nvSpPr>
        <p:spPr>
          <a:xfrm>
            <a:off x="649224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Freshservice MSPs supporting many client environments who need fast context on unfamiliar systems.</a:t>
            </a:r>
          </a:p>
        </p:txBody>
      </p:sp>
      <p:sp>
        <p:nvSpPr>
          <p:cNvPr id="13" name="TextBox 12"/>
          <p:cNvSpPr txBox="1"/>
          <p:nvPr/>
        </p:nvSpPr>
        <p:spPr>
          <a:xfrm>
            <a:off x="640080" y="4160520"/>
            <a:ext cx="10881360" cy="320040"/>
          </a:xfrm>
          <a:prstGeom prst="rect">
            <a:avLst/>
          </a:prstGeom>
          <a:noFill/>
        </p:spPr>
        <p:txBody>
          <a:bodyPr wrap="square" lIns="0" rIns="0" tIns="0" bIns="0" anchor="t">
            <a:spAutoFit/>
          </a:bodyPr>
          <a:lstStyle/>
          <a:p>
            <a:pPr algn="l">
              <a:lnSpc>
                <a:spcPct val="115000"/>
              </a:lnSpc>
            </a:pPr>
            <a:r>
              <a:rPr sz="1200" b="1">
                <a:solidFill>
                  <a:srgbClr val="94A3B8"/>
                </a:solidFill>
                <a:latin typeface="Helvetica Neue"/>
              </a:rPr>
              <a:t>USERS:  service-desk agents  ·  on-call / SRE  ·  tech leads &amp; architects  ·  new engineers</a:t>
            </a:r>
          </a:p>
        </p:txBody>
      </p:sp>
      <p:sp>
        <p:nvSpPr>
          <p:cNvPr id="14" name="Rounded Rectangle 13"/>
          <p:cNvSpPr/>
          <p:nvPr/>
        </p:nvSpPr>
        <p:spPr>
          <a:xfrm>
            <a:off x="640080" y="4663440"/>
            <a:ext cx="10881360" cy="146304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800600"/>
            <a:ext cx="10332720" cy="1188720"/>
          </a:xfrm>
          <a:prstGeom prst="rect">
            <a:avLst/>
          </a:prstGeom>
          <a:noFill/>
        </p:spPr>
        <p:txBody>
          <a:bodyPr wrap="square" lIns="0" rIns="0" tIns="0" bIns="0" anchor="ctr">
            <a:spAutoFit/>
          </a:bodyPr>
          <a:lstStyle/>
          <a:p>
            <a:pPr algn="l">
              <a:lnSpc>
                <a:spcPct val="115000"/>
              </a:lnSpc>
            </a:pPr>
            <a:r>
              <a:rPr sz="1800" b="0">
                <a:solidFill>
                  <a:srgbClr val="F8FAFC"/>
                </a:solidFill>
                <a:latin typeface="Helvetica Neue"/>
              </a:rPr>
              <a:t>Every incident arrives already diagnosed: likely service, dependencies, past incidents, runbook and escalation path. Teams resolve faster, escalate to the right owner first time, and know what breaks before a change ships.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PRICING · GO-TO-MARKET · COST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Business model</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8</a:t>
            </a:r>
          </a:p>
        </p:txBody>
      </p:sp>
      <p:sp>
        <p:nvSpPr>
          <p:cNvPr id="5" name="Rounded Rectangle 4"/>
          <p:cNvSpPr/>
          <p:nvPr/>
        </p:nvSpPr>
        <p:spPr>
          <a:xfrm>
            <a:off x="640080"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Pricing</a:t>
            </a:r>
          </a:p>
        </p:txBody>
      </p:sp>
      <p:sp>
        <p:nvSpPr>
          <p:cNvPr id="8" name="TextBox 7"/>
          <p:cNvSpPr txBox="1"/>
          <p:nvPr/>
        </p:nvSpPr>
        <p:spPr>
          <a:xfrm>
            <a:off x="914400"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Marketplace add-on for Freshservice Pro &amp; Enterprise</a:t>
            </a:r>
          </a:p>
          <a:p>
            <a:pPr algn="l">
              <a:lnSpc>
                <a:spcPct val="115000"/>
              </a:lnSpc>
              <a:spcAft>
                <a:spcPts val="800"/>
              </a:spcAft>
            </a:pPr>
            <a:r>
              <a:rPr sz="1400" b="0">
                <a:solidFill>
                  <a:srgbClr val="94A3B8"/>
                </a:solidFill>
                <a:latin typeface="Helvetica Neue"/>
              </a:rPr>
              <a:t>$8 / agent / month</a:t>
            </a:r>
          </a:p>
          <a:p>
            <a:pPr algn="l">
              <a:lnSpc>
                <a:spcPct val="115000"/>
              </a:lnSpc>
              <a:spcAft>
                <a:spcPts val="800"/>
              </a:spcAft>
            </a:pPr>
            <a:r>
              <a:rPr sz="1400" b="0">
                <a:solidFill>
                  <a:srgbClr val="94A3B8"/>
                </a:solidFill>
                <a:latin typeface="Helvetica Neue"/>
              </a:rPr>
              <a:t>Free tier: 25 diagnoses / month</a:t>
            </a:r>
          </a:p>
          <a:p>
            <a:pPr algn="l">
              <a:lnSpc>
                <a:spcPct val="115000"/>
              </a:lnSpc>
            </a:pPr>
            <a:r>
              <a:rPr sz="1400" b="0">
                <a:solidFill>
                  <a:srgbClr val="94A3B8"/>
                </a:solidFill>
                <a:latin typeface="Helvetica Neue"/>
              </a:rPr>
              <a:t>30-day trial of auto-diagnosis</a:t>
            </a:r>
          </a:p>
        </p:txBody>
      </p:sp>
      <p:sp>
        <p:nvSpPr>
          <p:cNvPr id="9" name="Rounded Rectangle 8"/>
          <p:cNvSpPr/>
          <p:nvPr/>
        </p:nvSpPr>
        <p:spPr>
          <a:xfrm>
            <a:off x="4361688"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Go-to-market</a:t>
            </a:r>
          </a:p>
        </p:txBody>
      </p:sp>
      <p:sp>
        <p:nvSpPr>
          <p:cNvPr id="12" name="TextBox 11"/>
          <p:cNvSpPr txBox="1"/>
          <p:nvPr/>
        </p:nvSpPr>
        <p:spPr>
          <a:xfrm>
            <a:off x="4636008"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Freshworks Marketplace listing + in-product banner</a:t>
            </a:r>
          </a:p>
          <a:p>
            <a:pPr algn="l">
              <a:lnSpc>
                <a:spcPct val="115000"/>
              </a:lnSpc>
              <a:spcAft>
                <a:spcPts val="800"/>
              </a:spcAft>
            </a:pPr>
            <a:r>
              <a:rPr sz="1400" b="0">
                <a:solidFill>
                  <a:srgbClr val="94A3B8"/>
                </a:solidFill>
                <a:latin typeface="Helvetica Neue"/>
              </a:rPr>
              <a:t>5-minute onboarding: API key → Sync</a:t>
            </a:r>
          </a:p>
          <a:p>
            <a:pPr algn="l">
              <a:lnSpc>
                <a:spcPct val="115000"/>
              </a:lnSpc>
              <a:spcAft>
                <a:spcPts val="800"/>
              </a:spcAft>
            </a:pPr>
            <a:r>
              <a:rPr sz="1400" b="0">
                <a:solidFill>
                  <a:srgbClr val="94A3B8"/>
                </a:solidFill>
                <a:latin typeface="Helvetica Neue"/>
              </a:rPr>
              <a:t>Email trial offer to Pro/Enterprise admins</a:t>
            </a:r>
          </a:p>
          <a:p>
            <a:pPr algn="l">
              <a:lnSpc>
                <a:spcPct val="115000"/>
              </a:lnSpc>
            </a:pPr>
            <a:r>
              <a:rPr sz="1400" b="0">
                <a:solidFill>
                  <a:srgbClr val="94A3B8"/>
                </a:solidFill>
                <a:latin typeface="Helvetica Neue"/>
              </a:rPr>
              <a:t>3–5 design partners for case studies</a:t>
            </a:r>
          </a:p>
        </p:txBody>
      </p:sp>
      <p:sp>
        <p:nvSpPr>
          <p:cNvPr id="13" name="Rounded Rectangle 12"/>
          <p:cNvSpPr/>
          <p:nvPr/>
        </p:nvSpPr>
        <p:spPr>
          <a:xfrm>
            <a:off x="8083296"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2057400"/>
            <a:ext cx="54864" cy="4572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6"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Cost to MVP</a:t>
            </a:r>
          </a:p>
        </p:txBody>
      </p:sp>
      <p:sp>
        <p:nvSpPr>
          <p:cNvPr id="16" name="TextBox 15"/>
          <p:cNvSpPr txBox="1"/>
          <p:nvPr/>
        </p:nvSpPr>
        <p:spPr>
          <a:xfrm>
            <a:off x="8357616"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3 engineers + part-time designer &amp; PM</a:t>
            </a:r>
          </a:p>
          <a:p>
            <a:pPr algn="l">
              <a:lnSpc>
                <a:spcPct val="115000"/>
              </a:lnSpc>
              <a:spcAft>
                <a:spcPts val="800"/>
              </a:spcAft>
            </a:pPr>
            <a:r>
              <a:rPr sz="1400" b="0">
                <a:solidFill>
                  <a:srgbClr val="94A3B8"/>
                </a:solidFill>
                <a:latin typeface="Helvetica Neue"/>
              </a:rPr>
              <a:t>~3 months to production MVP</a:t>
            </a:r>
          </a:p>
          <a:p>
            <a:pPr algn="l">
              <a:lnSpc>
                <a:spcPct val="115000"/>
              </a:lnSpc>
              <a:spcAft>
                <a:spcPts val="800"/>
              </a:spcAft>
            </a:pPr>
            <a:r>
              <a:rPr sz="1400" b="0">
                <a:solidFill>
                  <a:srgbClr val="94A3B8"/>
                </a:solidFill>
                <a:latin typeface="Helvetica Neue"/>
              </a:rPr>
              <a:t>~$90–110K (salaries, LLM, hosting)</a:t>
            </a:r>
          </a:p>
          <a:p>
            <a:pPr algn="l">
              <a:lnSpc>
                <a:spcPct val="115000"/>
              </a:lnSpc>
            </a:pPr>
            <a:r>
              <a:rPr sz="1400" b="0">
                <a:solidFill>
                  <a:srgbClr val="94A3B8"/>
                </a:solidFill>
                <a:latin typeface="Helvetica Neue"/>
              </a:rPr>
              <a:t>Illustrative ARR: 100 customers × 30 agents × $8 × 12 ≈ $288K</a:t>
            </a:r>
          </a:p>
        </p:txBody>
      </p:sp>
      <p:sp>
        <p:nvSpPr>
          <p:cNvPr id="17" name="Rounded Rectangle 16"/>
          <p:cNvSpPr/>
          <p:nvPr/>
        </p:nvSpPr>
        <p:spPr>
          <a:xfrm>
            <a:off x="640080" y="5715000"/>
            <a:ext cx="137160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756148"/>
            <a:ext cx="137160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ASSUMPTIONS</a:t>
            </a:r>
          </a:p>
        </p:txBody>
      </p:sp>
      <p:sp>
        <p:nvSpPr>
          <p:cNvPr id="19" name="TextBox 18"/>
          <p:cNvSpPr txBox="1"/>
          <p:nvPr/>
        </p:nvSpPr>
        <p:spPr>
          <a:xfrm>
            <a:off x="2148840" y="575157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Prices, costs and ARR are working estimates, to be validated with design partners.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SUCCESS METRICS · 6 MONTHS AFTER LAUNCH</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we'll know it worked</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9</a:t>
            </a:r>
          </a:p>
        </p:txBody>
      </p:sp>
      <p:sp>
        <p:nvSpPr>
          <p:cNvPr id="5" name="Rounded Rectangle 4"/>
          <p:cNvSpPr/>
          <p:nvPr/>
        </p:nvSpPr>
        <p:spPr>
          <a:xfrm>
            <a:off x="640080"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−25%</a:t>
            </a:r>
          </a:p>
        </p:txBody>
      </p:sp>
      <p:sp>
        <p:nvSpPr>
          <p:cNvPr id="7" name="TextBox 6"/>
          <p:cNvSpPr txBox="1"/>
          <p:nvPr/>
        </p:nvSpPr>
        <p:spPr>
          <a:xfrm>
            <a:off x="868680"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MTTR on diagnosed incidents</a:t>
            </a:r>
          </a:p>
        </p:txBody>
      </p:sp>
      <p:sp>
        <p:nvSpPr>
          <p:cNvPr id="8" name="Rounded Rectangle 7"/>
          <p:cNvSpPr/>
          <p:nvPr/>
        </p:nvSpPr>
        <p:spPr>
          <a:xfrm>
            <a:off x="3410712"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0712"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 80%</a:t>
            </a:r>
          </a:p>
        </p:txBody>
      </p:sp>
      <p:sp>
        <p:nvSpPr>
          <p:cNvPr id="10" name="TextBox 9"/>
          <p:cNvSpPr txBox="1"/>
          <p:nvPr/>
        </p:nvSpPr>
        <p:spPr>
          <a:xfrm>
            <a:off x="3639312"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New incidents auto-diagnosed</a:t>
            </a:r>
          </a:p>
        </p:txBody>
      </p:sp>
      <p:sp>
        <p:nvSpPr>
          <p:cNvPr id="11" name="Rounded Rectangle 10"/>
          <p:cNvSpPr/>
          <p:nvPr/>
        </p:nvSpPr>
        <p:spPr>
          <a:xfrm>
            <a:off x="6181344"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1344"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+20%</a:t>
            </a:r>
          </a:p>
        </p:txBody>
      </p:sp>
      <p:sp>
        <p:nvSpPr>
          <p:cNvPr id="13" name="TextBox 12"/>
          <p:cNvSpPr txBox="1"/>
          <p:nvPr/>
        </p:nvSpPr>
        <p:spPr>
          <a:xfrm>
            <a:off x="6409944"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Resolved by first team routed</a:t>
            </a:r>
          </a:p>
        </p:txBody>
      </p:sp>
      <p:sp>
        <p:nvSpPr>
          <p:cNvPr id="14" name="Rounded Rectangle 13"/>
          <p:cNvSpPr/>
          <p:nvPr/>
        </p:nvSpPr>
        <p:spPr>
          <a:xfrm>
            <a:off x="8951976"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51976"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 20%</a:t>
            </a:r>
          </a:p>
        </p:txBody>
      </p:sp>
      <p:sp>
        <p:nvSpPr>
          <p:cNvPr id="16" name="TextBox 15"/>
          <p:cNvSpPr txBox="1"/>
          <p:nvPr/>
        </p:nvSpPr>
        <p:spPr>
          <a:xfrm>
            <a:off x="9180576"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Trial → paid conversion</a:t>
            </a:r>
          </a:p>
        </p:txBody>
      </p:sp>
      <p:sp>
        <p:nvSpPr>
          <p:cNvPr id="17" name="Rounded Rectangle 16"/>
          <p:cNvSpPr/>
          <p:nvPr/>
        </p:nvSpPr>
        <p:spPr>
          <a:xfrm>
            <a:off x="640080" y="5394960"/>
            <a:ext cx="109728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436108"/>
            <a:ext cx="109728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TARGETS</a:t>
            </a:r>
          </a:p>
        </p:txBody>
      </p:sp>
      <p:sp>
        <p:nvSpPr>
          <p:cNvPr id="19" name="TextBox 18"/>
          <p:cNvSpPr txBox="1"/>
          <p:nvPr/>
        </p:nvSpPr>
        <p:spPr>
          <a:xfrm>
            <a:off x="1874519" y="543153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Targets are assumptions; baseline measured on non-diagnosed incidents.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WHAT COULD GO WRONG · WHAT'S NEXT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Risks &amp; roadmap</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10</a:t>
            </a:r>
          </a:p>
        </p:txBody>
      </p:sp>
      <p:sp>
        <p:nvSpPr>
          <p:cNvPr id="5" name="TextBox 4"/>
          <p:cNvSpPr txBox="1"/>
          <p:nvPr/>
        </p:nvSpPr>
        <p:spPr>
          <a:xfrm>
            <a:off x="640080" y="1783080"/>
            <a:ext cx="5486400" cy="365760"/>
          </a:xfrm>
          <a:prstGeom prst="rect">
            <a:avLst/>
          </a:prstGeom>
          <a:noFill/>
        </p:spPr>
        <p:txBody>
          <a:bodyPr wrap="square" lIns="0" rIns="0" tIns="0" bIns="0" anchor="t">
            <a:spAutoFit/>
          </a:bodyPr>
          <a:lstStyle/>
          <a:p>
            <a:pPr algn="l">
              <a:lnSpc>
                <a:spcPct val="115000"/>
              </a:lnSpc>
            </a:pPr>
            <a:r>
              <a:rPr sz="1200" b="1">
                <a:solidFill>
                  <a:srgbClr val="FB7185"/>
                </a:solidFill>
                <a:latin typeface="Helvetica Neue"/>
              </a:rPr>
              <a:t>RISKS  →  MITIGATION</a:t>
            </a:r>
          </a:p>
        </p:txBody>
      </p:sp>
      <p:sp>
        <p:nvSpPr>
          <p:cNvPr id="6" name="Rounded Rectangle 5"/>
          <p:cNvSpPr/>
          <p:nvPr/>
        </p:nvSpPr>
        <p:spPr>
          <a:xfrm>
            <a:off x="640080" y="2194560"/>
            <a:ext cx="6035040" cy="8229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313432"/>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Graph quality drives diagnosis quality</a:t>
            </a:r>
          </a:p>
        </p:txBody>
      </p:sp>
      <p:sp>
        <p:nvSpPr>
          <p:cNvPr id="8" name="TextBox 7"/>
          <p:cNvSpPr txBox="1"/>
          <p:nvPr/>
        </p:nvSpPr>
        <p:spPr>
          <a:xfrm>
            <a:off x="868680" y="2651760"/>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Knowledge Gap agent flags missing owners, runbooks and docs</a:t>
            </a:r>
          </a:p>
        </p:txBody>
      </p:sp>
      <p:sp>
        <p:nvSpPr>
          <p:cNvPr id="9" name="Rounded Rectangle 8"/>
          <p:cNvSpPr/>
          <p:nvPr/>
        </p:nvSpPr>
        <p:spPr>
          <a:xfrm>
            <a:off x="640080" y="3154680"/>
            <a:ext cx="6035040" cy="8229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273552"/>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Trust &amp; privacy of ticket data</a:t>
            </a:r>
          </a:p>
        </p:txBody>
      </p:sp>
      <p:sp>
        <p:nvSpPr>
          <p:cNvPr id="11" name="TextBox 10"/>
          <p:cNvSpPr txBox="1"/>
          <p:nvPr/>
        </p:nvSpPr>
        <p:spPr>
          <a:xfrm>
            <a:off x="868680" y="3611880"/>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Private notes only; rule-based mode needs no LLM</a:t>
            </a:r>
          </a:p>
        </p:txBody>
      </p:sp>
      <p:sp>
        <p:nvSpPr>
          <p:cNvPr id="12" name="Rounded Rectangle 11"/>
          <p:cNvSpPr/>
          <p:nvPr/>
        </p:nvSpPr>
        <p:spPr>
          <a:xfrm>
            <a:off x="640080" y="4114800"/>
            <a:ext cx="6035040" cy="8229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233672"/>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Willingness to pay beyond built-in AI</a:t>
            </a:r>
          </a:p>
        </p:txBody>
      </p:sp>
      <p:sp>
        <p:nvSpPr>
          <p:cNvPr id="14" name="TextBox 13"/>
          <p:cNvSpPr txBox="1"/>
          <p:nvPr/>
        </p:nvSpPr>
        <p:spPr>
          <a:xfrm>
            <a:off x="868680" y="4572000"/>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Validate with design partners before pricing is final</a:t>
            </a:r>
          </a:p>
        </p:txBody>
      </p:sp>
      <p:sp>
        <p:nvSpPr>
          <p:cNvPr id="15" name="Rounded Rectangle 14"/>
          <p:cNvSpPr/>
          <p:nvPr/>
        </p:nvSpPr>
        <p:spPr>
          <a:xfrm>
            <a:off x="640080" y="5074920"/>
            <a:ext cx="6035040" cy="8229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193792"/>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API rate limits &amp; plan restrictions</a:t>
            </a:r>
          </a:p>
        </p:txBody>
      </p:sp>
      <p:sp>
        <p:nvSpPr>
          <p:cNvPr id="17" name="TextBox 16"/>
          <p:cNvSpPr txBox="1"/>
          <p:nvPr/>
        </p:nvSpPr>
        <p:spPr>
          <a:xfrm>
            <a:off x="868680" y="5532120"/>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Graceful degradation (e.g. CMDB needs higher plans)</a:t>
            </a:r>
          </a:p>
        </p:txBody>
      </p:sp>
      <p:sp>
        <p:nvSpPr>
          <p:cNvPr id="18" name="TextBox 17"/>
          <p:cNvSpPr txBox="1"/>
          <p:nvPr/>
        </p:nvSpPr>
        <p:spPr>
          <a:xfrm>
            <a:off x="7040880" y="1783080"/>
            <a:ext cx="4572000" cy="36576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PHASE 2 ROADMAP</a:t>
            </a:r>
          </a:p>
        </p:txBody>
      </p:sp>
      <p:sp>
        <p:nvSpPr>
          <p:cNvPr id="19" name="Rounded Rectangle 18"/>
          <p:cNvSpPr/>
          <p:nvPr/>
        </p:nvSpPr>
        <p:spPr>
          <a:xfrm>
            <a:off x="7040880" y="2194560"/>
            <a:ext cx="4480560" cy="37033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69480" y="24963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0" y="24231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Live GitHub · Jira · Confluence · Slack connectors</a:t>
            </a:r>
          </a:p>
        </p:txBody>
      </p:sp>
      <p:sp>
        <p:nvSpPr>
          <p:cNvPr id="22" name="Oval 21"/>
          <p:cNvSpPr/>
          <p:nvPr/>
        </p:nvSpPr>
        <p:spPr>
          <a:xfrm>
            <a:off x="7269480" y="31821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0" y="31089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Freshdesk: link customer tickets to engineering incidents</a:t>
            </a:r>
          </a:p>
        </p:txBody>
      </p:sp>
      <p:sp>
        <p:nvSpPr>
          <p:cNvPr id="24" name="Oval 23"/>
          <p:cNvSpPr/>
          <p:nvPr/>
        </p:nvSpPr>
        <p:spPr>
          <a:xfrm>
            <a:off x="7269480" y="38679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9520" y="37947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Native FDK sidebar app on the Freshservice ticket</a:t>
            </a:r>
          </a:p>
        </p:txBody>
      </p:sp>
      <p:sp>
        <p:nvSpPr>
          <p:cNvPr id="26" name="Oval 25"/>
          <p:cNvSpPr/>
          <p:nvPr/>
        </p:nvSpPr>
        <p:spPr>
          <a:xfrm>
            <a:off x="7269480" y="45537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89520" y="44805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Change risk &amp; blast radius for CAB approvals</a:t>
            </a:r>
          </a:p>
        </p:txBody>
      </p:sp>
      <p:sp>
        <p:nvSpPr>
          <p:cNvPr id="28" name="Oval 27"/>
          <p:cNvSpPr/>
          <p:nvPr/>
        </p:nvSpPr>
        <p:spPr>
          <a:xfrm>
            <a:off x="7269480" y="52395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51663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Graph learns from every resolved ticket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FOR REVIEWER Q&amp;A</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Appendix: what's built vs. planned</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11</a:t>
            </a:r>
          </a:p>
        </p:txBody>
      </p:sp>
      <p:sp>
        <p:nvSpPr>
          <p:cNvPr id="5" name="Rounded Rectangle 4"/>
          <p:cNvSpPr/>
          <p:nvPr/>
        </p:nvSpPr>
        <p:spPr>
          <a:xfrm>
            <a:off x="640080" y="1828800"/>
            <a:ext cx="1088136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984248"/>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25396"/>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8" name="TextBox 7"/>
          <p:cNvSpPr txBox="1"/>
          <p:nvPr/>
        </p:nvSpPr>
        <p:spPr>
          <a:xfrm>
            <a:off x="2194560" y="1993392"/>
            <a:ext cx="9144000" cy="36576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Freshservice tickets, groups, KB search, note posting, Workflow Automator webhook (REST v2)</a:t>
            </a:r>
          </a:p>
        </p:txBody>
      </p:sp>
      <p:sp>
        <p:nvSpPr>
          <p:cNvPr id="9" name="Rounded Rectangle 8"/>
          <p:cNvSpPr/>
          <p:nvPr/>
        </p:nvSpPr>
        <p:spPr>
          <a:xfrm>
            <a:off x="640080" y="2542032"/>
            <a:ext cx="1088136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2697480"/>
            <a:ext cx="10515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38628"/>
            <a:ext cx="10515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BUILT</a:t>
            </a:r>
          </a:p>
        </p:txBody>
      </p:sp>
      <p:sp>
        <p:nvSpPr>
          <p:cNvPr id="12" name="TextBox 11"/>
          <p:cNvSpPr txBox="1"/>
          <p:nvPr/>
        </p:nvSpPr>
        <p:spPr>
          <a:xfrm>
            <a:off x="2194560" y="2706624"/>
            <a:ext cx="9144000" cy="36576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Neo4j graph (+ in-memory fallback), vector search, 8 agents, orchestrator, explainability</a:t>
            </a:r>
          </a:p>
        </p:txBody>
      </p:sp>
      <p:sp>
        <p:nvSpPr>
          <p:cNvPr id="13" name="Rounded Rectangle 12"/>
          <p:cNvSpPr/>
          <p:nvPr/>
        </p:nvSpPr>
        <p:spPr>
          <a:xfrm>
            <a:off x="640080" y="3255264"/>
            <a:ext cx="1088136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8680" y="3410712"/>
            <a:ext cx="10515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451860"/>
            <a:ext cx="10515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BUILT</a:t>
            </a:r>
          </a:p>
        </p:txBody>
      </p:sp>
      <p:sp>
        <p:nvSpPr>
          <p:cNvPr id="16" name="TextBox 15"/>
          <p:cNvSpPr txBox="1"/>
          <p:nvPr/>
        </p:nvSpPr>
        <p:spPr>
          <a:xfrm>
            <a:off x="2194560" y="3419856"/>
            <a:ext cx="9144000" cy="36576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GitHub public-repo import; ZIP / Excel / CSV intake into the graph</a:t>
            </a:r>
          </a:p>
        </p:txBody>
      </p:sp>
      <p:sp>
        <p:nvSpPr>
          <p:cNvPr id="17" name="Rounded Rectangle 16"/>
          <p:cNvSpPr/>
          <p:nvPr/>
        </p:nvSpPr>
        <p:spPr>
          <a:xfrm>
            <a:off x="640080" y="3968496"/>
            <a:ext cx="1088136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8680" y="4123944"/>
            <a:ext cx="105156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65092"/>
            <a:ext cx="105156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MOCKED</a:t>
            </a:r>
          </a:p>
        </p:txBody>
      </p:sp>
      <p:sp>
        <p:nvSpPr>
          <p:cNvPr id="20" name="TextBox 19"/>
          <p:cNvSpPr txBox="1"/>
          <p:nvPr/>
        </p:nvSpPr>
        <p:spPr>
          <a:xfrm>
            <a:off x="2194560" y="4133088"/>
            <a:ext cx="9144000" cy="36576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GitHub PR, Jira, Confluence, Slack, Freshdesk connectors (same adapter interface)</a:t>
            </a:r>
          </a:p>
        </p:txBody>
      </p:sp>
      <p:sp>
        <p:nvSpPr>
          <p:cNvPr id="21" name="Rounded Rectangle 20"/>
          <p:cNvSpPr/>
          <p:nvPr/>
        </p:nvSpPr>
        <p:spPr>
          <a:xfrm>
            <a:off x="640080" y="4681728"/>
            <a:ext cx="1088136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8680" y="4837176"/>
            <a:ext cx="10515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878324"/>
            <a:ext cx="10515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BLOCKED</a:t>
            </a:r>
          </a:p>
        </p:txBody>
      </p:sp>
      <p:sp>
        <p:nvSpPr>
          <p:cNvPr id="24" name="TextBox 23"/>
          <p:cNvSpPr txBox="1"/>
          <p:nvPr/>
        </p:nvSpPr>
        <p:spPr>
          <a:xfrm>
            <a:off x="2194560" y="4846320"/>
            <a:ext cx="9144000" cy="36576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Freshservice agents &amp; assets / CMDB: not available on the trial plan/role</a:t>
            </a:r>
          </a:p>
        </p:txBody>
      </p:sp>
      <p:sp>
        <p:nvSpPr>
          <p:cNvPr id="25" name="Rounded Rectangle 24"/>
          <p:cNvSpPr/>
          <p:nvPr/>
        </p:nvSpPr>
        <p:spPr>
          <a:xfrm>
            <a:off x="640080" y="5394960"/>
            <a:ext cx="1088136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68680" y="5550408"/>
            <a:ext cx="1051560" cy="274320"/>
          </a:xfrm>
          <a:prstGeom prst="roundRect">
            <a:avLst>
              <a:gd name="adj" fmla="val 50000"/>
            </a:avLst>
          </a:prstGeom>
          <a:solidFill>
            <a:srgbClr val="0B1120"/>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591556"/>
            <a:ext cx="1051560" cy="228600"/>
          </a:xfrm>
          <a:prstGeom prst="rect">
            <a:avLst/>
          </a:prstGeom>
          <a:noFill/>
        </p:spPr>
        <p:txBody>
          <a:bodyPr wrap="square" lIns="0" rIns="0" tIns="0" bIns="0" anchor="t">
            <a:spAutoFit/>
          </a:bodyPr>
          <a:lstStyle/>
          <a:p>
            <a:pPr algn="ctr">
              <a:lnSpc>
                <a:spcPct val="115000"/>
              </a:lnSpc>
            </a:pPr>
            <a:r>
              <a:rPr sz="1000" b="1">
                <a:solidFill>
                  <a:srgbClr val="94A3B8"/>
                </a:solidFill>
                <a:latin typeface="Helvetica Neue"/>
              </a:rPr>
              <a:t>PHASE 2</a:t>
            </a:r>
          </a:p>
        </p:txBody>
      </p:sp>
      <p:sp>
        <p:nvSpPr>
          <p:cNvPr id="28" name="TextBox 27"/>
          <p:cNvSpPr txBox="1"/>
          <p:nvPr/>
        </p:nvSpPr>
        <p:spPr>
          <a:xfrm>
            <a:off x="2194560" y="5559552"/>
            <a:ext cx="9144000" cy="36576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FDK sidebar app; official Freshworks MCP server wiring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