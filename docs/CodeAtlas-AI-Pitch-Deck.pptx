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one-line pitch: CodeAtlas gives every Freshservice incident the engineering context it's missing, and posts it back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real ticket from our tenant. The five questions are what every on-call engineer asks first, and today the answers live in GitHub, Jira, Confluence, Slack and people's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Freshworks now ships official MCP servers and REST v2 plus workflow webhooks, so agents can act on live tickets. LLMs are cheap and accurate when grounded in a graph. And systems keep fragmenting.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Suites like ServiceNow are powerful but heavy. Developer portals know ownership but don't touch incidents. Built-in helpdesk AI only sees ticket text. Our edge: a live engineering graph plus agents acting inside Freshservice.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Freshservice tickets, groups and KB flow in through REST v2 and our MCP-style connector. They join the knowledge graph and vector store alongside repos and docs. Eight agents reason over it with graph traversal, semantic search and an LLM. The result goes back into Freshservice as a private note, triggered automatically by Workflow Automator.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Frontend pages call the FastAPI backend. The orchestrator routes each request to one agent or a multi-agent pipeline. Agents reason over the Neo4j graph and vector store, GitHub changes and the Gemini LLM. Freshservice Workflow Automator calls in on ticket and change events; CodeAtlas writes back notes and group assignments through REST v2.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Freshservice knows what broke, who reported it and who is on call. CodeAtlas knows how the system is wired, what changed and who wrote the code. Three flows are live on our tenant today; CMDB is designed but our trial plan does not include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the ticket and the change fresh during the demo so judges see the before/after. Backup if the tunnel fails: the brain icon on the Freshservice Integration page runs the same diagnosis and posts the same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buyer: mid-size software companies running engineering incidents in Freshservice. Secondary: MSPs who constantly face unfamiliar client systems. The value in one line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are working assumptions to be validated with design partners. Pricing is a Marketplace add-on per agent; the free tier drives adoption; the demo video shows a ticket that diagnoses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 is the headline metric. Coverage shows the automation is really running. Correct first escalation shows the graph's ownership data is right. Conversion shows willingness to pay.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diagnosis quality depends on graph quality, and we mitigate with the Knowledge Gap agent. Privacy: private notes and a no-LLM mode. Roadmap turns mocked connectors live and adds a native FDK sidebar and change-risk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upfront about what's mocked builds trust. Freshservice is fully live; the other connectors share the same adapter interface and are Phase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ectangle 1"/>
          <p:cNvSpPr/>
          <p:nvPr/>
        </p:nvSpPr>
        <p:spPr>
          <a:xfrm>
            <a:off x="640080" y="2148840"/>
            <a:ext cx="109728" cy="192024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011680"/>
            <a:ext cx="10058400" cy="1097280"/>
          </a:xfrm>
          <a:prstGeom prst="rect">
            <a:avLst/>
          </a:prstGeom>
          <a:noFill/>
        </p:spPr>
        <p:txBody>
          <a:bodyPr wrap="square" lIns="0" rIns="0" tIns="0" bIns="0" anchor="t">
            <a:spAutoFit/>
          </a:bodyPr>
          <a:lstStyle/>
          <a:p>
            <a:pPr algn="l">
              <a:lnSpc>
                <a:spcPct val="115000"/>
              </a:lnSpc>
            </a:pPr>
            <a:r>
              <a:rPr sz="6000" b="1">
                <a:solidFill>
                  <a:srgbClr val="F8FAFC"/>
                </a:solidFill>
                <a:latin typeface="Helvetica Neue"/>
              </a:rPr>
              <a:t>CodeAtlas AI</a:t>
            </a:r>
          </a:p>
        </p:txBody>
      </p:sp>
      <p:sp>
        <p:nvSpPr>
          <p:cNvPr id="4" name="TextBox 3"/>
          <p:cNvSpPr txBox="1"/>
          <p:nvPr/>
        </p:nvSpPr>
        <p:spPr>
          <a:xfrm>
            <a:off x="1005840" y="3063240"/>
            <a:ext cx="10058400" cy="548640"/>
          </a:xfrm>
          <a:prstGeom prst="rect">
            <a:avLst/>
          </a:prstGeom>
          <a:noFill/>
        </p:spPr>
        <p:txBody>
          <a:bodyPr wrap="square" lIns="0" rIns="0" tIns="0" bIns="0" anchor="t">
            <a:spAutoFit/>
          </a:bodyPr>
          <a:lstStyle/>
          <a:p>
            <a:pPr algn="l">
              <a:lnSpc>
                <a:spcPct val="115000"/>
              </a:lnSpc>
            </a:pPr>
            <a:r>
              <a:rPr sz="2400" b="0">
                <a:solidFill>
                  <a:srgbClr val="818CF8"/>
                </a:solidFill>
                <a:latin typeface="Helvetica Neue"/>
              </a:rPr>
              <a:t>The Living Engineering Ontology and Knowledge Graph Platform</a:t>
            </a:r>
          </a:p>
        </p:txBody>
      </p:sp>
      <p:sp>
        <p:nvSpPr>
          <p:cNvPr id="5" name="TextBox 4"/>
          <p:cNvSpPr txBox="1"/>
          <p:nvPr/>
        </p:nvSpPr>
        <p:spPr>
          <a:xfrm>
            <a:off x="1005840" y="3657600"/>
            <a:ext cx="100584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Every Freshservice incident, diagnosed before anyone opens it.</a:t>
            </a:r>
          </a:p>
        </p:txBody>
      </p:sp>
      <p:sp>
        <p:nvSpPr>
          <p:cNvPr id="6" name="TextBox 5"/>
          <p:cNvSpPr txBox="1"/>
          <p:nvPr/>
        </p:nvSpPr>
        <p:spPr>
          <a:xfrm>
            <a:off x="1005840" y="5669280"/>
            <a:ext cx="10058400" cy="365760"/>
          </a:xfrm>
          <a:prstGeom prst="rect">
            <a:avLst/>
          </a:prstGeom>
          <a:noFill/>
        </p:spPr>
        <p:txBody>
          <a:bodyPr wrap="square" lIns="0" rIns="0" tIns="0" bIns="0" anchor="t">
            <a:spAutoFit/>
          </a:bodyPr>
          <a:lstStyle/>
          <a:p>
            <a:pPr algn="l">
              <a:lnSpc>
                <a:spcPct val="115000"/>
              </a:lnSpc>
            </a:pPr>
            <a:r>
              <a:rPr sz="1600" b="1">
                <a:solidFill>
                  <a:srgbClr val="F8FAFC"/>
                </a:solidFill>
                <a:latin typeface="Helvetica Neue"/>
              </a:rPr>
              <a:t>Pavan Kumar H</a:t>
            </a:r>
            <a:r>
              <a:rPr sz="1600" b="0">
                <a:solidFill>
                  <a:srgbClr val="94A3B8"/>
                </a:solidFill>
                <a:latin typeface="Helvetica Neue"/>
              </a:rPr>
              <a:t>   ·   The Great Agent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THE PROBLEM</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 ticket says what broke. Nobody knows why.</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2</a:t>
            </a:r>
          </a:p>
        </p:txBody>
      </p:sp>
      <p:sp>
        <p:nvSpPr>
          <p:cNvPr id="5" name="Rounded Rectangle 4"/>
          <p:cNvSpPr/>
          <p:nvPr/>
        </p:nvSpPr>
        <p:spPr>
          <a:xfrm>
            <a:off x="640080" y="1920240"/>
            <a:ext cx="512064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48840"/>
            <a:ext cx="45720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  INCIDENT #80</a:t>
            </a:r>
          </a:p>
        </p:txBody>
      </p:sp>
      <p:sp>
        <p:nvSpPr>
          <p:cNvPr id="7" name="TextBox 6"/>
          <p:cNvSpPr txBox="1"/>
          <p:nvPr/>
        </p:nvSpPr>
        <p:spPr>
          <a:xfrm>
            <a:off x="914400" y="2514600"/>
            <a:ext cx="4572000" cy="1097280"/>
          </a:xfrm>
          <a:prstGeom prst="rect">
            <a:avLst/>
          </a:prstGeom>
          <a:noFill/>
        </p:spPr>
        <p:txBody>
          <a:bodyPr wrap="square" lIns="0" rIns="0" tIns="0" bIns="0" anchor="t">
            <a:spAutoFit/>
          </a:bodyPr>
          <a:lstStyle/>
          <a:p>
            <a:pPr algn="l">
              <a:lnSpc>
                <a:spcPct val="115000"/>
              </a:lnSpc>
            </a:pPr>
            <a:r>
              <a:rPr sz="2200" b="1">
                <a:solidFill>
                  <a:srgbClr val="F8FAFC"/>
                </a:solidFill>
                <a:latin typeface="Helvetica Neue"/>
              </a:rPr>
              <a:t>Database connection pool exhausted on payment gateway</a:t>
            </a:r>
          </a:p>
        </p:txBody>
      </p:sp>
      <p:sp>
        <p:nvSpPr>
          <p:cNvPr id="8" name="Rounded Rectangle 7"/>
          <p:cNvSpPr/>
          <p:nvPr/>
        </p:nvSpPr>
        <p:spPr>
          <a:xfrm>
            <a:off x="914400" y="3703320"/>
            <a:ext cx="8229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4468"/>
            <a:ext cx="8229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OPEN</a:t>
            </a:r>
          </a:p>
        </p:txBody>
      </p:sp>
      <p:sp>
        <p:nvSpPr>
          <p:cNvPr id="10" name="Rounded Rectangle 9"/>
          <p:cNvSpPr/>
          <p:nvPr/>
        </p:nvSpPr>
        <p:spPr>
          <a:xfrm>
            <a:off x="1874519" y="3703320"/>
            <a:ext cx="12801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3744468"/>
            <a:ext cx="12801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UNASSIGNED</a:t>
            </a:r>
          </a:p>
        </p:txBody>
      </p:sp>
      <p:sp>
        <p:nvSpPr>
          <p:cNvPr id="12" name="TextBox 11"/>
          <p:cNvSpPr txBox="1"/>
          <p:nvPr/>
        </p:nvSpPr>
        <p:spPr>
          <a:xfrm>
            <a:off x="914400" y="4297680"/>
            <a:ext cx="4572000" cy="1005840"/>
          </a:xfrm>
          <a:prstGeom prst="rect">
            <a:avLst/>
          </a:prstGeom>
          <a:noFill/>
        </p:spPr>
        <p:txBody>
          <a:bodyPr wrap="square" lIns="0" rIns="0" tIns="0" bIns="0" anchor="t">
            <a:spAutoFit/>
          </a:bodyPr>
          <a:lstStyle/>
          <a:p>
            <a:pPr algn="l">
              <a:lnSpc>
                <a:spcPct val="115000"/>
              </a:lnSpc>
            </a:pPr>
            <a:r>
              <a:rPr sz="1400" b="0">
                <a:solidFill>
                  <a:srgbClr val="94A3B8"/>
                </a:solidFill>
                <a:latin typeface="Helvetica Neue"/>
              </a:rPr>
              <a:t>Knowledge is scattered across GitHub, Jira, Confluence, Slack, past tickets and tribal knowledge.</a:t>
            </a:r>
          </a:p>
        </p:txBody>
      </p:sp>
      <p:sp>
        <p:nvSpPr>
          <p:cNvPr id="13" name="Rounded Rectangle 12"/>
          <p:cNvSpPr/>
          <p:nvPr/>
        </p:nvSpPr>
        <p:spPr>
          <a:xfrm>
            <a:off x="6217920" y="192024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7568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5" name="TextBox 14"/>
          <p:cNvSpPr txBox="1"/>
          <p:nvPr/>
        </p:nvSpPr>
        <p:spPr>
          <a:xfrm>
            <a:off x="6858000" y="207568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service is this?</a:t>
            </a:r>
          </a:p>
        </p:txBody>
      </p:sp>
      <p:sp>
        <p:nvSpPr>
          <p:cNvPr id="16" name="Rounded Rectangle 15"/>
          <p:cNvSpPr/>
          <p:nvPr/>
        </p:nvSpPr>
        <p:spPr>
          <a:xfrm>
            <a:off x="6217920" y="265176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80720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18" name="TextBox 17"/>
          <p:cNvSpPr txBox="1"/>
          <p:nvPr/>
        </p:nvSpPr>
        <p:spPr>
          <a:xfrm>
            <a:off x="6858000" y="280720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Who owns it?</a:t>
            </a:r>
          </a:p>
        </p:txBody>
      </p:sp>
      <p:sp>
        <p:nvSpPr>
          <p:cNvPr id="19" name="Rounded Rectangle 18"/>
          <p:cNvSpPr/>
          <p:nvPr/>
        </p:nvSpPr>
        <p:spPr>
          <a:xfrm>
            <a:off x="6217920" y="338328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53872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1" name="TextBox 20"/>
          <p:cNvSpPr txBox="1"/>
          <p:nvPr/>
        </p:nvSpPr>
        <p:spPr>
          <a:xfrm>
            <a:off x="6858000" y="353872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What depends on it?</a:t>
            </a:r>
          </a:p>
        </p:txBody>
      </p:sp>
      <p:sp>
        <p:nvSpPr>
          <p:cNvPr id="22" name="Rounded Rectangle 21"/>
          <p:cNvSpPr/>
          <p:nvPr/>
        </p:nvSpPr>
        <p:spPr>
          <a:xfrm>
            <a:off x="6217920" y="411480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27024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4" name="TextBox 23"/>
          <p:cNvSpPr txBox="1"/>
          <p:nvPr/>
        </p:nvSpPr>
        <p:spPr>
          <a:xfrm>
            <a:off x="6858000" y="427024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Has this happened before?</a:t>
            </a:r>
          </a:p>
        </p:txBody>
      </p:sp>
      <p:sp>
        <p:nvSpPr>
          <p:cNvPr id="25" name="Rounded Rectangle 24"/>
          <p:cNvSpPr/>
          <p:nvPr/>
        </p:nvSpPr>
        <p:spPr>
          <a:xfrm>
            <a:off x="6217920" y="4846320"/>
            <a:ext cx="5303520" cy="5943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5001768"/>
            <a:ext cx="457200" cy="365760"/>
          </a:xfrm>
          <a:prstGeom prst="rect">
            <a:avLst/>
          </a:prstGeom>
          <a:noFill/>
        </p:spPr>
        <p:txBody>
          <a:bodyPr wrap="square" lIns="0" rIns="0" tIns="0" bIns="0" anchor="t">
            <a:spAutoFit/>
          </a:bodyPr>
          <a:lstStyle/>
          <a:p>
            <a:pPr algn="l">
              <a:lnSpc>
                <a:spcPct val="115000"/>
              </a:lnSpc>
            </a:pPr>
            <a:r>
              <a:rPr sz="1800" b="1">
                <a:solidFill>
                  <a:srgbClr val="FB7185"/>
                </a:solidFill>
                <a:latin typeface="Helvetica Neue"/>
              </a:rPr>
              <a:t>?</a:t>
            </a:r>
          </a:p>
        </p:txBody>
      </p:sp>
      <p:sp>
        <p:nvSpPr>
          <p:cNvPr id="27" name="TextBox 26"/>
          <p:cNvSpPr txBox="1"/>
          <p:nvPr/>
        </p:nvSpPr>
        <p:spPr>
          <a:xfrm>
            <a:off x="6858000" y="5001768"/>
            <a:ext cx="4572000" cy="365760"/>
          </a:xfrm>
          <a:prstGeom prst="rect">
            <a:avLst/>
          </a:prstGeom>
          <a:noFill/>
        </p:spPr>
        <p:txBody>
          <a:bodyPr wrap="square" lIns="0" rIns="0" tIns="0" bIns="0" anchor="t">
            <a:spAutoFit/>
          </a:bodyPr>
          <a:lstStyle/>
          <a:p>
            <a:pPr algn="l">
              <a:lnSpc>
                <a:spcPct val="115000"/>
              </a:lnSpc>
            </a:pPr>
            <a:r>
              <a:rPr sz="1700" b="0">
                <a:solidFill>
                  <a:srgbClr val="F8FAFC"/>
                </a:solidFill>
                <a:latin typeface="Helvetica Neue"/>
              </a:rPr>
              <a:t>Which runbook do I follow?</a:t>
            </a:r>
          </a:p>
        </p:txBody>
      </p:sp>
      <p:sp>
        <p:nvSpPr>
          <p:cNvPr id="28" name="TextBox 27"/>
          <p:cNvSpPr txBox="1"/>
          <p:nvPr/>
        </p:nvSpPr>
        <p:spPr>
          <a:xfrm>
            <a:off x="640080" y="5806440"/>
            <a:ext cx="10972800" cy="457200"/>
          </a:xfrm>
          <a:prstGeom prst="rect">
            <a:avLst/>
          </a:prstGeom>
          <a:noFill/>
        </p:spPr>
        <p:txBody>
          <a:bodyPr wrap="square" lIns="0" rIns="0" tIns="0" bIns="0" anchor="t">
            <a:spAutoFit/>
          </a:bodyPr>
          <a:lstStyle/>
          <a:p>
            <a:pPr algn="l">
              <a:lnSpc>
                <a:spcPct val="115000"/>
              </a:lnSpc>
            </a:pPr>
            <a:r>
              <a:rPr sz="1800" b="0">
                <a:solidFill>
                  <a:srgbClr val="94A3B8"/>
                </a:solidFill>
                <a:latin typeface="Helvetica Neue"/>
              </a:rPr>
              <a:t>The challenge isn't finding information. </a:t>
            </a:r>
            <a:r>
              <a:rPr sz="1800" b="1">
                <a:solidFill>
                  <a:srgbClr val="2DD4BF"/>
                </a:solidFill>
                <a:latin typeface="Helvetica Neue"/>
              </a:rPr>
              <a:t>It's understanding how it connects.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RATIONALE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Why now</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3</a:t>
            </a:r>
          </a:p>
        </p:txBody>
      </p:sp>
      <p:sp>
        <p:nvSpPr>
          <p:cNvPr id="5" name="Rounded Rectangle 4"/>
          <p:cNvSpPr/>
          <p:nvPr/>
        </p:nvSpPr>
        <p:spPr>
          <a:xfrm>
            <a:off x="640080"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Freshworks opened the door</a:t>
            </a:r>
          </a:p>
        </p:txBody>
      </p:sp>
      <p:sp>
        <p:nvSpPr>
          <p:cNvPr id="8" name="TextBox 7"/>
          <p:cNvSpPr txBox="1"/>
          <p:nvPr/>
        </p:nvSpPr>
        <p:spPr>
          <a:xfrm>
            <a:off x="914400"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Official Freshservice &amp; Freshdesk MCP servers (Freshdesk MCP generally available Sep 2026), REST v2 and Workflow Automator webhooks let agents read and act on live tickets.</a:t>
            </a:r>
          </a:p>
        </p:txBody>
      </p:sp>
      <p:sp>
        <p:nvSpPr>
          <p:cNvPr id="9" name="Rounded Rectangle 8"/>
          <p:cNvSpPr/>
          <p:nvPr/>
        </p:nvSpPr>
        <p:spPr>
          <a:xfrm>
            <a:off x="4361688"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24028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LLMs are ready, if grounded</a:t>
            </a:r>
          </a:p>
        </p:txBody>
      </p:sp>
      <p:sp>
        <p:nvSpPr>
          <p:cNvPr id="12" name="TextBox 11"/>
          <p:cNvSpPr txBox="1"/>
          <p:nvPr/>
        </p:nvSpPr>
        <p:spPr>
          <a:xfrm>
            <a:off x="4636008"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LLM reasoning is cheap and fluent. A knowledge graph keeps it factual: answers cite real services, owners and incidents.</a:t>
            </a:r>
          </a:p>
        </p:txBody>
      </p:sp>
      <p:sp>
        <p:nvSpPr>
          <p:cNvPr id="13" name="Rounded Rectangle 12"/>
          <p:cNvSpPr/>
          <p:nvPr/>
        </p:nvSpPr>
        <p:spPr>
          <a:xfrm>
            <a:off x="8083296" y="201168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240280"/>
            <a:ext cx="54864" cy="457200"/>
          </a:xfrm>
          <a:prstGeom prst="rect">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21284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Systems keep fragmenting</a:t>
            </a:r>
          </a:p>
        </p:txBody>
      </p:sp>
      <p:sp>
        <p:nvSpPr>
          <p:cNvPr id="16" name="TextBox 15"/>
          <p:cNvSpPr txBox="1"/>
          <p:nvPr/>
        </p:nvSpPr>
        <p:spPr>
          <a:xfrm>
            <a:off x="8357616" y="2743200"/>
            <a:ext cx="2971800" cy="269748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More microservices, more tools, more handoffs. Spreadsheet catalogues and tribal knowledge don't scale, and slow incidents cost revenue.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WHO ELSE SOLVES THIS</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Competitive landscape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4</a:t>
            </a:r>
          </a:p>
        </p:txBody>
      </p:sp>
      <p:graphicFrame>
        <p:nvGraphicFramePr>
          <p:cNvPr id="5" name="Table 4"/>
          <p:cNvGraphicFramePr>
            <a:graphicFrameLocks noGrp="1"/>
          </p:cNvGraphicFramePr>
          <p:nvPr/>
        </p:nvGraphicFramePr>
        <p:xfrm>
          <a:off x="640080" y="1783080"/>
          <a:ext cx="10881360" cy="3108960"/>
        </p:xfrm>
        <a:graphic>
          <a:graphicData uri="http://schemas.openxmlformats.org/drawingml/2006/table">
            <a:tbl>
              <a:tblPr firstRow="1" bandRow="1">
                <a:tableStyleId>{5C22544A-7EE6-4342-B048-85BDC9FD1C3A}</a:tableStyleId>
              </a:tblPr>
              <a:tblGrid>
                <a:gridCol w="3657600"/>
                <a:gridCol w="3017520"/>
                <a:gridCol w="4206240"/>
              </a:tblGrid>
              <a:tr h="621792">
                <a:tc>
                  <a:txBody>
                    <a:bodyPr wrap="square"/>
                    <a:lstStyle/>
                    <a:p>
                      <a:r>
                        <a:rPr sz="1200" b="1">
                          <a:solidFill>
                            <a:srgbClr val="F8FAFC"/>
                          </a:solidFill>
                          <a:latin typeface="Helvetica Neue"/>
                        </a:rPr>
                        <a:t>Alternative</a:t>
                      </a:r>
                    </a:p>
                  </a:txBody>
                  <a:tcPr marL="137160" marR="137160" anchor="ctr">
                    <a:solidFill>
                      <a:srgbClr val="2A3650"/>
                    </a:solidFill>
                  </a:tcPr>
                </a:tc>
                <a:tc>
                  <a:txBody>
                    <a:bodyPr wrap="square"/>
                    <a:lstStyle/>
                    <a:p>
                      <a:r>
                        <a:rPr sz="1200" b="1">
                          <a:solidFill>
                            <a:srgbClr val="F8FAFC"/>
                          </a:solidFill>
                          <a:latin typeface="Helvetica Neue"/>
                        </a:rPr>
                        <a:t>Strength</a:t>
                      </a:r>
                    </a:p>
                  </a:txBody>
                  <a:tcPr marL="137160" marR="137160" anchor="ctr">
                    <a:solidFill>
                      <a:srgbClr val="2A3650"/>
                    </a:solidFill>
                  </a:tcPr>
                </a:tc>
                <a:tc>
                  <a:txBody>
                    <a:bodyPr wrap="square"/>
                    <a:lstStyle/>
                    <a:p>
                      <a:r>
                        <a:rPr sz="1200" b="1">
                          <a:solidFill>
                            <a:srgbClr val="F8FAFC"/>
                          </a:solidFill>
                          <a:latin typeface="Helvetica Neue"/>
                        </a:rPr>
                        <a:t>Gap</a:t>
                      </a:r>
                    </a:p>
                  </a:txBody>
                  <a:tcPr marL="137160" marR="137160" anchor="ctr">
                    <a:solidFill>
                      <a:srgbClr val="2A3650"/>
                    </a:solidFill>
                  </a:tcPr>
                </a:tc>
              </a:tr>
              <a:tr h="621792">
                <a:tc>
                  <a:txBody>
                    <a:bodyPr wrap="square"/>
                    <a:lstStyle/>
                    <a:p>
                      <a:r>
                        <a:rPr sz="1300" b="1">
                          <a:solidFill>
                            <a:srgbClr val="F8FAFC"/>
                          </a:solidFill>
                          <a:latin typeface="Helvetica Neue"/>
                        </a:rPr>
                        <a:t>ServiceNow (CMDB + Now Assist)</a:t>
                      </a:r>
                    </a:p>
                  </a:txBody>
                  <a:tcPr marL="137160" marR="137160" anchor="ctr">
                    <a:solidFill>
                      <a:srgbClr val="151E32"/>
                    </a:solidFill>
                  </a:tcPr>
                </a:tc>
                <a:tc>
                  <a:txBody>
                    <a:bodyPr wrap="square"/>
                    <a:lstStyle/>
                    <a:p>
                      <a:r>
                        <a:rPr sz="1300" b="0">
                          <a:solidFill>
                            <a:srgbClr val="94A3B8"/>
                          </a:solidFill>
                          <a:latin typeface="Helvetica Neue"/>
                        </a:rPr>
                        <a:t>Deep ITSM + CMDB suite</a:t>
                      </a:r>
                    </a:p>
                  </a:txBody>
                  <a:tcPr marL="137160" marR="137160" anchor="ctr">
                    <a:solidFill>
                      <a:srgbClr val="151E32"/>
                    </a:solidFill>
                  </a:tcPr>
                </a:tc>
                <a:tc>
                  <a:txBody>
                    <a:bodyPr wrap="square"/>
                    <a:lstStyle/>
                    <a:p>
                      <a:r>
                        <a:rPr sz="1300" b="0">
                          <a:solidFill>
                            <a:srgbClr val="94A3B8"/>
                          </a:solidFill>
                          <a:latin typeface="Helvetica Neue"/>
                        </a:rPr>
                        <a:t>Heavy, costly, long rollout; CMDB needs manual upkeep</a:t>
                      </a:r>
                    </a:p>
                  </a:txBody>
                  <a:tcPr marL="137160" marR="137160" anchor="ctr">
                    <a:solidFill>
                      <a:srgbClr val="151E32"/>
                    </a:solidFill>
                  </a:tcPr>
                </a:tc>
              </a:tr>
              <a:tr h="621792">
                <a:tc>
                  <a:txBody>
                    <a:bodyPr wrap="square"/>
                    <a:lstStyle/>
                    <a:p>
                      <a:r>
                        <a:rPr sz="1300" b="1">
                          <a:solidFill>
                            <a:srgbClr val="F8FAFC"/>
                          </a:solidFill>
                          <a:latin typeface="Helvetica Neue"/>
                        </a:rPr>
                        <a:t>Developer portals (Backstage, Compass)</a:t>
                      </a:r>
                    </a:p>
                  </a:txBody>
                  <a:tcPr marL="137160" marR="137160" anchor="ctr">
                    <a:solidFill>
                      <a:srgbClr val="151E32"/>
                    </a:solidFill>
                  </a:tcPr>
                </a:tc>
                <a:tc>
                  <a:txBody>
                    <a:bodyPr wrap="square"/>
                    <a:lstStyle/>
                    <a:p>
                      <a:r>
                        <a:rPr sz="1300" b="0">
                          <a:solidFill>
                            <a:srgbClr val="94A3B8"/>
                          </a:solidFill>
                          <a:latin typeface="Helvetica Neue"/>
                        </a:rPr>
                        <a:t>Service catalogue &amp; ownership</a:t>
                      </a:r>
                    </a:p>
                  </a:txBody>
                  <a:tcPr marL="137160" marR="137160" anchor="ctr">
                    <a:solidFill>
                      <a:srgbClr val="151E32"/>
                    </a:solidFill>
                  </a:tcPr>
                </a:tc>
                <a:tc>
                  <a:txBody>
                    <a:bodyPr wrap="square"/>
                    <a:lstStyle/>
                    <a:p>
                      <a:r>
                        <a:rPr sz="1300" b="0">
                          <a:solidFill>
                            <a:srgbClr val="94A3B8"/>
                          </a:solidFill>
                          <a:latin typeface="Helvetica Neue"/>
                        </a:rPr>
                        <a:t>Not connected to live ITSM incidents; no diagnosis</a:t>
                      </a:r>
                    </a:p>
                  </a:txBody>
                  <a:tcPr marL="137160" marR="137160" anchor="ctr">
                    <a:solidFill>
                      <a:srgbClr val="151E32"/>
                    </a:solidFill>
                  </a:tcPr>
                </a:tc>
              </a:tr>
              <a:tr h="621792">
                <a:tc>
                  <a:txBody>
                    <a:bodyPr wrap="square"/>
                    <a:lstStyle/>
                    <a:p>
                      <a:r>
                        <a:rPr sz="1300" b="1">
                          <a:solidFill>
                            <a:srgbClr val="F8FAFC"/>
                          </a:solidFill>
                          <a:latin typeface="Helvetica Neue"/>
                        </a:rPr>
                        <a:t>Built-in helpdesk AI copilots</a:t>
                      </a:r>
                    </a:p>
                  </a:txBody>
                  <a:tcPr marL="137160" marR="137160" anchor="ctr">
                    <a:solidFill>
                      <a:srgbClr val="151E32"/>
                    </a:solidFill>
                  </a:tcPr>
                </a:tc>
                <a:tc>
                  <a:txBody>
                    <a:bodyPr wrap="square"/>
                    <a:lstStyle/>
                    <a:p>
                      <a:r>
                        <a:rPr sz="1300" b="0">
                          <a:solidFill>
                            <a:srgbClr val="94A3B8"/>
                          </a:solidFill>
                          <a:latin typeface="Helvetica Neue"/>
                        </a:rPr>
                        <a:t>Summarise / reply within a ticket</a:t>
                      </a:r>
                    </a:p>
                  </a:txBody>
                  <a:tcPr marL="137160" marR="137160" anchor="ctr">
                    <a:solidFill>
                      <a:srgbClr val="151E32"/>
                    </a:solidFill>
                  </a:tcPr>
                </a:tc>
                <a:tc>
                  <a:txBody>
                    <a:bodyPr wrap="square"/>
                    <a:lstStyle/>
                    <a:p>
                      <a:r>
                        <a:rPr sz="1300" b="0">
                          <a:solidFill>
                            <a:srgbClr val="94A3B8"/>
                          </a:solidFill>
                          <a:latin typeface="Helvetica Neue"/>
                        </a:rPr>
                        <a:t>Sees only ticket text: no dependencies, owners, blast radius</a:t>
                      </a:r>
                    </a:p>
                  </a:txBody>
                  <a:tcPr marL="137160" marR="137160" anchor="ctr">
                    <a:solidFill>
                      <a:srgbClr val="151E32"/>
                    </a:solidFill>
                  </a:tcPr>
                </a:tc>
              </a:tr>
              <a:tr h="621792">
                <a:tc>
                  <a:txBody>
                    <a:bodyPr wrap="square"/>
                    <a:lstStyle/>
                    <a:p>
                      <a:r>
                        <a:rPr sz="1300" b="1">
                          <a:solidFill>
                            <a:srgbClr val="F8FAFC"/>
                          </a:solidFill>
                          <a:latin typeface="Helvetica Neue"/>
                        </a:rPr>
                        <a:t>Do nothing (Slack, wikis, "ask Alex")</a:t>
                      </a:r>
                    </a:p>
                  </a:txBody>
                  <a:tcPr marL="137160" marR="137160" anchor="ctr">
                    <a:solidFill>
                      <a:srgbClr val="151E32"/>
                    </a:solidFill>
                  </a:tcPr>
                </a:tc>
                <a:tc>
                  <a:txBody>
                    <a:bodyPr wrap="square"/>
                    <a:lstStyle/>
                    <a:p>
                      <a:r>
                        <a:rPr sz="1300" b="0">
                          <a:solidFill>
                            <a:srgbClr val="94A3B8"/>
                          </a:solidFill>
                          <a:latin typeface="Helvetica Neue"/>
                        </a:rPr>
                        <a:t>Free, familiar</a:t>
                      </a:r>
                    </a:p>
                  </a:txBody>
                  <a:tcPr marL="137160" marR="137160" anchor="ctr">
                    <a:solidFill>
                      <a:srgbClr val="151E32"/>
                    </a:solidFill>
                  </a:tcPr>
                </a:tc>
                <a:tc>
                  <a:txBody>
                    <a:bodyPr wrap="square"/>
                    <a:lstStyle/>
                    <a:p>
                      <a:r>
                        <a:rPr sz="1300" b="0">
                          <a:solidFill>
                            <a:srgbClr val="94A3B8"/>
                          </a:solidFill>
                          <a:latin typeface="Helvetica Neue"/>
                        </a:rPr>
                        <a:t>Slow, inconsistent, depends on a few people</a:t>
                      </a:r>
                    </a:p>
                  </a:txBody>
                  <a:tcPr marL="137160" marR="137160" anchor="ctr">
                    <a:solidFill>
                      <a:srgbClr val="151E32"/>
                    </a:solidFill>
                  </a:tcPr>
                </a:tc>
              </a:tr>
            </a:tbl>
          </a:graphicData>
        </a:graphic>
      </p:graphicFrame>
      <p:sp>
        <p:nvSpPr>
          <p:cNvPr id="6" name="Rounded Rectangle 5"/>
          <p:cNvSpPr/>
          <p:nvPr/>
        </p:nvSpPr>
        <p:spPr>
          <a:xfrm>
            <a:off x="640080" y="5166360"/>
            <a:ext cx="10881360" cy="96012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03520"/>
            <a:ext cx="10424160" cy="731520"/>
          </a:xfrm>
          <a:prstGeom prst="rect">
            <a:avLst/>
          </a:prstGeom>
          <a:noFill/>
        </p:spPr>
        <p:txBody>
          <a:bodyPr wrap="square" lIns="0" rIns="0" tIns="0" bIns="0" anchor="ctr">
            <a:spAutoFit/>
          </a:bodyPr>
          <a:lstStyle/>
          <a:p>
            <a:pPr algn="l">
              <a:lnSpc>
                <a:spcPct val="115000"/>
              </a:lnSpc>
            </a:pPr>
            <a:r>
              <a:rPr sz="1600" b="1">
                <a:solidFill>
                  <a:srgbClr val="2DD4BF"/>
                </a:solidFill>
                <a:latin typeface="Helvetica Neue"/>
              </a:rPr>
              <a:t>Our edge  </a:t>
            </a:r>
            <a:r>
              <a:rPr sz="1600" b="0">
                <a:solidFill>
                  <a:srgbClr val="F8FAFC"/>
                </a:solidFill>
                <a:latin typeface="Helvetica Neue"/>
              </a:rPr>
              <a:t>A living graph of the engineering system, plus agents that act inside Freshservice. Every new ticket gets a diagnosis note automatically, without leaving the service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PROPOSED SOLUTION</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it works</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5</a:t>
            </a:r>
          </a:p>
        </p:txBody>
      </p:sp>
      <p:sp>
        <p:nvSpPr>
          <p:cNvPr id="5" name="Rounded Rectangle 4"/>
          <p:cNvSpPr/>
          <p:nvPr/>
        </p:nvSpPr>
        <p:spPr>
          <a:xfrm>
            <a:off x="64008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Sources</a:t>
            </a:r>
          </a:p>
        </p:txBody>
      </p:sp>
      <p:sp>
        <p:nvSpPr>
          <p:cNvPr id="7" name="TextBox 6"/>
          <p:cNvSpPr txBox="1"/>
          <p:nvPr/>
        </p:nvSpPr>
        <p:spPr>
          <a:xfrm>
            <a:off x="86868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Freshservice tickets, groups, KB  (live)</a:t>
            </a:r>
          </a:p>
          <a:p>
            <a:pPr algn="l">
              <a:lnSpc>
                <a:spcPct val="110000"/>
              </a:lnSpc>
              <a:spcAft>
                <a:spcPts val="800"/>
              </a:spcAft>
            </a:pPr>
            <a:r>
              <a:rPr sz="1300" b="0">
                <a:solidFill>
                  <a:srgbClr val="F8FAFC"/>
                </a:solidFill>
                <a:latin typeface="Helvetica Neue"/>
              </a:rPr>
              <a:t>GitHub repos &amp; ZIP / Excel intake</a:t>
            </a:r>
          </a:p>
          <a:p>
            <a:pPr algn="l">
              <a:lnSpc>
                <a:spcPct val="110000"/>
              </a:lnSpc>
            </a:pPr>
            <a:r>
              <a:rPr sz="1300" b="0">
                <a:solidFill>
                  <a:srgbClr val="F8FAFC"/>
                </a:solidFill>
                <a:latin typeface="Helvetica Neue"/>
              </a:rPr>
              <a:t>Jira · Confluence · Slack  (Phase 2)</a:t>
            </a:r>
          </a:p>
        </p:txBody>
      </p:sp>
      <p:sp>
        <p:nvSpPr>
          <p:cNvPr id="8" name="Right Arrow 7"/>
          <p:cNvSpPr/>
          <p:nvPr/>
        </p:nvSpPr>
        <p:spPr>
          <a:xfrm>
            <a:off x="318211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2900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Living ontology</a:t>
            </a:r>
          </a:p>
        </p:txBody>
      </p:sp>
      <p:sp>
        <p:nvSpPr>
          <p:cNvPr id="11" name="TextBox 10"/>
          <p:cNvSpPr txBox="1"/>
          <p:nvPr/>
        </p:nvSpPr>
        <p:spPr>
          <a:xfrm>
            <a:off x="365760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Neo4j knowledge graph</a:t>
            </a:r>
          </a:p>
          <a:p>
            <a:pPr algn="l">
              <a:lnSpc>
                <a:spcPct val="110000"/>
              </a:lnSpc>
              <a:spcAft>
                <a:spcPts val="800"/>
              </a:spcAft>
            </a:pPr>
            <a:r>
              <a:rPr sz="1300" b="0">
                <a:solidFill>
                  <a:srgbClr val="F8FAFC"/>
                </a:solidFill>
                <a:latin typeface="Helvetica Neue"/>
              </a:rPr>
              <a:t>Services · Teams · Owners · APIs · Incidents · Runbooks</a:t>
            </a:r>
          </a:p>
          <a:p>
            <a:pPr algn="l">
              <a:lnSpc>
                <a:spcPct val="110000"/>
              </a:lnSpc>
            </a:pPr>
            <a:r>
              <a:rPr sz="1300" b="0">
                <a:solidFill>
                  <a:srgbClr val="F8FAFC"/>
                </a:solidFill>
                <a:latin typeface="Helvetica Neue"/>
              </a:rPr>
              <a:t>Vector store for semantic search</a:t>
            </a:r>
          </a:p>
        </p:txBody>
      </p:sp>
      <p:sp>
        <p:nvSpPr>
          <p:cNvPr id="12" name="Right Arrow 11"/>
          <p:cNvSpPr/>
          <p:nvPr/>
        </p:nvSpPr>
        <p:spPr>
          <a:xfrm>
            <a:off x="597103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828800"/>
            <a:ext cx="2514600" cy="3017520"/>
          </a:xfrm>
          <a:prstGeom prst="roundRect">
            <a:avLst>
              <a:gd name="adj" fmla="val 6000"/>
            </a:avLst>
          </a:prstGeom>
          <a:solidFill>
            <a:srgbClr val="151E32"/>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57400"/>
            <a:ext cx="2057400" cy="685800"/>
          </a:xfrm>
          <a:prstGeom prst="rect">
            <a:avLst/>
          </a:prstGeom>
          <a:noFill/>
        </p:spPr>
        <p:txBody>
          <a:bodyPr wrap="square" lIns="0" rIns="0" tIns="0" bIns="0" anchor="t">
            <a:spAutoFit/>
          </a:bodyPr>
          <a:lstStyle/>
          <a:p>
            <a:pPr algn="l">
              <a:lnSpc>
                <a:spcPct val="115000"/>
              </a:lnSpc>
            </a:pPr>
            <a:r>
              <a:rPr sz="1700" b="1">
                <a:solidFill>
                  <a:srgbClr val="818CF8"/>
                </a:solidFill>
                <a:latin typeface="Helvetica Neue"/>
              </a:rPr>
              <a:t>8 AI agents</a:t>
            </a:r>
          </a:p>
        </p:txBody>
      </p:sp>
      <p:sp>
        <p:nvSpPr>
          <p:cNvPr id="15" name="TextBox 14"/>
          <p:cNvSpPr txBox="1"/>
          <p:nvPr/>
        </p:nvSpPr>
        <p:spPr>
          <a:xfrm>
            <a:off x="644652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Incident Context · Requirement Impact</a:t>
            </a:r>
          </a:p>
          <a:p>
            <a:pPr algn="l">
              <a:lnSpc>
                <a:spcPct val="110000"/>
              </a:lnSpc>
              <a:spcAft>
                <a:spcPts val="800"/>
              </a:spcAft>
            </a:pPr>
            <a:r>
              <a:rPr sz="1300" b="0">
                <a:solidFill>
                  <a:srgbClr val="F8FAFC"/>
                </a:solidFill>
                <a:latin typeface="Helvetica Neue"/>
              </a:rPr>
              <a:t>Expert Discovery · Blast Radius</a:t>
            </a:r>
          </a:p>
          <a:p>
            <a:pPr algn="l">
              <a:lnSpc>
                <a:spcPct val="110000"/>
              </a:lnSpc>
            </a:pPr>
            <a:r>
              <a:rPr sz="1300" b="0">
                <a:solidFill>
                  <a:srgbClr val="F8FAFC"/>
                </a:solidFill>
                <a:latin typeface="Helvetica Neue"/>
              </a:rPr>
              <a:t>Ontology Mentor · Storyteller · Gaps · Doc Q&amp;A</a:t>
            </a:r>
          </a:p>
        </p:txBody>
      </p:sp>
      <p:sp>
        <p:nvSpPr>
          <p:cNvPr id="16" name="Right Arrow 15"/>
          <p:cNvSpPr/>
          <p:nvPr/>
        </p:nvSpPr>
        <p:spPr>
          <a:xfrm>
            <a:off x="8759952" y="3200400"/>
            <a:ext cx="219456" cy="27432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06840" y="1828800"/>
            <a:ext cx="2514600" cy="3017520"/>
          </a:xfrm>
          <a:prstGeom prst="roundRect">
            <a:avLst>
              <a:gd name="adj" fmla="val 6000"/>
            </a:avLst>
          </a:prstGeom>
          <a:solidFill>
            <a:srgbClr val="151E32"/>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2057400"/>
            <a:ext cx="2057400" cy="685800"/>
          </a:xfrm>
          <a:prstGeom prst="rect">
            <a:avLst/>
          </a:prstGeom>
          <a:noFill/>
        </p:spPr>
        <p:txBody>
          <a:bodyPr wrap="square" lIns="0" rIns="0" tIns="0" bIns="0" anchor="t">
            <a:spAutoFit/>
          </a:bodyPr>
          <a:lstStyle/>
          <a:p>
            <a:pPr algn="l">
              <a:lnSpc>
                <a:spcPct val="115000"/>
              </a:lnSpc>
            </a:pPr>
            <a:r>
              <a:rPr sz="1700" b="1">
                <a:solidFill>
                  <a:srgbClr val="2DD4BF"/>
                </a:solidFill>
                <a:latin typeface="Helvetica Neue"/>
              </a:rPr>
              <a:t>Back in Freshservice</a:t>
            </a:r>
          </a:p>
        </p:txBody>
      </p:sp>
      <p:sp>
        <p:nvSpPr>
          <p:cNvPr id="19" name="TextBox 18"/>
          <p:cNvSpPr txBox="1"/>
          <p:nvPr/>
        </p:nvSpPr>
        <p:spPr>
          <a:xfrm>
            <a:off x="9235440" y="2834640"/>
            <a:ext cx="2057400" cy="1874520"/>
          </a:xfrm>
          <a:prstGeom prst="rect">
            <a:avLst/>
          </a:prstGeom>
          <a:noFill/>
        </p:spPr>
        <p:txBody>
          <a:bodyPr wrap="square" lIns="0" rIns="0" tIns="0" bIns="0" anchor="t">
            <a:spAutoFit/>
          </a:bodyPr>
          <a:lstStyle/>
          <a:p>
            <a:pPr algn="l">
              <a:lnSpc>
                <a:spcPct val="110000"/>
              </a:lnSpc>
              <a:spcAft>
                <a:spcPts val="800"/>
              </a:spcAft>
            </a:pPr>
            <a:r>
              <a:rPr sz="1300" b="0">
                <a:solidFill>
                  <a:srgbClr val="F8FAFC"/>
                </a:solidFill>
                <a:latin typeface="Helvetica Neue"/>
              </a:rPr>
              <a:t>Private diagnosis note + auto-routing to the right group</a:t>
            </a:r>
          </a:p>
          <a:p>
            <a:pPr algn="l">
              <a:lnSpc>
                <a:spcPct val="110000"/>
              </a:lnSpc>
              <a:spcAft>
                <a:spcPts val="800"/>
              </a:spcAft>
            </a:pPr>
            <a:r>
              <a:rPr sz="1300" b="0">
                <a:solidFill>
                  <a:srgbClr val="F8FAFC"/>
                </a:solidFill>
                <a:latin typeface="Helvetica Neue"/>
              </a:rPr>
              <a:t>Blast-radius note on every new Change</a:t>
            </a:r>
          </a:p>
          <a:p>
            <a:pPr algn="l">
              <a:lnSpc>
                <a:spcPct val="110000"/>
              </a:lnSpc>
              <a:spcAft>
                <a:spcPts val="800"/>
              </a:spcAft>
            </a:pPr>
            <a:r>
              <a:rPr sz="1300" b="0">
                <a:solidFill>
                  <a:srgbClr val="F8FAFC"/>
                </a:solidFill>
                <a:latin typeface="Helvetica Neue"/>
              </a:rPr>
              <a:t>Auto-triggered by Workflow Automator</a:t>
            </a:r>
          </a:p>
          <a:p>
            <a:pPr algn="l">
              <a:lnSpc>
                <a:spcPct val="110000"/>
              </a:lnSpc>
            </a:pPr>
            <a:r>
              <a:rPr sz="1300" b="0">
                <a:solidFill>
                  <a:srgbClr val="F8FAFC"/>
                </a:solidFill>
                <a:latin typeface="Helvetica Neue"/>
              </a:rPr>
              <a:t>Explainable: trace + sources</a:t>
            </a:r>
          </a:p>
        </p:txBody>
      </p:sp>
      <p:sp>
        <p:nvSpPr>
          <p:cNvPr id="20" name="TextBox 19"/>
          <p:cNvSpPr txBox="1"/>
          <p:nvPr/>
        </p:nvSpPr>
        <p:spPr>
          <a:xfrm>
            <a:off x="640080" y="5120640"/>
            <a:ext cx="10881360" cy="457200"/>
          </a:xfrm>
          <a:prstGeom prst="rect">
            <a:avLst/>
          </a:prstGeom>
          <a:noFill/>
        </p:spPr>
        <p:txBody>
          <a:bodyPr wrap="square" lIns="0" rIns="0" tIns="0" bIns="0" anchor="t">
            <a:spAutoFit/>
          </a:bodyPr>
          <a:lstStyle/>
          <a:p>
            <a:pPr algn="l">
              <a:lnSpc>
                <a:spcPct val="115000"/>
              </a:lnSpc>
            </a:pPr>
            <a:r>
              <a:rPr sz="1500" b="1">
                <a:solidFill>
                  <a:srgbClr val="F8FAFC"/>
                </a:solidFill>
                <a:latin typeface="Helvetica Neue"/>
              </a:rPr>
              <a:t>Hybrid intelligence: </a:t>
            </a:r>
            <a:r>
              <a:rPr sz="1500" b="0">
                <a:solidFill>
                  <a:srgbClr val="94A3B8"/>
                </a:solidFill>
                <a:latin typeface="Helvetica Neue"/>
              </a:rPr>
              <a:t>graph traversal + semantic search + LLM reasoning, with a rule-based fallback when no LLM is available.</a:t>
            </a:r>
          </a:p>
        </p:txBody>
      </p:sp>
      <p:sp>
        <p:nvSpPr>
          <p:cNvPr id="21" name="TextBox 20"/>
          <p:cNvSpPr txBox="1"/>
          <p:nvPr/>
        </p:nvSpPr>
        <p:spPr>
          <a:xfrm>
            <a:off x="640080" y="5623560"/>
            <a:ext cx="10881360" cy="457200"/>
          </a:xfrm>
          <a:prstGeom prst="rect">
            <a:avLst/>
          </a:prstGeom>
          <a:noFill/>
        </p:spPr>
        <p:txBody>
          <a:bodyPr wrap="square" lIns="0" rIns="0" tIns="0" bIns="0" anchor="t">
            <a:spAutoFit/>
          </a:bodyPr>
          <a:lstStyle/>
          <a:p>
            <a:pPr algn="l">
              <a:lnSpc>
                <a:spcPct val="115000"/>
              </a:lnSpc>
            </a:pPr>
            <a:r>
              <a:rPr sz="1400" b="1">
                <a:solidFill>
                  <a:srgbClr val="2DD4BF"/>
                </a:solidFill>
                <a:latin typeface="Helvetica Neue"/>
              </a:rPr>
              <a:t>MVP: </a:t>
            </a:r>
            <a:r>
              <a:rPr sz="1400" b="0">
                <a:solidFill>
                  <a:srgbClr val="94A3B8"/>
                </a:solidFill>
                <a:latin typeface="Helvetica Neue"/>
              </a:rPr>
              <a:t>incidents → graph → auto-diagnosis · impact analysis · expert finder · blast radius · knowledge gaps · graph explorer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HOW THE PIECES CONNECT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Architecture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6</a:t>
            </a:r>
          </a:p>
        </p:txBody>
      </p:sp>
      <p:sp>
        <p:nvSpPr>
          <p:cNvPr id="5" name="Rounded Rectangle 4"/>
          <p:cNvSpPr/>
          <p:nvPr/>
        </p:nvSpPr>
        <p:spPr>
          <a:xfrm>
            <a:off x="640080" y="1691640"/>
            <a:ext cx="10881360" cy="4572000"/>
          </a:xfrm>
          <a:prstGeom prst="roundRect">
            <a:avLst>
              <a:gd name="adj" fmla="val 2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ure-1.png"/>
          <p:cNvPicPr>
            <a:picLocks noChangeAspect="1"/>
          </p:cNvPicPr>
          <p:nvPr/>
        </p:nvPicPr>
        <p:blipFill>
          <a:blip r:embed="rId3"/>
          <a:stretch>
            <a:fillRect/>
          </a:stretch>
        </p:blipFill>
        <p:spPr>
          <a:xfrm>
            <a:off x="1783080" y="1783080"/>
            <a:ext cx="8115731"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INTEGRATION MAP</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Every module plugs into Freshservice</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7</a:t>
            </a:r>
          </a:p>
        </p:txBody>
      </p:sp>
      <p:sp>
        <p:nvSpPr>
          <p:cNvPr id="5" name="TextBox 4"/>
          <p:cNvSpPr txBox="1"/>
          <p:nvPr/>
        </p:nvSpPr>
        <p:spPr>
          <a:xfrm>
            <a:off x="868680" y="1737360"/>
            <a:ext cx="27432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FRESHSERVICE EVENT</a:t>
            </a:r>
          </a:p>
        </p:txBody>
      </p:sp>
      <p:sp>
        <p:nvSpPr>
          <p:cNvPr id="6" name="TextBox 5"/>
          <p:cNvSpPr txBox="1"/>
          <p:nvPr/>
        </p:nvSpPr>
        <p:spPr>
          <a:xfrm>
            <a:off x="3429000" y="1737360"/>
            <a:ext cx="292608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CODEATLAS</a:t>
            </a:r>
          </a:p>
        </p:txBody>
      </p:sp>
      <p:sp>
        <p:nvSpPr>
          <p:cNvPr id="7" name="TextBox 6"/>
          <p:cNvSpPr txBox="1"/>
          <p:nvPr/>
        </p:nvSpPr>
        <p:spPr>
          <a:xfrm>
            <a:off x="6446520" y="1737360"/>
            <a:ext cx="3657600" cy="274320"/>
          </a:xfrm>
          <a:prstGeom prst="rect">
            <a:avLst/>
          </a:prstGeom>
          <a:noFill/>
        </p:spPr>
        <p:txBody>
          <a:bodyPr wrap="square" lIns="0" rIns="0" tIns="0" bIns="0" anchor="t">
            <a:spAutoFit/>
          </a:bodyPr>
          <a:lstStyle/>
          <a:p>
            <a:pPr algn="l">
              <a:lnSpc>
                <a:spcPct val="115000"/>
              </a:lnSpc>
            </a:pPr>
            <a:r>
              <a:rPr sz="1100" b="1">
                <a:solidFill>
                  <a:srgbClr val="94A3B8"/>
                </a:solidFill>
                <a:latin typeface="Helvetica Neue"/>
              </a:rPr>
              <a:t>WRITTEN BACK</a:t>
            </a:r>
          </a:p>
        </p:txBody>
      </p:sp>
      <p:sp>
        <p:nvSpPr>
          <p:cNvPr id="8" name="Rounded Rectangle 7"/>
          <p:cNvSpPr/>
          <p:nvPr/>
        </p:nvSpPr>
        <p:spPr>
          <a:xfrm>
            <a:off x="640080" y="2057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12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Ticket is raised</a:t>
            </a:r>
          </a:p>
        </p:txBody>
      </p:sp>
      <p:sp>
        <p:nvSpPr>
          <p:cNvPr id="10" name="TextBox 9"/>
          <p:cNvSpPr txBox="1"/>
          <p:nvPr/>
        </p:nvSpPr>
        <p:spPr>
          <a:xfrm>
            <a:off x="3429000" y="2221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11" name="TextBox 10"/>
          <p:cNvSpPr txBox="1"/>
          <p:nvPr/>
        </p:nvSpPr>
        <p:spPr>
          <a:xfrm>
            <a:off x="6446520" y="2221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Diagnosis note + auto-route to the right group</a:t>
            </a:r>
          </a:p>
        </p:txBody>
      </p:sp>
      <p:sp>
        <p:nvSpPr>
          <p:cNvPr id="12" name="Rounded Rectangle 11"/>
          <p:cNvSpPr/>
          <p:nvPr/>
        </p:nvSpPr>
        <p:spPr>
          <a:xfrm>
            <a:off x="10332720" y="22037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0" y="22448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4" name="Rounded Rectangle 13"/>
          <p:cNvSpPr/>
          <p:nvPr/>
        </p:nvSpPr>
        <p:spPr>
          <a:xfrm>
            <a:off x="640080" y="27432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8986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Change is created</a:t>
            </a:r>
          </a:p>
        </p:txBody>
      </p:sp>
      <p:sp>
        <p:nvSpPr>
          <p:cNvPr id="16" name="TextBox 15"/>
          <p:cNvSpPr txBox="1"/>
          <p:nvPr/>
        </p:nvSpPr>
        <p:spPr>
          <a:xfrm>
            <a:off x="3429000" y="29077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Impact → Ontology → Expert pipeline</a:t>
            </a:r>
          </a:p>
        </p:txBody>
      </p:sp>
      <p:sp>
        <p:nvSpPr>
          <p:cNvPr id="17" name="TextBox 16"/>
          <p:cNvSpPr txBox="1"/>
          <p:nvPr/>
        </p:nvSpPr>
        <p:spPr>
          <a:xfrm>
            <a:off x="6446520" y="29077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Blast radius, risk, CAB reviewers</a:t>
            </a:r>
          </a:p>
        </p:txBody>
      </p:sp>
      <p:sp>
        <p:nvSpPr>
          <p:cNvPr id="18" name="Rounded Rectangle 17"/>
          <p:cNvSpPr/>
          <p:nvPr/>
        </p:nvSpPr>
        <p:spPr>
          <a:xfrm>
            <a:off x="10332720" y="28895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0" y="29306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0" name="Rounded Rectangle 19"/>
          <p:cNvSpPr/>
          <p:nvPr/>
        </p:nvSpPr>
        <p:spPr>
          <a:xfrm>
            <a:off x="640080" y="34290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844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Sync</a:t>
            </a:r>
          </a:p>
        </p:txBody>
      </p:sp>
      <p:sp>
        <p:nvSpPr>
          <p:cNvPr id="22" name="TextBox 21"/>
          <p:cNvSpPr txBox="1"/>
          <p:nvPr/>
        </p:nvSpPr>
        <p:spPr>
          <a:xfrm>
            <a:off x="3429000" y="35935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Freshservice connector</a:t>
            </a:r>
          </a:p>
        </p:txBody>
      </p:sp>
      <p:sp>
        <p:nvSpPr>
          <p:cNvPr id="23" name="TextBox 22"/>
          <p:cNvSpPr txBox="1"/>
          <p:nvPr/>
        </p:nvSpPr>
        <p:spPr>
          <a:xfrm>
            <a:off x="6446520" y="35935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Tickets → Incidents, groups → Teams</a:t>
            </a:r>
          </a:p>
        </p:txBody>
      </p:sp>
      <p:sp>
        <p:nvSpPr>
          <p:cNvPr id="24" name="Rounded Rectangle 23"/>
          <p:cNvSpPr/>
          <p:nvPr/>
        </p:nvSpPr>
        <p:spPr>
          <a:xfrm>
            <a:off x="10332720" y="35753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36164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26" name="Rounded Rectangle 25"/>
          <p:cNvSpPr/>
          <p:nvPr/>
        </p:nvSpPr>
        <p:spPr>
          <a:xfrm>
            <a:off x="640080" y="41148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2702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KB search</a:t>
            </a:r>
          </a:p>
        </p:txBody>
      </p:sp>
      <p:sp>
        <p:nvSpPr>
          <p:cNvPr id="28" name="TextBox 27"/>
          <p:cNvSpPr txBox="1"/>
          <p:nvPr/>
        </p:nvSpPr>
        <p:spPr>
          <a:xfrm>
            <a:off x="3429000" y="42793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Incident Context Agent</a:t>
            </a:r>
          </a:p>
        </p:txBody>
      </p:sp>
      <p:sp>
        <p:nvSpPr>
          <p:cNvPr id="29" name="TextBox 28"/>
          <p:cNvSpPr txBox="1"/>
          <p:nvPr/>
        </p:nvSpPr>
        <p:spPr>
          <a:xfrm>
            <a:off x="6446520" y="42793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KB articles cited in each diagnosis</a:t>
            </a:r>
          </a:p>
        </p:txBody>
      </p:sp>
      <p:sp>
        <p:nvSpPr>
          <p:cNvPr id="30" name="Rounded Rectangle 29"/>
          <p:cNvSpPr/>
          <p:nvPr/>
        </p:nvSpPr>
        <p:spPr>
          <a:xfrm>
            <a:off x="10332720" y="4261104"/>
            <a:ext cx="100584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32720" y="4302252"/>
            <a:ext cx="100584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32" name="Rounded Rectangle 31"/>
          <p:cNvSpPr/>
          <p:nvPr/>
        </p:nvSpPr>
        <p:spPr>
          <a:xfrm>
            <a:off x="640080" y="48006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560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CMDB relationships</a:t>
            </a:r>
          </a:p>
        </p:txBody>
      </p:sp>
      <p:sp>
        <p:nvSpPr>
          <p:cNvPr id="34" name="TextBox 33"/>
          <p:cNvSpPr txBox="1"/>
          <p:nvPr/>
        </p:nvSpPr>
        <p:spPr>
          <a:xfrm>
            <a:off x="3429000" y="49651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Graph</a:t>
            </a:r>
          </a:p>
        </p:txBody>
      </p:sp>
      <p:sp>
        <p:nvSpPr>
          <p:cNvPr id="35" name="TextBox 34"/>
          <p:cNvSpPr txBox="1"/>
          <p:nvPr/>
        </p:nvSpPr>
        <p:spPr>
          <a:xfrm>
            <a:off x="6446520" y="49651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Code-derived dependencies as CI links</a:t>
            </a:r>
          </a:p>
        </p:txBody>
      </p:sp>
      <p:sp>
        <p:nvSpPr>
          <p:cNvPr id="36" name="Rounded Rectangle 35"/>
          <p:cNvSpPr/>
          <p:nvPr/>
        </p:nvSpPr>
        <p:spPr>
          <a:xfrm>
            <a:off x="10332720" y="4946904"/>
            <a:ext cx="100584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32720" y="4988052"/>
            <a:ext cx="100584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DESIGNED</a:t>
            </a:r>
          </a:p>
        </p:txBody>
      </p:sp>
      <p:sp>
        <p:nvSpPr>
          <p:cNvPr id="38" name="Rounded Rectangle 37"/>
          <p:cNvSpPr/>
          <p:nvPr/>
        </p:nvSpPr>
        <p:spPr>
          <a:xfrm>
            <a:off x="640080" y="5486400"/>
            <a:ext cx="10881360" cy="566928"/>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641848"/>
            <a:ext cx="24688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Problems &amp; KB drafts</a:t>
            </a:r>
          </a:p>
        </p:txBody>
      </p:sp>
      <p:sp>
        <p:nvSpPr>
          <p:cNvPr id="40" name="TextBox 39"/>
          <p:cNvSpPr txBox="1"/>
          <p:nvPr/>
        </p:nvSpPr>
        <p:spPr>
          <a:xfrm>
            <a:off x="3429000" y="5650992"/>
            <a:ext cx="2926080" cy="320040"/>
          </a:xfrm>
          <a:prstGeom prst="rect">
            <a:avLst/>
          </a:prstGeom>
          <a:noFill/>
        </p:spPr>
        <p:txBody>
          <a:bodyPr wrap="square" lIns="0" rIns="0" tIns="0" bIns="0" anchor="t">
            <a:spAutoFit/>
          </a:bodyPr>
          <a:lstStyle/>
          <a:p>
            <a:pPr algn="l">
              <a:lnSpc>
                <a:spcPct val="115000"/>
              </a:lnSpc>
            </a:pPr>
            <a:r>
              <a:rPr sz="1300" b="0">
                <a:solidFill>
                  <a:srgbClr val="818CF8"/>
                </a:solidFill>
                <a:latin typeface="Helvetica Neue"/>
              </a:rPr>
              <a:t>Knowledge Gap Agent</a:t>
            </a:r>
          </a:p>
        </p:txBody>
      </p:sp>
      <p:sp>
        <p:nvSpPr>
          <p:cNvPr id="41" name="TextBox 40"/>
          <p:cNvSpPr txBox="1"/>
          <p:nvPr/>
        </p:nvSpPr>
        <p:spPr>
          <a:xfrm>
            <a:off x="6446520" y="5650992"/>
            <a:ext cx="38404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Recurring incidents → Problem, KB drafts</a:t>
            </a:r>
          </a:p>
        </p:txBody>
      </p:sp>
      <p:sp>
        <p:nvSpPr>
          <p:cNvPr id="42" name="Rounded Rectangle 41"/>
          <p:cNvSpPr/>
          <p:nvPr/>
        </p:nvSpPr>
        <p:spPr>
          <a:xfrm>
            <a:off x="10332720" y="5632704"/>
            <a:ext cx="100584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0" y="5673852"/>
            <a:ext cx="100584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SEE IT WORK</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Live demo</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8</a:t>
            </a:r>
          </a:p>
        </p:txBody>
      </p:sp>
      <p:sp>
        <p:nvSpPr>
          <p:cNvPr id="5" name="Rounded Rectangle 4"/>
          <p:cNvSpPr/>
          <p:nvPr/>
        </p:nvSpPr>
        <p:spPr>
          <a:xfrm>
            <a:off x="64008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1</a:t>
            </a:r>
          </a:p>
        </p:txBody>
      </p:sp>
      <p:sp>
        <p:nvSpPr>
          <p:cNvPr id="8" name="TextBox 7"/>
          <p:cNvSpPr txBox="1"/>
          <p:nvPr/>
        </p:nvSpPr>
        <p:spPr>
          <a:xfrm>
            <a:off x="164592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ticket</a:t>
            </a:r>
          </a:p>
        </p:txBody>
      </p:sp>
      <p:sp>
        <p:nvSpPr>
          <p:cNvPr id="9" name="TextBox 8"/>
          <p:cNvSpPr txBox="1"/>
          <p:nvPr/>
        </p:nvSpPr>
        <p:spPr>
          <a:xfrm>
            <a:off x="164592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"DB connection pool exhausted on Payment Service after deploy"</a:t>
            </a:r>
          </a:p>
        </p:txBody>
      </p:sp>
      <p:sp>
        <p:nvSpPr>
          <p:cNvPr id="10" name="Rounded Rectangle 9"/>
          <p:cNvSpPr/>
          <p:nvPr/>
        </p:nvSpPr>
        <p:spPr>
          <a:xfrm>
            <a:off x="6172200" y="18288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0" y="21488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2585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2</a:t>
            </a:r>
          </a:p>
        </p:txBody>
      </p:sp>
      <p:sp>
        <p:nvSpPr>
          <p:cNvPr id="13" name="TextBox 12"/>
          <p:cNvSpPr txBox="1"/>
          <p:nvPr/>
        </p:nvSpPr>
        <p:spPr>
          <a:xfrm>
            <a:off x="7178040" y="20299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Diagnose + route</a:t>
            </a:r>
          </a:p>
        </p:txBody>
      </p:sp>
      <p:sp>
        <p:nvSpPr>
          <p:cNvPr id="14" name="TextBox 13"/>
          <p:cNvSpPr txBox="1"/>
          <p:nvPr/>
        </p:nvSpPr>
        <p:spPr>
          <a:xfrm>
            <a:off x="7178040" y="23957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Workflow Automator fires → note posted, ticket lands in Database Team</a:t>
            </a:r>
          </a:p>
        </p:txBody>
      </p:sp>
      <p:sp>
        <p:nvSpPr>
          <p:cNvPr id="15" name="Rounded Rectangle 14"/>
          <p:cNvSpPr/>
          <p:nvPr/>
        </p:nvSpPr>
        <p:spPr>
          <a:xfrm>
            <a:off x="64008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3</a:t>
            </a:r>
          </a:p>
        </p:txBody>
      </p:sp>
      <p:sp>
        <p:nvSpPr>
          <p:cNvPr id="18" name="TextBox 17"/>
          <p:cNvSpPr txBox="1"/>
          <p:nvPr/>
        </p:nvSpPr>
        <p:spPr>
          <a:xfrm>
            <a:off x="164592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Show the trace</a:t>
            </a:r>
          </a:p>
        </p:txBody>
      </p:sp>
      <p:sp>
        <p:nvSpPr>
          <p:cNvPr id="19" name="TextBox 18"/>
          <p:cNvSpPr txBox="1"/>
          <p:nvPr/>
        </p:nvSpPr>
        <p:spPr>
          <a:xfrm>
            <a:off x="164592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Freshservice Integration page → brain icon → live agent trace · Activity Log</a:t>
            </a:r>
          </a:p>
        </p:txBody>
      </p:sp>
      <p:sp>
        <p:nvSpPr>
          <p:cNvPr id="20" name="Rounded Rectangle 19"/>
          <p:cNvSpPr/>
          <p:nvPr/>
        </p:nvSpPr>
        <p:spPr>
          <a:xfrm>
            <a:off x="6172200" y="32004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35204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6301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4</a:t>
            </a:r>
          </a:p>
        </p:txBody>
      </p:sp>
      <p:sp>
        <p:nvSpPr>
          <p:cNvPr id="23" name="TextBox 22"/>
          <p:cNvSpPr txBox="1"/>
          <p:nvPr/>
        </p:nvSpPr>
        <p:spPr>
          <a:xfrm>
            <a:off x="7178040" y="34015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Raise a change</a:t>
            </a:r>
          </a:p>
        </p:txBody>
      </p:sp>
      <p:sp>
        <p:nvSpPr>
          <p:cNvPr id="24" name="TextBox 23"/>
          <p:cNvSpPr txBox="1"/>
          <p:nvPr/>
        </p:nvSpPr>
        <p:spPr>
          <a:xfrm>
            <a:off x="7178040" y="37673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In Freshservice: "Upgrade SMTP relay config for Notification Service"</a:t>
            </a:r>
          </a:p>
        </p:txBody>
      </p:sp>
      <p:sp>
        <p:nvSpPr>
          <p:cNvPr id="25" name="Rounded Rectangle 24"/>
          <p:cNvSpPr/>
          <p:nvPr/>
        </p:nvSpPr>
        <p:spPr>
          <a:xfrm>
            <a:off x="64008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868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5</a:t>
            </a:r>
          </a:p>
        </p:txBody>
      </p:sp>
      <p:sp>
        <p:nvSpPr>
          <p:cNvPr id="28" name="TextBox 27"/>
          <p:cNvSpPr txBox="1"/>
          <p:nvPr/>
        </p:nvSpPr>
        <p:spPr>
          <a:xfrm>
            <a:off x="164592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Blast radius</a:t>
            </a:r>
          </a:p>
        </p:txBody>
      </p:sp>
      <p:sp>
        <p:nvSpPr>
          <p:cNvPr id="29" name="TextBox 28"/>
          <p:cNvSpPr txBox="1"/>
          <p:nvPr/>
        </p:nvSpPr>
        <p:spPr>
          <a:xfrm>
            <a:off x="164592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3-agent pipeline → impact, downstream services, CAB reviewers on the change</a:t>
            </a:r>
          </a:p>
        </p:txBody>
      </p:sp>
      <p:sp>
        <p:nvSpPr>
          <p:cNvPr id="30" name="Rounded Rectangle 29"/>
          <p:cNvSpPr/>
          <p:nvPr/>
        </p:nvSpPr>
        <p:spPr>
          <a:xfrm>
            <a:off x="6172200" y="4572000"/>
            <a:ext cx="5349240" cy="11887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00800" y="4892040"/>
            <a:ext cx="548640" cy="548640"/>
          </a:xfrm>
          <a:prstGeom prst="ellipse">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5001768"/>
            <a:ext cx="548640" cy="365760"/>
          </a:xfrm>
          <a:prstGeom prst="rect">
            <a:avLst/>
          </a:prstGeom>
          <a:noFill/>
        </p:spPr>
        <p:txBody>
          <a:bodyPr wrap="square" lIns="0" rIns="0" tIns="0" bIns="0" anchor="t">
            <a:spAutoFit/>
          </a:bodyPr>
          <a:lstStyle/>
          <a:p>
            <a:pPr algn="ctr">
              <a:lnSpc>
                <a:spcPct val="115000"/>
              </a:lnSpc>
            </a:pPr>
            <a:r>
              <a:rPr sz="1700" b="1">
                <a:solidFill>
                  <a:srgbClr val="F8FAFC"/>
                </a:solidFill>
                <a:latin typeface="Helvetica Neue"/>
              </a:rPr>
              <a:t>6</a:t>
            </a:r>
          </a:p>
        </p:txBody>
      </p:sp>
      <p:sp>
        <p:nvSpPr>
          <p:cNvPr id="33" name="TextBox 32"/>
          <p:cNvSpPr txBox="1"/>
          <p:nvPr/>
        </p:nvSpPr>
        <p:spPr>
          <a:xfrm>
            <a:off x="7178040" y="4773168"/>
            <a:ext cx="4114800" cy="36576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Explore</a:t>
            </a:r>
          </a:p>
        </p:txBody>
      </p:sp>
      <p:sp>
        <p:nvSpPr>
          <p:cNvPr id="34" name="TextBox 33"/>
          <p:cNvSpPr txBox="1"/>
          <p:nvPr/>
        </p:nvSpPr>
        <p:spPr>
          <a:xfrm>
            <a:off x="7178040" y="5138928"/>
            <a:ext cx="4160520" cy="548640"/>
          </a:xfrm>
          <a:prstGeom prst="rect">
            <a:avLst/>
          </a:prstGeom>
          <a:noFill/>
        </p:spPr>
        <p:txBody>
          <a:bodyPr wrap="square" lIns="0" rIns="0" tIns="0" bIns="0" anchor="t">
            <a:spAutoFit/>
          </a:bodyPr>
          <a:lstStyle/>
          <a:p>
            <a:pPr algn="l">
              <a:lnSpc>
                <a:spcPct val="115000"/>
              </a:lnSpc>
            </a:pPr>
            <a:r>
              <a:rPr sz="1300" b="0">
                <a:solidFill>
                  <a:srgbClr val="94A3B8"/>
                </a:solidFill>
                <a:latin typeface="Helvetica Neue"/>
              </a:rPr>
              <a:t>Knowledge Graph → Notification Service → Blast Radius highlights the same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TARGET CUSTOMERS &amp; VALUE</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Who it's for, and why they'll want it</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9</a:t>
            </a:r>
          </a:p>
        </p:txBody>
      </p:sp>
      <p:sp>
        <p:nvSpPr>
          <p:cNvPr id="5" name="Rounded Rectangle 4"/>
          <p:cNvSpPr/>
          <p:nvPr/>
        </p:nvSpPr>
        <p:spPr>
          <a:xfrm>
            <a:off x="64008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Primary</a:t>
            </a:r>
          </a:p>
        </p:txBody>
      </p:sp>
      <p:sp>
        <p:nvSpPr>
          <p:cNvPr id="8" name="TextBox 7"/>
          <p:cNvSpPr txBox="1"/>
          <p:nvPr/>
        </p:nvSpPr>
        <p:spPr>
          <a:xfrm>
            <a:off x="91440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Mid-size software &amp; digital companies (200–2,000 employees) running IT/engineering incidents in Freshservice, with 20+ microservices and several teams.</a:t>
            </a:r>
          </a:p>
        </p:txBody>
      </p:sp>
      <p:sp>
        <p:nvSpPr>
          <p:cNvPr id="9" name="Rounded Rectangle 8"/>
          <p:cNvSpPr/>
          <p:nvPr/>
        </p:nvSpPr>
        <p:spPr>
          <a:xfrm>
            <a:off x="6217920" y="1828800"/>
            <a:ext cx="5303520" cy="21031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29968"/>
            <a:ext cx="48006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Secondary</a:t>
            </a:r>
          </a:p>
        </p:txBody>
      </p:sp>
      <p:sp>
        <p:nvSpPr>
          <p:cNvPr id="12" name="TextBox 11"/>
          <p:cNvSpPr txBox="1"/>
          <p:nvPr/>
        </p:nvSpPr>
        <p:spPr>
          <a:xfrm>
            <a:off x="6492240" y="2560320"/>
            <a:ext cx="4800600" cy="1234440"/>
          </a:xfrm>
          <a:prstGeom prst="rect">
            <a:avLst/>
          </a:prstGeom>
          <a:noFill/>
        </p:spPr>
        <p:txBody>
          <a:bodyPr wrap="square" lIns="0" rIns="0" tIns="0" bIns="0" anchor="t">
            <a:spAutoFit/>
          </a:bodyPr>
          <a:lstStyle/>
          <a:p>
            <a:pPr algn="l">
              <a:lnSpc>
                <a:spcPct val="115000"/>
              </a:lnSpc>
            </a:pPr>
            <a:r>
              <a:rPr sz="1500" b="0">
                <a:solidFill>
                  <a:srgbClr val="94A3B8"/>
                </a:solidFill>
                <a:latin typeface="Helvetica Neue"/>
              </a:rPr>
              <a:t>Freshservice MSPs supporting many client environments who need fast context on unfamiliar systems.</a:t>
            </a:r>
          </a:p>
        </p:txBody>
      </p:sp>
      <p:sp>
        <p:nvSpPr>
          <p:cNvPr id="13" name="TextBox 12"/>
          <p:cNvSpPr txBox="1"/>
          <p:nvPr/>
        </p:nvSpPr>
        <p:spPr>
          <a:xfrm>
            <a:off x="640080" y="4160520"/>
            <a:ext cx="10881360" cy="320040"/>
          </a:xfrm>
          <a:prstGeom prst="rect">
            <a:avLst/>
          </a:prstGeom>
          <a:noFill/>
        </p:spPr>
        <p:txBody>
          <a:bodyPr wrap="square" lIns="0" rIns="0" tIns="0" bIns="0" anchor="t">
            <a:spAutoFit/>
          </a:bodyPr>
          <a:lstStyle/>
          <a:p>
            <a:pPr algn="l">
              <a:lnSpc>
                <a:spcPct val="115000"/>
              </a:lnSpc>
            </a:pPr>
            <a:r>
              <a:rPr sz="1200" b="1">
                <a:solidFill>
                  <a:srgbClr val="94A3B8"/>
                </a:solidFill>
                <a:latin typeface="Helvetica Neue"/>
              </a:rPr>
              <a:t>USERS:  service-desk agents  ·  on-call / SRE  ·  tech leads &amp; architects  ·  new engineers</a:t>
            </a:r>
          </a:p>
        </p:txBody>
      </p:sp>
      <p:sp>
        <p:nvSpPr>
          <p:cNvPr id="14" name="Rounded Rectangle 13"/>
          <p:cNvSpPr/>
          <p:nvPr/>
        </p:nvSpPr>
        <p:spPr>
          <a:xfrm>
            <a:off x="640080" y="4663440"/>
            <a:ext cx="10881360" cy="1463040"/>
          </a:xfrm>
          <a:prstGeom prst="roundRect">
            <a:avLst>
              <a:gd name="adj" fmla="val 6000"/>
            </a:avLst>
          </a:prstGeom>
          <a:solidFill>
            <a:srgbClr val="0F2A2E"/>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800600"/>
            <a:ext cx="10332720" cy="1188720"/>
          </a:xfrm>
          <a:prstGeom prst="rect">
            <a:avLst/>
          </a:prstGeom>
          <a:noFill/>
        </p:spPr>
        <p:txBody>
          <a:bodyPr wrap="square" lIns="0" rIns="0" tIns="0" bIns="0" anchor="ctr">
            <a:spAutoFit/>
          </a:bodyPr>
          <a:lstStyle/>
          <a:p>
            <a:pPr algn="l">
              <a:lnSpc>
                <a:spcPct val="115000"/>
              </a:lnSpc>
            </a:pPr>
            <a:r>
              <a:rPr sz="1800" b="0">
                <a:solidFill>
                  <a:srgbClr val="F8FAFC"/>
                </a:solidFill>
                <a:latin typeface="Helvetica Neue"/>
              </a:rPr>
              <a:t>Every incident arrives already diagnosed: likely service, dependencies, past incidents, runbook and escalation path. Teams resolve faster, escalate to the right owner first time, and know what breaks before a change ships.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PRICING · GO-TO-MARKET · COST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Business model</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10</a:t>
            </a:r>
          </a:p>
        </p:txBody>
      </p:sp>
      <p:sp>
        <p:nvSpPr>
          <p:cNvPr id="5" name="Rounded Rectangle 4"/>
          <p:cNvSpPr/>
          <p:nvPr/>
        </p:nvSpPr>
        <p:spPr>
          <a:xfrm>
            <a:off x="640080"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57400"/>
            <a:ext cx="54864" cy="4572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Pricing</a:t>
            </a:r>
          </a:p>
        </p:txBody>
      </p:sp>
      <p:sp>
        <p:nvSpPr>
          <p:cNvPr id="8" name="TextBox 7"/>
          <p:cNvSpPr txBox="1"/>
          <p:nvPr/>
        </p:nvSpPr>
        <p:spPr>
          <a:xfrm>
            <a:off x="914400"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Marketplace add-on for Freshservice Pro &amp; Enterprise</a:t>
            </a:r>
          </a:p>
          <a:p>
            <a:pPr algn="l">
              <a:lnSpc>
                <a:spcPct val="115000"/>
              </a:lnSpc>
              <a:spcAft>
                <a:spcPts val="800"/>
              </a:spcAft>
            </a:pPr>
            <a:r>
              <a:rPr sz="1400" b="0">
                <a:solidFill>
                  <a:srgbClr val="94A3B8"/>
                </a:solidFill>
                <a:latin typeface="Helvetica Neue"/>
              </a:rPr>
              <a:t>$8 / agent / month</a:t>
            </a:r>
          </a:p>
          <a:p>
            <a:pPr algn="l">
              <a:lnSpc>
                <a:spcPct val="115000"/>
              </a:lnSpc>
              <a:spcAft>
                <a:spcPts val="800"/>
              </a:spcAft>
            </a:pPr>
            <a:r>
              <a:rPr sz="1400" b="0">
                <a:solidFill>
                  <a:srgbClr val="94A3B8"/>
                </a:solidFill>
                <a:latin typeface="Helvetica Neue"/>
              </a:rPr>
              <a:t>Free tier: 25 diagnoses / month</a:t>
            </a:r>
          </a:p>
          <a:p>
            <a:pPr algn="l">
              <a:lnSpc>
                <a:spcPct val="115000"/>
              </a:lnSpc>
            </a:pPr>
            <a:r>
              <a:rPr sz="1400" b="0">
                <a:solidFill>
                  <a:srgbClr val="94A3B8"/>
                </a:solidFill>
                <a:latin typeface="Helvetica Neue"/>
              </a:rPr>
              <a:t>30-day trial of auto-diagnosis</a:t>
            </a:r>
          </a:p>
        </p:txBody>
      </p:sp>
      <p:sp>
        <p:nvSpPr>
          <p:cNvPr id="9" name="Rounded Rectangle 8"/>
          <p:cNvSpPr/>
          <p:nvPr/>
        </p:nvSpPr>
        <p:spPr>
          <a:xfrm>
            <a:off x="4361688"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2057400"/>
            <a:ext cx="54864" cy="457200"/>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Go-to-market</a:t>
            </a:r>
          </a:p>
        </p:txBody>
      </p:sp>
      <p:sp>
        <p:nvSpPr>
          <p:cNvPr id="12" name="TextBox 11"/>
          <p:cNvSpPr txBox="1"/>
          <p:nvPr/>
        </p:nvSpPr>
        <p:spPr>
          <a:xfrm>
            <a:off x="4636008"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Freshworks Marketplace listing + in-product banner</a:t>
            </a:r>
          </a:p>
          <a:p>
            <a:pPr algn="l">
              <a:lnSpc>
                <a:spcPct val="115000"/>
              </a:lnSpc>
              <a:spcAft>
                <a:spcPts val="800"/>
              </a:spcAft>
            </a:pPr>
            <a:r>
              <a:rPr sz="1400" b="0">
                <a:solidFill>
                  <a:srgbClr val="94A3B8"/>
                </a:solidFill>
                <a:latin typeface="Helvetica Neue"/>
              </a:rPr>
              <a:t>5-minute onboarding: API key → Sync</a:t>
            </a:r>
          </a:p>
          <a:p>
            <a:pPr algn="l">
              <a:lnSpc>
                <a:spcPct val="115000"/>
              </a:lnSpc>
              <a:spcAft>
                <a:spcPts val="800"/>
              </a:spcAft>
            </a:pPr>
            <a:r>
              <a:rPr sz="1400" b="0">
                <a:solidFill>
                  <a:srgbClr val="94A3B8"/>
                </a:solidFill>
                <a:latin typeface="Helvetica Neue"/>
              </a:rPr>
              <a:t>Email trial offer to Pro/Enterprise admins</a:t>
            </a:r>
          </a:p>
          <a:p>
            <a:pPr algn="l">
              <a:lnSpc>
                <a:spcPct val="115000"/>
              </a:lnSpc>
            </a:pPr>
            <a:r>
              <a:rPr sz="1400" b="0">
                <a:solidFill>
                  <a:srgbClr val="94A3B8"/>
                </a:solidFill>
                <a:latin typeface="Helvetica Neue"/>
              </a:rPr>
              <a:t>3–5 design partners for case studies</a:t>
            </a:r>
          </a:p>
        </p:txBody>
      </p:sp>
      <p:sp>
        <p:nvSpPr>
          <p:cNvPr id="13" name="Rounded Rectangle 12"/>
          <p:cNvSpPr/>
          <p:nvPr/>
        </p:nvSpPr>
        <p:spPr>
          <a:xfrm>
            <a:off x="8083296" y="1828800"/>
            <a:ext cx="3474720" cy="356616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2057400"/>
            <a:ext cx="54864" cy="4572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6" y="2029968"/>
            <a:ext cx="2971800" cy="548640"/>
          </a:xfrm>
          <a:prstGeom prst="rect">
            <a:avLst/>
          </a:prstGeom>
          <a:noFill/>
        </p:spPr>
        <p:txBody>
          <a:bodyPr wrap="square" lIns="0" rIns="0" tIns="0" bIns="0" anchor="t">
            <a:spAutoFit/>
          </a:bodyPr>
          <a:lstStyle/>
          <a:p>
            <a:pPr algn="l">
              <a:lnSpc>
                <a:spcPct val="115000"/>
              </a:lnSpc>
            </a:pPr>
            <a:r>
              <a:rPr sz="1700" b="1">
                <a:solidFill>
                  <a:srgbClr val="F8FAFC"/>
                </a:solidFill>
                <a:latin typeface="Helvetica Neue"/>
              </a:rPr>
              <a:t>Cost to MVP</a:t>
            </a:r>
          </a:p>
        </p:txBody>
      </p:sp>
      <p:sp>
        <p:nvSpPr>
          <p:cNvPr id="16" name="TextBox 15"/>
          <p:cNvSpPr txBox="1"/>
          <p:nvPr/>
        </p:nvSpPr>
        <p:spPr>
          <a:xfrm>
            <a:off x="8357616" y="2560320"/>
            <a:ext cx="2971800" cy="2697480"/>
          </a:xfrm>
          <a:prstGeom prst="rect">
            <a:avLst/>
          </a:prstGeom>
          <a:noFill/>
        </p:spPr>
        <p:txBody>
          <a:bodyPr wrap="square" lIns="0" rIns="0" tIns="0" bIns="0" anchor="t">
            <a:spAutoFit/>
          </a:bodyPr>
          <a:lstStyle/>
          <a:p>
            <a:pPr algn="l">
              <a:lnSpc>
                <a:spcPct val="115000"/>
              </a:lnSpc>
              <a:spcAft>
                <a:spcPts val="800"/>
              </a:spcAft>
            </a:pPr>
            <a:r>
              <a:rPr sz="1400" b="0">
                <a:solidFill>
                  <a:srgbClr val="94A3B8"/>
                </a:solidFill>
                <a:latin typeface="Helvetica Neue"/>
              </a:rPr>
              <a:t>3 engineers + part-time designer &amp; PM</a:t>
            </a:r>
          </a:p>
          <a:p>
            <a:pPr algn="l">
              <a:lnSpc>
                <a:spcPct val="115000"/>
              </a:lnSpc>
              <a:spcAft>
                <a:spcPts val="800"/>
              </a:spcAft>
            </a:pPr>
            <a:r>
              <a:rPr sz="1400" b="0">
                <a:solidFill>
                  <a:srgbClr val="94A3B8"/>
                </a:solidFill>
                <a:latin typeface="Helvetica Neue"/>
              </a:rPr>
              <a:t>~3 months to production MVP</a:t>
            </a:r>
          </a:p>
          <a:p>
            <a:pPr algn="l">
              <a:lnSpc>
                <a:spcPct val="115000"/>
              </a:lnSpc>
              <a:spcAft>
                <a:spcPts val="800"/>
              </a:spcAft>
            </a:pPr>
            <a:r>
              <a:rPr sz="1400" b="0">
                <a:solidFill>
                  <a:srgbClr val="94A3B8"/>
                </a:solidFill>
                <a:latin typeface="Helvetica Neue"/>
              </a:rPr>
              <a:t>~$90–110K (salaries, LLM, hosting)</a:t>
            </a:r>
          </a:p>
          <a:p>
            <a:pPr algn="l">
              <a:lnSpc>
                <a:spcPct val="115000"/>
              </a:lnSpc>
            </a:pPr>
            <a:r>
              <a:rPr sz="1400" b="0">
                <a:solidFill>
                  <a:srgbClr val="94A3B8"/>
                </a:solidFill>
                <a:latin typeface="Helvetica Neue"/>
              </a:rPr>
              <a:t>Illustrative ARR: 100 customers × 30 agents × $8 × 12 ≈ $288K</a:t>
            </a:r>
          </a:p>
        </p:txBody>
      </p:sp>
      <p:sp>
        <p:nvSpPr>
          <p:cNvPr id="17" name="Rounded Rectangle 16"/>
          <p:cNvSpPr/>
          <p:nvPr/>
        </p:nvSpPr>
        <p:spPr>
          <a:xfrm>
            <a:off x="640080" y="5715000"/>
            <a:ext cx="137160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756148"/>
            <a:ext cx="137160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ASSUMPTIONS</a:t>
            </a:r>
          </a:p>
        </p:txBody>
      </p:sp>
      <p:sp>
        <p:nvSpPr>
          <p:cNvPr id="19" name="TextBox 18"/>
          <p:cNvSpPr txBox="1"/>
          <p:nvPr/>
        </p:nvSpPr>
        <p:spPr>
          <a:xfrm>
            <a:off x="2148840" y="575157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Prices, costs and ARR are working estimates, to be validated with design partners.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SUCCESS METRICS · 6 MONTHS AFTER LAUNCH</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How we'll know it worked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11</a:t>
            </a:r>
          </a:p>
        </p:txBody>
      </p:sp>
      <p:sp>
        <p:nvSpPr>
          <p:cNvPr id="5" name="Rounded Rectangle 4"/>
          <p:cNvSpPr/>
          <p:nvPr/>
        </p:nvSpPr>
        <p:spPr>
          <a:xfrm>
            <a:off x="640080"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−25%</a:t>
            </a:r>
          </a:p>
        </p:txBody>
      </p:sp>
      <p:sp>
        <p:nvSpPr>
          <p:cNvPr id="7" name="TextBox 6"/>
          <p:cNvSpPr txBox="1"/>
          <p:nvPr/>
        </p:nvSpPr>
        <p:spPr>
          <a:xfrm>
            <a:off x="868680"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MTTR on diagnosed incidents</a:t>
            </a:r>
          </a:p>
        </p:txBody>
      </p:sp>
      <p:sp>
        <p:nvSpPr>
          <p:cNvPr id="8" name="Rounded Rectangle 7"/>
          <p:cNvSpPr/>
          <p:nvPr/>
        </p:nvSpPr>
        <p:spPr>
          <a:xfrm>
            <a:off x="3410712"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0712"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 80%</a:t>
            </a:r>
          </a:p>
        </p:txBody>
      </p:sp>
      <p:sp>
        <p:nvSpPr>
          <p:cNvPr id="10" name="TextBox 9"/>
          <p:cNvSpPr txBox="1"/>
          <p:nvPr/>
        </p:nvSpPr>
        <p:spPr>
          <a:xfrm>
            <a:off x="3639312"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New incidents auto-diagnosed</a:t>
            </a:r>
          </a:p>
        </p:txBody>
      </p:sp>
      <p:sp>
        <p:nvSpPr>
          <p:cNvPr id="11" name="Rounded Rectangle 10"/>
          <p:cNvSpPr/>
          <p:nvPr/>
        </p:nvSpPr>
        <p:spPr>
          <a:xfrm>
            <a:off x="6181344"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2560320"/>
            <a:ext cx="2560320" cy="914400"/>
          </a:xfrm>
          <a:prstGeom prst="rect">
            <a:avLst/>
          </a:prstGeom>
          <a:noFill/>
        </p:spPr>
        <p:txBody>
          <a:bodyPr wrap="square" lIns="0" rIns="0" tIns="0" bIns="0" anchor="t">
            <a:spAutoFit/>
          </a:bodyPr>
          <a:lstStyle/>
          <a:p>
            <a:pPr algn="ctr">
              <a:lnSpc>
                <a:spcPct val="115000"/>
              </a:lnSpc>
            </a:pPr>
            <a:r>
              <a:rPr sz="4800" b="1">
                <a:solidFill>
                  <a:srgbClr val="818CF8"/>
                </a:solidFill>
                <a:latin typeface="Helvetica Neue"/>
              </a:rPr>
              <a:t>+20%</a:t>
            </a:r>
          </a:p>
        </p:txBody>
      </p:sp>
      <p:sp>
        <p:nvSpPr>
          <p:cNvPr id="13" name="TextBox 12"/>
          <p:cNvSpPr txBox="1"/>
          <p:nvPr/>
        </p:nvSpPr>
        <p:spPr>
          <a:xfrm>
            <a:off x="6409944"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Resolved by first team routed</a:t>
            </a:r>
          </a:p>
        </p:txBody>
      </p:sp>
      <p:sp>
        <p:nvSpPr>
          <p:cNvPr id="14" name="Rounded Rectangle 13"/>
          <p:cNvSpPr/>
          <p:nvPr/>
        </p:nvSpPr>
        <p:spPr>
          <a:xfrm>
            <a:off x="8951976" y="2011680"/>
            <a:ext cx="2560320" cy="292608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51976" y="2560320"/>
            <a:ext cx="2560320" cy="914400"/>
          </a:xfrm>
          <a:prstGeom prst="rect">
            <a:avLst/>
          </a:prstGeom>
          <a:noFill/>
        </p:spPr>
        <p:txBody>
          <a:bodyPr wrap="square" lIns="0" rIns="0" tIns="0" bIns="0" anchor="t">
            <a:spAutoFit/>
          </a:bodyPr>
          <a:lstStyle/>
          <a:p>
            <a:pPr algn="ctr">
              <a:lnSpc>
                <a:spcPct val="115000"/>
              </a:lnSpc>
            </a:pPr>
            <a:r>
              <a:rPr sz="4800" b="1">
                <a:solidFill>
                  <a:srgbClr val="2DD4BF"/>
                </a:solidFill>
                <a:latin typeface="Helvetica Neue"/>
              </a:rPr>
              <a:t>≥ 20%</a:t>
            </a:r>
          </a:p>
        </p:txBody>
      </p:sp>
      <p:sp>
        <p:nvSpPr>
          <p:cNvPr id="16" name="TextBox 15"/>
          <p:cNvSpPr txBox="1"/>
          <p:nvPr/>
        </p:nvSpPr>
        <p:spPr>
          <a:xfrm>
            <a:off x="9180576" y="3749039"/>
            <a:ext cx="2103120" cy="914400"/>
          </a:xfrm>
          <a:prstGeom prst="rect">
            <a:avLst/>
          </a:prstGeom>
          <a:noFill/>
        </p:spPr>
        <p:txBody>
          <a:bodyPr wrap="square" lIns="0" rIns="0" tIns="0" bIns="0" anchor="t">
            <a:spAutoFit/>
          </a:bodyPr>
          <a:lstStyle/>
          <a:p>
            <a:pPr algn="ctr">
              <a:lnSpc>
                <a:spcPct val="115000"/>
              </a:lnSpc>
            </a:pPr>
            <a:r>
              <a:rPr sz="1500" b="0">
                <a:solidFill>
                  <a:srgbClr val="F8FAFC"/>
                </a:solidFill>
                <a:latin typeface="Helvetica Neue"/>
              </a:rPr>
              <a:t>Trial → paid conversion</a:t>
            </a:r>
          </a:p>
        </p:txBody>
      </p:sp>
      <p:sp>
        <p:nvSpPr>
          <p:cNvPr id="17" name="Rounded Rectangle 16"/>
          <p:cNvSpPr/>
          <p:nvPr/>
        </p:nvSpPr>
        <p:spPr>
          <a:xfrm>
            <a:off x="640080" y="5394960"/>
            <a:ext cx="109728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436108"/>
            <a:ext cx="109728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TARGETS</a:t>
            </a:r>
          </a:p>
        </p:txBody>
      </p:sp>
      <p:sp>
        <p:nvSpPr>
          <p:cNvPr id="19" name="TextBox 18"/>
          <p:cNvSpPr txBox="1"/>
          <p:nvPr/>
        </p:nvSpPr>
        <p:spPr>
          <a:xfrm>
            <a:off x="1874519" y="5431536"/>
            <a:ext cx="914400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Targets are assumptions; baseline measured on non-diagnosed incidents.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WHAT COULD GO WRONG · WHAT'S NEXT</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Risks &amp; roadmap</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12</a:t>
            </a:r>
          </a:p>
        </p:txBody>
      </p:sp>
      <p:sp>
        <p:nvSpPr>
          <p:cNvPr id="5" name="TextBox 4"/>
          <p:cNvSpPr txBox="1"/>
          <p:nvPr/>
        </p:nvSpPr>
        <p:spPr>
          <a:xfrm>
            <a:off x="640080" y="1783080"/>
            <a:ext cx="5486400" cy="365760"/>
          </a:xfrm>
          <a:prstGeom prst="rect">
            <a:avLst/>
          </a:prstGeom>
          <a:noFill/>
        </p:spPr>
        <p:txBody>
          <a:bodyPr wrap="square" lIns="0" rIns="0" tIns="0" bIns="0" anchor="t">
            <a:spAutoFit/>
          </a:bodyPr>
          <a:lstStyle/>
          <a:p>
            <a:pPr algn="l">
              <a:lnSpc>
                <a:spcPct val="115000"/>
              </a:lnSpc>
            </a:pPr>
            <a:r>
              <a:rPr sz="1200" b="1">
                <a:solidFill>
                  <a:srgbClr val="FB7185"/>
                </a:solidFill>
                <a:latin typeface="Helvetica Neue"/>
              </a:rPr>
              <a:t>RISKS  →  MITIGATION</a:t>
            </a:r>
          </a:p>
        </p:txBody>
      </p:sp>
      <p:sp>
        <p:nvSpPr>
          <p:cNvPr id="6" name="Rounded Rectangle 5"/>
          <p:cNvSpPr/>
          <p:nvPr/>
        </p:nvSpPr>
        <p:spPr>
          <a:xfrm>
            <a:off x="640080" y="2194560"/>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Graph quality drives diagnosis quality</a:t>
            </a:r>
          </a:p>
        </p:txBody>
      </p:sp>
      <p:sp>
        <p:nvSpPr>
          <p:cNvPr id="8" name="TextBox 7"/>
          <p:cNvSpPr txBox="1"/>
          <p:nvPr/>
        </p:nvSpPr>
        <p:spPr>
          <a:xfrm>
            <a:off x="868680" y="2587752"/>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Knowledge Gap agent flags missing owners, runbooks and docs</a:t>
            </a:r>
          </a:p>
        </p:txBody>
      </p:sp>
      <p:sp>
        <p:nvSpPr>
          <p:cNvPr id="9" name="Rounded Rectangle 8"/>
          <p:cNvSpPr/>
          <p:nvPr/>
        </p:nvSpPr>
        <p:spPr>
          <a:xfrm>
            <a:off x="640080" y="2999232"/>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90672"/>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Trust &amp; privacy of ticket data</a:t>
            </a:r>
          </a:p>
        </p:txBody>
      </p:sp>
      <p:sp>
        <p:nvSpPr>
          <p:cNvPr id="11" name="TextBox 10"/>
          <p:cNvSpPr txBox="1"/>
          <p:nvPr/>
        </p:nvSpPr>
        <p:spPr>
          <a:xfrm>
            <a:off x="868680" y="3392424"/>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Private notes only; rule-based mode needs no LLM</a:t>
            </a:r>
          </a:p>
        </p:txBody>
      </p:sp>
      <p:sp>
        <p:nvSpPr>
          <p:cNvPr id="12" name="Rounded Rectangle 11"/>
          <p:cNvSpPr/>
          <p:nvPr/>
        </p:nvSpPr>
        <p:spPr>
          <a:xfrm>
            <a:off x="640080" y="3803904"/>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895344"/>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Willingness to pay beyond built-in AI</a:t>
            </a:r>
          </a:p>
        </p:txBody>
      </p:sp>
      <p:sp>
        <p:nvSpPr>
          <p:cNvPr id="14" name="TextBox 13"/>
          <p:cNvSpPr txBox="1"/>
          <p:nvPr/>
        </p:nvSpPr>
        <p:spPr>
          <a:xfrm>
            <a:off x="868680" y="4197096"/>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Validate with design partners before pricing is final</a:t>
            </a:r>
          </a:p>
        </p:txBody>
      </p:sp>
      <p:sp>
        <p:nvSpPr>
          <p:cNvPr id="15" name="Rounded Rectangle 14"/>
          <p:cNvSpPr/>
          <p:nvPr/>
        </p:nvSpPr>
        <p:spPr>
          <a:xfrm>
            <a:off x="640080" y="4608576"/>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700016"/>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Auto-routing sends a ticket to the wrong queue</a:t>
            </a:r>
          </a:p>
        </p:txBody>
      </p:sp>
      <p:sp>
        <p:nvSpPr>
          <p:cNvPr id="17" name="TextBox 16"/>
          <p:cNvSpPr txBox="1"/>
          <p:nvPr/>
        </p:nvSpPr>
        <p:spPr>
          <a:xfrm>
            <a:off x="868680" y="5001768"/>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Only assigns unassigned tickets; reason is written in the note</a:t>
            </a:r>
          </a:p>
        </p:txBody>
      </p:sp>
      <p:sp>
        <p:nvSpPr>
          <p:cNvPr id="18" name="Rounded Rectangle 17"/>
          <p:cNvSpPr/>
          <p:nvPr/>
        </p:nvSpPr>
        <p:spPr>
          <a:xfrm>
            <a:off x="640080" y="5413248"/>
            <a:ext cx="6035040" cy="713232"/>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04688"/>
            <a:ext cx="5669280" cy="320040"/>
          </a:xfrm>
          <a:prstGeom prst="rect">
            <a:avLst/>
          </a:prstGeom>
          <a:noFill/>
        </p:spPr>
        <p:txBody>
          <a:bodyPr wrap="square" lIns="0" rIns="0" tIns="0" bIns="0" anchor="t">
            <a:spAutoFit/>
          </a:bodyPr>
          <a:lstStyle/>
          <a:p>
            <a:pPr algn="l">
              <a:lnSpc>
                <a:spcPct val="115000"/>
              </a:lnSpc>
            </a:pPr>
            <a:r>
              <a:rPr sz="1400" b="1">
                <a:solidFill>
                  <a:srgbClr val="F8FAFC"/>
                </a:solidFill>
                <a:latin typeface="Helvetica Neue"/>
              </a:rPr>
              <a:t>API rate limits &amp; plan restrictions</a:t>
            </a:r>
          </a:p>
        </p:txBody>
      </p:sp>
      <p:sp>
        <p:nvSpPr>
          <p:cNvPr id="20" name="TextBox 19"/>
          <p:cNvSpPr txBox="1"/>
          <p:nvPr/>
        </p:nvSpPr>
        <p:spPr>
          <a:xfrm>
            <a:off x="868680" y="5806440"/>
            <a:ext cx="5669280" cy="320040"/>
          </a:xfrm>
          <a:prstGeom prst="rect">
            <a:avLst/>
          </a:prstGeom>
          <a:noFill/>
        </p:spPr>
        <p:txBody>
          <a:bodyPr wrap="square" lIns="0" rIns="0" tIns="0" bIns="0" anchor="t">
            <a:spAutoFit/>
          </a:bodyPr>
          <a:lstStyle/>
          <a:p>
            <a:pPr algn="l">
              <a:lnSpc>
                <a:spcPct val="115000"/>
              </a:lnSpc>
            </a:pPr>
            <a:r>
              <a:rPr sz="1200" b="0">
                <a:solidFill>
                  <a:srgbClr val="94A3B8"/>
                </a:solidFill>
                <a:latin typeface="Helvetica Neue"/>
              </a:rPr>
              <a:t>Graceful degradation (e.g. CMDB needs higher plans)</a:t>
            </a:r>
          </a:p>
        </p:txBody>
      </p:sp>
      <p:sp>
        <p:nvSpPr>
          <p:cNvPr id="21" name="TextBox 20"/>
          <p:cNvSpPr txBox="1"/>
          <p:nvPr/>
        </p:nvSpPr>
        <p:spPr>
          <a:xfrm>
            <a:off x="7040880" y="1783080"/>
            <a:ext cx="4572000" cy="36576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PHASE 2 ROADMAP</a:t>
            </a:r>
          </a:p>
        </p:txBody>
      </p:sp>
      <p:sp>
        <p:nvSpPr>
          <p:cNvPr id="22" name="Rounded Rectangle 21"/>
          <p:cNvSpPr/>
          <p:nvPr/>
        </p:nvSpPr>
        <p:spPr>
          <a:xfrm>
            <a:off x="7040880" y="2194560"/>
            <a:ext cx="4480560" cy="370332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69480" y="24963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0" y="24231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Live Jira · Confluence · Slack connectors</a:t>
            </a:r>
          </a:p>
        </p:txBody>
      </p:sp>
      <p:sp>
        <p:nvSpPr>
          <p:cNvPr id="25" name="Oval 24"/>
          <p:cNvSpPr/>
          <p:nvPr/>
        </p:nvSpPr>
        <p:spPr>
          <a:xfrm>
            <a:off x="7269480" y="31821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1089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Freshdesk: link customer tickets to engineering incidents</a:t>
            </a:r>
          </a:p>
        </p:txBody>
      </p:sp>
      <p:sp>
        <p:nvSpPr>
          <p:cNvPr id="27" name="Oval 26"/>
          <p:cNvSpPr/>
          <p:nvPr/>
        </p:nvSpPr>
        <p:spPr>
          <a:xfrm>
            <a:off x="7269480" y="38679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0" y="37947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Native FDK sidebar app on tickets &amp; changes</a:t>
            </a:r>
          </a:p>
        </p:txBody>
      </p:sp>
      <p:sp>
        <p:nvSpPr>
          <p:cNvPr id="29" name="Oval 28"/>
          <p:cNvSpPr/>
          <p:nvPr/>
        </p:nvSpPr>
        <p:spPr>
          <a:xfrm>
            <a:off x="7269480" y="45537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44805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CMDB sync · Problems from recurring incidents · on-call aware escalation</a:t>
            </a:r>
          </a:p>
        </p:txBody>
      </p:sp>
      <p:sp>
        <p:nvSpPr>
          <p:cNvPr id="31" name="Oval 30"/>
          <p:cNvSpPr/>
          <p:nvPr/>
        </p:nvSpPr>
        <p:spPr>
          <a:xfrm>
            <a:off x="7269480" y="523951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0" y="5166360"/>
            <a:ext cx="3749039" cy="640080"/>
          </a:xfrm>
          <a:prstGeom prst="rect">
            <a:avLst/>
          </a:prstGeom>
          <a:noFill/>
        </p:spPr>
        <p:txBody>
          <a:bodyPr wrap="square" lIns="0" rIns="0" tIns="0" bIns="0" anchor="t">
            <a:spAutoFit/>
          </a:bodyPr>
          <a:lstStyle/>
          <a:p>
            <a:pPr algn="l">
              <a:lnSpc>
                <a:spcPct val="115000"/>
              </a:lnSpc>
            </a:pPr>
            <a:r>
              <a:rPr sz="1400" b="0">
                <a:solidFill>
                  <a:srgbClr val="F8FAFC"/>
                </a:solidFill>
                <a:latin typeface="Helvetica Neue"/>
              </a:rPr>
              <a:t>Graph learns from every resolved ticket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640080" y="457200"/>
            <a:ext cx="9144000" cy="320040"/>
          </a:xfrm>
          <a:prstGeom prst="rect">
            <a:avLst/>
          </a:prstGeom>
          <a:noFill/>
        </p:spPr>
        <p:txBody>
          <a:bodyPr wrap="square" lIns="0" rIns="0" tIns="0" bIns="0" anchor="t">
            <a:spAutoFit/>
          </a:bodyPr>
          <a:lstStyle/>
          <a:p>
            <a:pPr algn="l">
              <a:lnSpc>
                <a:spcPct val="115000"/>
              </a:lnSpc>
            </a:pPr>
            <a:r>
              <a:rPr sz="1200" b="1">
                <a:solidFill>
                  <a:srgbClr val="2DD4BF"/>
                </a:solidFill>
                <a:latin typeface="Helvetica Neue"/>
              </a:rPr>
              <a:t>FOR REVIEWER Q&amp;A</a:t>
            </a:r>
          </a:p>
        </p:txBody>
      </p:sp>
      <p:sp>
        <p:nvSpPr>
          <p:cNvPr id="3" name="TextBox 2"/>
          <p:cNvSpPr txBox="1"/>
          <p:nvPr/>
        </p:nvSpPr>
        <p:spPr>
          <a:xfrm>
            <a:off x="640080" y="777240"/>
            <a:ext cx="10972800" cy="822960"/>
          </a:xfrm>
          <a:prstGeom prst="rect">
            <a:avLst/>
          </a:prstGeom>
          <a:noFill/>
        </p:spPr>
        <p:txBody>
          <a:bodyPr wrap="square" lIns="0" rIns="0" tIns="0" bIns="0" anchor="t">
            <a:spAutoFit/>
          </a:bodyPr>
          <a:lstStyle/>
          <a:p>
            <a:pPr algn="l">
              <a:lnSpc>
                <a:spcPct val="115000"/>
              </a:lnSpc>
            </a:pPr>
            <a:r>
              <a:rPr sz="3200" b="1">
                <a:solidFill>
                  <a:srgbClr val="F8FAFC"/>
                </a:solidFill>
                <a:latin typeface="Helvetica Neue"/>
              </a:rPr>
              <a:t>Appendix: what's built vs. planned</a:t>
            </a:r>
          </a:p>
        </p:txBody>
      </p:sp>
      <p:sp>
        <p:nvSpPr>
          <p:cNvPr id="4" name="TextBox 3"/>
          <p:cNvSpPr txBox="1"/>
          <p:nvPr/>
        </p:nvSpPr>
        <p:spPr>
          <a:xfrm>
            <a:off x="10607040" y="6400800"/>
            <a:ext cx="1005840" cy="274320"/>
          </a:xfrm>
          <a:prstGeom prst="rect">
            <a:avLst/>
          </a:prstGeom>
          <a:noFill/>
        </p:spPr>
        <p:txBody>
          <a:bodyPr wrap="square" lIns="0" rIns="0" tIns="0" bIns="0" anchor="t">
            <a:spAutoFit/>
          </a:bodyPr>
          <a:lstStyle/>
          <a:p>
            <a:pPr algn="r">
              <a:lnSpc>
                <a:spcPct val="115000"/>
              </a:lnSpc>
            </a:pPr>
            <a:r>
              <a:rPr sz="1000" b="0">
                <a:solidFill>
                  <a:srgbClr val="94A3B8"/>
                </a:solidFill>
                <a:latin typeface="Helvetica Neue"/>
              </a:rPr>
              <a:t>CodeAtlas AI  ·  13</a:t>
            </a:r>
          </a:p>
        </p:txBody>
      </p:sp>
      <p:sp>
        <p:nvSpPr>
          <p:cNvPr id="5" name="Rounded Rectangle 4"/>
          <p:cNvSpPr/>
          <p:nvPr/>
        </p:nvSpPr>
        <p:spPr>
          <a:xfrm>
            <a:off x="640080" y="17830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2024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138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8" name="TextBox 7"/>
          <p:cNvSpPr txBox="1"/>
          <p:nvPr/>
        </p:nvSpPr>
        <p:spPr>
          <a:xfrm>
            <a:off x="2194560" y="19385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tickets, groups, KB search, diagnosis notes, auto-routing, Workflow Automator (REST v2)</a:t>
            </a:r>
          </a:p>
        </p:txBody>
      </p:sp>
      <p:sp>
        <p:nvSpPr>
          <p:cNvPr id="9" name="Rounded Rectangle 8"/>
          <p:cNvSpPr/>
          <p:nvPr/>
        </p:nvSpPr>
        <p:spPr>
          <a:xfrm>
            <a:off x="640080" y="24231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256032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0146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2" name="TextBox 11"/>
          <p:cNvSpPr txBox="1"/>
          <p:nvPr/>
        </p:nvSpPr>
        <p:spPr>
          <a:xfrm>
            <a:off x="2194560" y="25786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Changes: 3-agent impact pipeline + graph blast radius posted as a change note</a:t>
            </a:r>
          </a:p>
        </p:txBody>
      </p:sp>
      <p:sp>
        <p:nvSpPr>
          <p:cNvPr id="13" name="Rounded Rectangle 12"/>
          <p:cNvSpPr/>
          <p:nvPr/>
        </p:nvSpPr>
        <p:spPr>
          <a:xfrm>
            <a:off x="640080" y="306324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8680" y="3200400"/>
            <a:ext cx="1051560" cy="274320"/>
          </a:xfrm>
          <a:prstGeom prst="roundRect">
            <a:avLst>
              <a:gd name="adj" fmla="val 50000"/>
            </a:avLst>
          </a:prstGeom>
          <a:solidFill>
            <a:srgbClr val="0B112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41548"/>
            <a:ext cx="1051560" cy="228600"/>
          </a:xfrm>
          <a:prstGeom prst="rect">
            <a:avLst/>
          </a:prstGeom>
          <a:noFill/>
        </p:spPr>
        <p:txBody>
          <a:bodyPr wrap="square" lIns="0" rIns="0" tIns="0" bIns="0" anchor="t">
            <a:spAutoFit/>
          </a:bodyPr>
          <a:lstStyle/>
          <a:p>
            <a:pPr algn="ctr">
              <a:lnSpc>
                <a:spcPct val="115000"/>
              </a:lnSpc>
            </a:pPr>
            <a:r>
              <a:rPr sz="1000" b="1">
                <a:solidFill>
                  <a:srgbClr val="2DD4BF"/>
                </a:solidFill>
                <a:latin typeface="Helvetica Neue"/>
              </a:rPr>
              <a:t>LIVE</a:t>
            </a:r>
          </a:p>
        </p:txBody>
      </p:sp>
      <p:sp>
        <p:nvSpPr>
          <p:cNvPr id="16" name="TextBox 15"/>
          <p:cNvSpPr txBox="1"/>
          <p:nvPr/>
        </p:nvSpPr>
        <p:spPr>
          <a:xfrm>
            <a:off x="2194560" y="321868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GitHub recent releases, commits, config diffs (secrets redacted) in every diagnosis</a:t>
            </a:r>
          </a:p>
        </p:txBody>
      </p:sp>
      <p:sp>
        <p:nvSpPr>
          <p:cNvPr id="17" name="Rounded Rectangle 16"/>
          <p:cNvSpPr/>
          <p:nvPr/>
        </p:nvSpPr>
        <p:spPr>
          <a:xfrm>
            <a:off x="640080" y="370332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8680" y="3840480"/>
            <a:ext cx="1051560" cy="274320"/>
          </a:xfrm>
          <a:prstGeom prst="roundRect">
            <a:avLst>
              <a:gd name="adj" fmla="val 50000"/>
            </a:avLst>
          </a:prstGeom>
          <a:solidFill>
            <a:srgbClr val="0B1120"/>
          </a:solidFill>
          <a:ln w="12700">
            <a:solidFill>
              <a:srgbClr val="818C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81628"/>
            <a:ext cx="1051560" cy="228600"/>
          </a:xfrm>
          <a:prstGeom prst="rect">
            <a:avLst/>
          </a:prstGeom>
          <a:noFill/>
        </p:spPr>
        <p:txBody>
          <a:bodyPr wrap="square" lIns="0" rIns="0" tIns="0" bIns="0" anchor="t">
            <a:spAutoFit/>
          </a:bodyPr>
          <a:lstStyle/>
          <a:p>
            <a:pPr algn="ctr">
              <a:lnSpc>
                <a:spcPct val="115000"/>
              </a:lnSpc>
            </a:pPr>
            <a:r>
              <a:rPr sz="1000" b="1">
                <a:solidFill>
                  <a:srgbClr val="818CF8"/>
                </a:solidFill>
                <a:latin typeface="Helvetica Neue"/>
              </a:rPr>
              <a:t>BUILT</a:t>
            </a:r>
          </a:p>
        </p:txBody>
      </p:sp>
      <p:sp>
        <p:nvSpPr>
          <p:cNvPr id="20" name="TextBox 19"/>
          <p:cNvSpPr txBox="1"/>
          <p:nvPr/>
        </p:nvSpPr>
        <p:spPr>
          <a:xfrm>
            <a:off x="2194560" y="385876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Neo4j graph (+ in-memory fallback), vector search, 8 agents, orchestrator, explainability, repo/ZIP intake</a:t>
            </a:r>
          </a:p>
        </p:txBody>
      </p:sp>
      <p:sp>
        <p:nvSpPr>
          <p:cNvPr id="21" name="Rounded Rectangle 20"/>
          <p:cNvSpPr/>
          <p:nvPr/>
        </p:nvSpPr>
        <p:spPr>
          <a:xfrm>
            <a:off x="640080" y="434340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8680" y="4480560"/>
            <a:ext cx="1051560" cy="274320"/>
          </a:xfrm>
          <a:prstGeom prst="roundRect">
            <a:avLst>
              <a:gd name="adj" fmla="val 50000"/>
            </a:avLst>
          </a:prstGeom>
          <a:solidFill>
            <a:srgbClr val="0B1120"/>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521708"/>
            <a:ext cx="1051560" cy="228600"/>
          </a:xfrm>
          <a:prstGeom prst="rect">
            <a:avLst/>
          </a:prstGeom>
          <a:noFill/>
        </p:spPr>
        <p:txBody>
          <a:bodyPr wrap="square" lIns="0" rIns="0" tIns="0" bIns="0" anchor="t">
            <a:spAutoFit/>
          </a:bodyPr>
          <a:lstStyle/>
          <a:p>
            <a:pPr algn="ctr">
              <a:lnSpc>
                <a:spcPct val="115000"/>
              </a:lnSpc>
            </a:pPr>
            <a:r>
              <a:rPr sz="1000" b="1">
                <a:solidFill>
                  <a:srgbClr val="FBBF24"/>
                </a:solidFill>
                <a:latin typeface="Helvetica Neue"/>
              </a:rPr>
              <a:t>MOCKED</a:t>
            </a:r>
          </a:p>
        </p:txBody>
      </p:sp>
      <p:sp>
        <p:nvSpPr>
          <p:cNvPr id="24" name="TextBox 23"/>
          <p:cNvSpPr txBox="1"/>
          <p:nvPr/>
        </p:nvSpPr>
        <p:spPr>
          <a:xfrm>
            <a:off x="2194560" y="449884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Jira, Confluence, Slack, Freshdesk connectors (same adapter interface)</a:t>
            </a:r>
          </a:p>
        </p:txBody>
      </p:sp>
      <p:sp>
        <p:nvSpPr>
          <p:cNvPr id="25" name="Rounded Rectangle 24"/>
          <p:cNvSpPr/>
          <p:nvPr/>
        </p:nvSpPr>
        <p:spPr>
          <a:xfrm>
            <a:off x="640080" y="498348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68680" y="5120640"/>
            <a:ext cx="1051560" cy="274320"/>
          </a:xfrm>
          <a:prstGeom prst="roundRect">
            <a:avLst>
              <a:gd name="adj" fmla="val 50000"/>
            </a:avLst>
          </a:prstGeom>
          <a:solidFill>
            <a:srgbClr val="0B1120"/>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161788"/>
            <a:ext cx="1051560" cy="228600"/>
          </a:xfrm>
          <a:prstGeom prst="rect">
            <a:avLst/>
          </a:prstGeom>
          <a:noFill/>
        </p:spPr>
        <p:txBody>
          <a:bodyPr wrap="square" lIns="0" rIns="0" tIns="0" bIns="0" anchor="t">
            <a:spAutoFit/>
          </a:bodyPr>
          <a:lstStyle/>
          <a:p>
            <a:pPr algn="ctr">
              <a:lnSpc>
                <a:spcPct val="115000"/>
              </a:lnSpc>
            </a:pPr>
            <a:r>
              <a:rPr sz="1000" b="1">
                <a:solidFill>
                  <a:srgbClr val="FB7185"/>
                </a:solidFill>
                <a:latin typeface="Helvetica Neue"/>
              </a:rPr>
              <a:t>BLOCKED</a:t>
            </a:r>
          </a:p>
        </p:txBody>
      </p:sp>
      <p:sp>
        <p:nvSpPr>
          <p:cNvPr id="28" name="TextBox 27"/>
          <p:cNvSpPr txBox="1"/>
          <p:nvPr/>
        </p:nvSpPr>
        <p:spPr>
          <a:xfrm>
            <a:off x="2194560" y="513892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Freshservice agents &amp; assets / CMDB: not available on the trial plan/role</a:t>
            </a:r>
          </a:p>
        </p:txBody>
      </p:sp>
      <p:sp>
        <p:nvSpPr>
          <p:cNvPr id="29" name="Rounded Rectangle 28"/>
          <p:cNvSpPr/>
          <p:nvPr/>
        </p:nvSpPr>
        <p:spPr>
          <a:xfrm>
            <a:off x="640080" y="5623560"/>
            <a:ext cx="10881360" cy="548640"/>
          </a:xfrm>
          <a:prstGeom prst="roundRect">
            <a:avLst>
              <a:gd name="adj" fmla="val 6000"/>
            </a:avLst>
          </a:prstGeom>
          <a:solidFill>
            <a:srgbClr val="151E32"/>
          </a:solidFill>
          <a:ln w="1270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68680" y="5760720"/>
            <a:ext cx="1051560" cy="274320"/>
          </a:xfrm>
          <a:prstGeom prst="roundRect">
            <a:avLst>
              <a:gd name="adj" fmla="val 50000"/>
            </a:avLst>
          </a:prstGeom>
          <a:solidFill>
            <a:srgbClr val="0B1120"/>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801868"/>
            <a:ext cx="1051560" cy="228600"/>
          </a:xfrm>
          <a:prstGeom prst="rect">
            <a:avLst/>
          </a:prstGeom>
          <a:noFill/>
        </p:spPr>
        <p:txBody>
          <a:bodyPr wrap="square" lIns="0" rIns="0" tIns="0" bIns="0" anchor="t">
            <a:spAutoFit/>
          </a:bodyPr>
          <a:lstStyle/>
          <a:p>
            <a:pPr algn="ctr">
              <a:lnSpc>
                <a:spcPct val="115000"/>
              </a:lnSpc>
            </a:pPr>
            <a:r>
              <a:rPr sz="1000" b="1">
                <a:solidFill>
                  <a:srgbClr val="94A3B8"/>
                </a:solidFill>
                <a:latin typeface="Helvetica Neue"/>
              </a:rPr>
              <a:t>PHASE 2</a:t>
            </a:r>
          </a:p>
        </p:txBody>
      </p:sp>
      <p:sp>
        <p:nvSpPr>
          <p:cNvPr id="32" name="TextBox 31"/>
          <p:cNvSpPr txBox="1"/>
          <p:nvPr/>
        </p:nvSpPr>
        <p:spPr>
          <a:xfrm>
            <a:off x="2194560" y="5779008"/>
            <a:ext cx="9144000" cy="365760"/>
          </a:xfrm>
          <a:prstGeom prst="rect">
            <a:avLst/>
          </a:prstGeom>
          <a:noFill/>
        </p:spPr>
        <p:txBody>
          <a:bodyPr wrap="square" lIns="0" rIns="0" tIns="0" bIns="0" anchor="t">
            <a:spAutoFit/>
          </a:bodyPr>
          <a:lstStyle/>
          <a:p>
            <a:pPr algn="l">
              <a:lnSpc>
                <a:spcPct val="115000"/>
              </a:lnSpc>
            </a:pPr>
            <a:r>
              <a:rPr sz="1300" b="0">
                <a:solidFill>
                  <a:srgbClr val="F8FAFC"/>
                </a:solidFill>
                <a:latin typeface="Helvetica Neue"/>
              </a:rPr>
              <a:t>FDK sidebar app; official Freshworks MCP server wiring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